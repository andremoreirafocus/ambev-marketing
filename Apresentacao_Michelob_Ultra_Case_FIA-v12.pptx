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63" autoAdjust="0"/>
  </p:normalViewPr>
  <p:slideViewPr>
    <p:cSldViewPr snapToGrid="0" snapToObjects="1">
      <p:cViewPr varScale="1">
        <p:scale>
          <a:sx n="99" d="100"/>
          <a:sy n="99" d="100"/>
        </p:scale>
        <p:origin x="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09-21T18:55:37.941" v="76" actId="20577"/>
      <pc:docMkLst>
        <pc:docMk/>
      </pc:docMkLst>
      <pc:sldChg chg="delSp modSp mod">
        <pc:chgData name="André Moreira" userId="a074d5cff11e4feb" providerId="LiveId" clId="{A3AE0FC4-E642-4DAF-99C2-2E02E3CB77AA}" dt="2026-09-21T18:55:37.941" v="76" actId="20577"/>
        <pc:sldMkLst>
          <pc:docMk/>
          <pc:sldMk cId="0" sldId="260"/>
        </pc:sldMkLst>
        <pc:spChg chg="mod">
          <ac:chgData name="André Moreira" userId="a074d5cff11e4feb" providerId="LiveId" clId="{A3AE0FC4-E642-4DAF-99C2-2E02E3CB77AA}" dt="2026-09-21T18:55:14.184" v="74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09.309" v="73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22.801" v="75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5:37.941" v="76" actId="20577"/>
          <ac:spMkLst>
            <pc:docMk/>
            <pc:sldMk cId="0" sldId="260"/>
            <ac:spMk id="8" creationId="{00000000-0000-0000-0000-000000000000}"/>
          </ac:spMkLst>
        </pc:spChg>
        <pc:spChg chg="del">
          <ac:chgData name="André Moreira" userId="a074d5cff11e4feb" providerId="LiveId" clId="{A3AE0FC4-E642-4DAF-99C2-2E02E3CB77AA}" dt="2026-09-21T18:48:20.147" v="1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09-21T18:54:21.182" v="71" actId="20577"/>
        <pc:sldMkLst>
          <pc:docMk/>
          <pc:sldMk cId="0" sldId="261"/>
        </pc:sldMkLst>
        <pc:spChg chg="mod">
          <ac:chgData name="André Moreira" userId="a074d5cff11e4feb" providerId="LiveId" clId="{A3AE0FC4-E642-4DAF-99C2-2E02E3CB77AA}" dt="2026-09-21T18:53:26.053" v="19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28.707" v="20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36.663" v="36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3:53.948" v="5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é Moreira" userId="a074d5cff11e4feb" providerId="LiveId" clId="{A3AE0FC4-E642-4DAF-99C2-2E02E3CB77AA}" dt="2026-09-21T18:54:21.182" v="71" actId="20577"/>
          <ac:spMkLst>
            <pc:docMk/>
            <pc:sldMk cId="0" sldId="261"/>
            <ac:spMk id="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6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/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/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/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/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73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/>
          <a:p>
            <a:r>
              <a:t>O Canvas traduz a estratégia em recomendações de negócio. Nos parceiros, priorizamos canais de venda, bares, restaurantes, eventos, plataformas de entrega e criadores de conteúdo. Nas atividades, destacamos degustação, comunicação por ocasião e presença nos canais.</a:t>
            </a:r>
          </a:p>
          <a:p/>
          <a:p>
            <a:r>
              <a:t>A proposta de valor permanece uma cerveja premium leve e refrescante, com baixas calorias e baixo teor de carboidratos, agora conectada a mais situações de convivência.</a:t>
            </a:r>
          </a:p>
          <a:p/>
          <a:p>
            <a:r>
              <a:t>Os relacionamentos e canais tornam o piloto executável: ponto de venda, CRM, cupons, Zé Delivery, iFood, bares, restaurantes e eventos.</a:t>
            </a:r>
          </a:p>
          <a:p/>
          <a:p>
            <a:r>
              <a:t>A segmentação de investimento é inicial e será validada no piloto. Millennials recebem a maior parcela pela combinação de socialização e canais digitais; Geração Z é estratégica para eventos e experiências; Geração X combina interesse em controle calórico com necessidade de prova de sabor.</a:t>
            </a:r>
          </a:p>
          <a:p/>
          <a:p>
            <a:r>
              <a:t>A lógica financeira é gerar vendas incrementais, recorrência e maior frequência de compra nos canais e ocasiões priorizados.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8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0min30s.</a:t>
            </a:r>
          </a:p>
          <a:p/>
          <a:p>
            <a:r>
              <a:t>Boa noite. Nosso case trata da ampliação da base de consumidores da Michelob Ultra no Brasil.</a:t>
            </a:r>
          </a:p>
          <a:p/>
          <a:p>
            <a:r>
              <a:t>Não propomos mudar o produto. Propomos um piloto de marketing digital para transformar atributos já existentes — leveza, baixo teor de carboidratos e sabor — em motivos de escolha para mais adultos e mais situações de socialização.</a:t>
            </a:r>
          </a:p>
          <a:p/>
          <a:p>
            <a:r>
              <a:t>A pergunta que orienta a apresentação é: como ampliar a base sem perder a identidade que a marca já construiu?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1min45s.</a:t>
            </a:r>
          </a:p>
          <a:p/>
          <a:p>
            <a:r>
              <a:t>A Michelob Ultra pertence ao portfólio global da AB InBev e já possui uma proposta premium associada à leveza. Sua identidade foi construída em torno de esporte, bem-estar e vida ativa.</a:t>
            </a:r>
          </a:p>
          <a:p/>
          <a:p>
            <a:r>
              <a:t>Essa credencial é um ativo, mas pode limitar a identificação de adultos que não se definem pelo desempenho físico. Eles também valorizam escolhas mais leves, mas querem encontrá-las em almoços, happy hours, churrascos, festivais e outros momentos sociais.</a:t>
            </a:r>
          </a:p>
          <a:p/>
          <a:p>
            <a:r>
              <a:t>Por isso, o desafio não é abandonar o esporte nem reposicionar a marca como outra coisa. É usar o esporte como credencial complementar e ampliar a relevância da Michelob Ultra em contextos cotidianos de convivência.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1min45s.</a:t>
            </a:r>
          </a:p>
          <a:p/>
          <a:p>
            <a:r>
              <a:t>O contexto de mercado mostra uma mudança mais ampla do que o nicho esportivo. A NielsenIQ aponta que 86% dos consumidores brasileiros já incorporaram algum hábito mais saudável à rotina. Ao mesmo tempo, cervejas de baixa caloria cresceram em volume e as ocasiões fora de casa aumentaram.</a:t>
            </a:r>
          </a:p>
          <a:p/>
          <a:p>
            <a:r>
              <a:t>Esses dados não autorizam tratar bebida alcoólica como saudável. Eles indicam que equilíbrio, controle calórico e socialização passaram a coexistir na decisão de consumo.</a:t>
            </a:r>
          </a:p>
          <a:p/>
          <a:p>
            <a:r>
              <a:t>A oportunidade para a Michelob Ultra é levar uma credencial que ela já possui a um público maior, em situações nas quais a pessoa quer socializar sem se sentir pesada ou afastada de sua rotina.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2min00s.</a:t>
            </a:r>
          </a:p>
          <a:p/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/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/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/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2min15s.</a:t>
            </a:r>
          </a:p>
          <a:p/>
          <a:p>
            <a:r>
              <a:t>Este slide define como saberemos se o plano funciona. Não estamos prometendo resultados realizados; estamos definindo resultados pretendidos, indicadores e instrumentos para acompanhá-los. Cada indicador precisa orientar uma decisão de continuidade, ajuste ou escala do piloto. O propósito não é perseguir números artificiais, mas reunir evidência suficiente para decidir onde investir em seguida.</a:t>
            </a:r>
          </a:p>
          <a:p/>
          <a:p>
            <a:r>
              <a:t>O primeiro resultado é ampliar o conhecimento da marca entre adultos que valorizam leveza e socialização. Por isso, acompanharemos alcance, frequência, engajamento e, principalmente, a mudança de associação da Michelob Ultra com sabor e ocasiões além do esporte. A pesquisa breve antes e depois da campanha verifica se a comunicação está alcançando o novo público e mudando essa percepção.</a:t>
            </a:r>
          </a:p>
          <a:p/>
          <a:p>
            <a:r>
              <a:t>O segundo resultado é conquistar novos consumidores e novas ocasiões. Aqui, QR codes, cupons e dados das plataformas permitem ligar a degustação à primeira compra, identificar novos compradores e observar a frequência de compra nas ocasiões priorizadas. Assim, a experimentação deixa de ser uma métrica isolada e passa a ser o início de uma jornada mensurável.</a:t>
            </a:r>
          </a:p>
          <a:p/>
          <a:p>
            <a:r>
              <a:t>O terceiro resultado é disponibilidade. Não basta gerar intenção se o produto não estiver visível na geladeira, na gôndola, no cardápio ou na entrega. Mediremos cobertura, presença e visibilidade nos canais priorizados para separar um problema de comunicação de um problema de acesso à compra.</a:t>
            </a:r>
          </a:p>
          <a:p/>
          <a:p>
            <a:r>
              <a:t>Por fim, crescimento sustentável significa transformar experimentação em recompra e vendas incrementais. A faixa de fechamento resume o método: registrar a linha de base antes das ações, ativar por região e canal, comparar os indicadores e escalar somente o que gerar aquisição 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1min45s.</a:t>
            </a:r>
          </a:p>
          <a:p/>
          <a:p>
            <a:r>
              <a:t>Os concorrentes selecionados disputam a preferência de consumidores que desejam uma cerveja com álcool e menor teor calórico para ocasiões sociais comuns.</a:t>
            </a:r>
          </a:p>
          <a:p/>
          <a:p>
            <a:r>
              <a:t>A Amstel Ultra traz atributos próximos e se beneficia da familiaridade de uma marca já consolidada no portfólio Heineken. A pressão para Michelob é explicar por que sua experiência premium merece preferência.</a:t>
            </a:r>
          </a:p>
          <a:p/>
          <a:p>
            <a:r>
              <a:t>A Heineken Ultimate atende o consumidor habitual da marca que busca menor teor alcoólico e calórico. A resposta da Michelob não é copiar a concorrente. É reforçar uma identidade própria de leveza, sabor e relevância em novas ocasiões sociais.</a:t>
            </a:r>
          </a:p>
          <a:p/>
          <a:p>
            <a:r>
              <a:t>Portanto, a competição não é apenas por preço ou calorias. É por reconhecimento, disponibilidade e significado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2min00s.</a:t>
            </a:r>
          </a:p>
          <a:p/>
          <a:p>
            <a:r>
              <a:t>Os benchmarks não servem para copiar produtos; servem para trazer aprendizados aplicáveis ao nosso problema.</a:t>
            </a:r>
          </a:p>
          <a:p/>
          <a:p>
            <a:r>
              <a:t>A Oatly mostra como enfrentar uma barreira de paladar com testes e prova de produto. Para Michelob, a aplicação é fazer da degustação a resposta concreta ao estigma de cerveja aguada.</a:t>
            </a:r>
          </a:p>
          <a:p/>
          <a:p>
            <a:r>
              <a:t>A Guinness mostra que é possível ampliar a base sem abandonar a identidade da marca, combinando comunicação, presença em bares e recrutamento de públicos antes subatendidos.</a:t>
            </a:r>
          </a:p>
          <a:p/>
          <a:p>
            <a:r>
              <a:t>A White Claw reforça que as necessidades variam durante a semana. O aprendizado para a Michelob não é lançar versões adicionais; é organizar a comunicação e os pontos de contato por ocasião, preservando o mesmo produto e proposta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planejado: 0min45s.</a:t>
            </a:r>
          </a:p>
          <a:p/>
          <a:p>
            <a:r>
              <a:t>Este anexo registra o uso de inteligência artificial no trabalho, conforme solicitado pelo professor.</a:t>
            </a:r>
          </a:p>
          <a:p/>
          <a:p>
            <a:r>
              <a:t>Antes da entrega final, o grupo deve preencher a tabela somente com as ferramentas, instruções e resultados que utilizou de fato. O objetivo é dar transparência ao processo, mostrando tanto os usos quanto os limites identificados.</a:t>
            </a:r>
          </a:p>
          <a:p/>
          <a:p>
            <a:r>
              <a:t>Encerramos reforçando que a proposta é um piloto mensurável para ampliar a base da Michelob Ultra, preservando a identidade da marca e aprendendo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rascasse.com/explore/us/michelob-ultra-149491" TargetMode="External"/><Relationship Id="rId4" Type="http://schemas.openxmlformats.org/officeDocument/2006/relationships/hyperlink" Target="https://adnews.com.br/post/ze-delivery-oferece-ate-40-off-no-mes-da-cerveja" TargetMode="External"/><Relationship Id="rId5" Type="http://schemas.openxmlformats.org/officeDocument/2006/relationships/hyperlink" Target="https://conferencias.fgv.br/clav/article/download/598/354/144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Plano de Marketing Digital — Piloto de aquisição e recompra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e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Negócios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— Michelob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CONTEXTO E TESE DO CASE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Associação concentrada no desempenho esportivo: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comunicação baseada em pós-treino, corrida e metas físicas pode afastar consumidores que valorizam leveza, mas não se reconhecem nesse repertório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</a:t>
            </a:r>
            <a:r>
              <a:rPr lang="pt-BR" sz="900" dirty="0"/>
              <a:t> Provar sabor e leveza: superar o estigma da “cerveja aguada” por meio de degustação guiada e comunicação dos atributos de baixo teor de carboidratos e baixa caloria, apresentando a </a:t>
            </a:r>
            <a:r>
              <a:rPr lang="pt-BR" sz="900" dirty="0" err="1"/>
              <a:t>Michelob</a:t>
            </a:r>
            <a:r>
              <a:rPr lang="pt-BR" sz="900" dirty="0"/>
              <a:t> Ultra como cerveja premium leve.</a:t>
            </a:r>
            <a:br>
              <a:rPr sz="900" dirty="0"/>
            </a:br>
            <a:r>
              <a:rPr sz="900" dirty="0"/>
              <a:t>•</a:t>
            </a:r>
            <a:r>
              <a:rPr lang="pt-BR" sz="900" dirty="0"/>
              <a:t> Ampliar a identificação com a marca: usar o esporte como credencial complementar e construir presença para adultos que buscam leveza em sua vida social, sem depender de desempenho físico.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lang="pt-BR" dirty="0"/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1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2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3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4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 mesmo estudo, a afirmação de que um comercial com pessoas praticando exercícios torna uma cerveja mais saudável teve média de 2,95 em uma escala de 1 a 7.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 Fonte: FGV — “Cerveja e Saudabilidade: Como a percepção de saudabilidade de uma cerveja afeta a intenção de compra do consumidor”.</a:t>
            </a: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4" y="3632200"/>
            <a:ext cx="5175504" cy="276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60%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20%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560">
                <a:solidFill>
                  <a:srgbClr val="4D4D4D"/>
                </a:solidFill>
                <a:latin typeface="Aptos"/>
              </a:rPr>
              <a:t>Distribuição inicial de investimento a validar no piloto. Fontes: </a:t>
            </a:r>
            <a:r>
              <a:rPr sz="560" u="sng">
                <a:solidFill>
                  <a:srgbClr val="0F4C81"/>
                </a:solidFill>
                <a:latin typeface="Aptos"/>
                <a:hlinkClick r:id="rId3"/>
              </a:rPr>
              <a:t>Michelob Ultra — Rascasse</a:t>
            </a:r>
            <a:r>
              <a:rPr sz="560">
                <a:solidFill>
                  <a:srgbClr val="4D4D4D"/>
                </a:solidFill>
                <a:latin typeface="Aptos"/>
              </a:rPr>
              <a:t>; </a:t>
            </a:r>
            <a:r>
              <a:rPr sz="560" u="sng">
                <a:solidFill>
                  <a:srgbClr val="0F4C81"/>
                </a:solidFill>
                <a:latin typeface="Aptos"/>
                <a:hlinkClick r:id="rId4"/>
              </a:rPr>
              <a:t>Zé Delivery oferece até 40% off no mês da cerveja — Adnews</a:t>
            </a:r>
            <a:r>
              <a:rPr sz="560">
                <a:solidFill>
                  <a:srgbClr val="4D4D4D"/>
                </a:solidFill>
                <a:latin typeface="Aptos"/>
              </a:rPr>
              <a:t>; </a:t>
            </a:r>
            <a:r>
              <a:rPr sz="560" u="sng">
                <a:solidFill>
                  <a:srgbClr val="0F4C81"/>
                </a:solidFill>
                <a:latin typeface="Aptos"/>
                <a:hlinkClick r:id="rId5"/>
              </a:rPr>
              <a:t>Cerveja e Saudabilidade — FGV</a:t>
            </a:r>
            <a:r>
              <a:rPr sz="56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entre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Chave: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rPr sz="1100" b="1" dirty="0">
                <a:solidFill>
                  <a:srgbClr val="0F4C81"/>
                </a:solidFill>
                <a:latin typeface="Georgia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Métricas-chave: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/>
            <a:r>
              <a:rPr sz="1050" dirty="0"/>
              <a:t>• Atributos: Cerveja com álcool, menor teor calórico, puro malte, low carb e sem glúten.</a:t>
            </a:r>
            <a:br/>
            <a:br/>
            <a:r>
              <a:rPr sz="1050" dirty="0"/>
              <a:t>• Força Comercial: Marca do portfólio do Grupo Heineken; a versão Ultra reforça uma proposta de cerveja leve, puro malte, low carb e sem glúten.</a:t>
            </a:r>
            <a:br/>
            <a:br/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Grupo Heineken Brasil: https://www.heinekenbrasil.com.br/nossas-marcas</a:t>
            </a:r>
            <a:br/>
            <a:r>
              <a:rPr sz="1050" dirty="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/>
            <a:br/>
            <a:r>
              <a:rPr sz="1050" dirty="0"/>
              <a:t>• Proposta: Opção com menos calorias dentro de uma marca global já estabelecida (lançada no Brasil em maio/2026).</a:t>
            </a:r>
            <a:br/>
            <a:br/>
            <a:r>
              <a:rPr sz="1050" dirty="0"/>
              <a:t>• Pressão sobre Michelob: Retenção do consumidor habitual de Heineken que busca redução calórica.</a:t>
            </a:r>
            <a:br/>
            <a:br/>
            <a:r>
              <a:rPr sz="1050" dirty="0"/>
              <a:t>• Resposta Michelob: Focar em identidade própria de leveza, sabor superior e ativação de estilo de vida.</a:t>
            </a:r>
            <a:br/>
            <a:br/>
            <a:r>
              <a:rPr sz="1050" dirty="0"/>
              <a:t>• Fontes:</a:t>
            </a:r>
            <a:br/>
            <a:r>
              <a:rPr sz="1050" dirty="0"/>
              <a:t>  - Produto oficial: https://www.heinekenbrasil.com.br/heineken-ultimate</a:t>
            </a:r>
            <a:br/>
            <a:r>
              <a:rPr sz="1050" dirty="0"/>
              <a:t>  - Lançamento: https://valor.globo.com/conteudo-de-marca/heineken/noticia/2026/07/14/heinekenr-lanca-versao-com-menor-teor-alcoolico-e-caloria-primeiro-no-brasil.ghtml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CC0D12-2D7F-FEC9-F715-C1F6C3247098}"/>
              </a:ext>
            </a:extLst>
          </p:cNvPr>
          <p:cNvSpPr txBox="1"/>
          <p:nvPr/>
        </p:nvSpPr>
        <p:spPr>
          <a:xfrm>
            <a:off x="1066648" y="1483629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Assumir a leveza como atributo de marca (sem tentar imitar cerveja encorpada).</a:t>
            </a:r>
            <a:br/>
            <a:r>
              <a:rPr sz="900" dirty="0"/>
              <a:t>  2. Construir desejo antes da comparação técnica via conteúdo nativo.</a:t>
            </a:r>
            <a:br/>
            <a:r>
              <a:rPr sz="900" dirty="0"/>
              <a:t>  3. Converter dúvida em prova de produto através de degustação gelada guiada.</a:t>
            </a:r>
            <a:br/>
            <a:br/>
            <a:r>
              <a:rPr sz="900" dirty="0"/>
              <a:t>• Fontes:</a:t>
            </a:r>
            <a:br/>
            <a:r>
              <a:rPr sz="900" dirty="0"/>
              <a:t>  - Teste cego Oatly: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  1. Recrutar públicos subatendidos preservando a identidade de marca.</a:t>
            </a:r>
            <a:br/>
            <a:r>
              <a:rPr sz="900" dirty="0"/>
              <a:t>  2. Trabalhar simultaneamente comunicação e presença/visibilidade no trade.</a:t>
            </a:r>
            <a:br/>
            <a:r>
              <a:rPr sz="900" dirty="0"/>
              <a:t>  3. Expandir o calendário de consumo para novas ocasiões diurnas e sociais.</a:t>
            </a:r>
            <a:br/>
            <a:br/>
            <a:r>
              <a:rPr sz="900" dirty="0"/>
              <a:t>• Fonte: Diageo — https://www.diageo.com/en/news-and-media/stories/2023/world-class-brand-building-the-year-guinness-became-great-britain-s-favourite-pint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/>
            <a:br/>
            <a:r>
              <a:rPr sz="900" dirty="0"/>
              <a:t>• Aprendizados Aplicáveis:</a:t>
            </a:r>
            <a:br/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/>
            <a:br/>
            <a:r>
              <a:rPr lang="pt-BR" sz="900" dirty="0"/>
              <a:t>• Fonte: White Claw Support — https://ussupport.whiteclaw.com/en/support/solutions/articles/36000314438-how-much-alcohol-is-in-white-claw-hard-seltzer-surge-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7BB30A-87E0-DFA0-EE66-C5ACF8AD24D0}"/>
              </a:ext>
            </a:extLst>
          </p:cNvPr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39"/>
            <a:ext cx="2072579" cy="1942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251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lang="pt-BR" sz="1000" b="1" dirty="0">
                <a:solidFill>
                  <a:srgbClr val="0F4C81"/>
                </a:solidFill>
                <a:latin typeface="Georgia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/>
              </a:rPr>
              <a:t>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Levar a </a:t>
            </a:r>
            <a:r>
              <a:rPr lang="pt-BR" dirty="0" err="1"/>
              <a:t>Michelob</a:t>
            </a:r>
            <a:r>
              <a:rPr lang="pt-BR" dirty="0"/>
              <a:t> Ultra a novas situações de convivência ao oferecer uma cerveja premium leve e refrescante, com baixas calorias e baixo teor de carboidratos.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Uma escolha para adultos que valorizam leveza e atributos nutricionais, sem abrir mão do sabor, em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festivais, futebol e outras ocasiões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9421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168713" y="3516908"/>
            <a:ext cx="2072579" cy="18780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60%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20%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57520"/>
            <a:ext cx="5291175" cy="10705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&gt; 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5847" y="5532120"/>
            <a:ext cx="5291175" cy="1095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rPr sz="1000" b="1" dirty="0">
                <a:solidFill>
                  <a:srgbClr val="0F4C81"/>
                </a:solidFill>
                <a:latin typeface="Georgia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6459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Etapa do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536192"/>
            <a:ext cx="17830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Ferramenta utilizada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28" y="1536192"/>
            <a:ext cx="256032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Prompt-chave ou 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6248" y="1536192"/>
            <a:ext cx="26974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Como o resultado foi usado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9253728" y="1536192"/>
            <a:ext cx="2011680" cy="384048"/>
          </a:xfrm>
          <a:prstGeom prst="rect">
            <a:avLst/>
          </a:prstGeom>
          <a:solidFill>
            <a:srgbClr val="0F4C81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Aprendizado ou limite identificado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Pesquisa e leitura de fontes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920240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95928" y="1920240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6248" y="1920240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920240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Organização de transcrições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633472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2633472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633472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2633472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46704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Análise do problema e da solução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346704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928" y="3346704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6248" y="3346704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334670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59935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Redação e revisão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4059935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5928" y="4059935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059935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53728" y="4059935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73168"/>
            <a:ext cx="1645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50" b="1" i="0">
                <a:solidFill>
                  <a:srgbClr val="0F4C81"/>
                </a:solidFill>
                <a:latin typeface="Aptos"/>
              </a:rPr>
              <a:t>Apoio à apresentação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2848" y="4773168"/>
            <a:ext cx="17830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4773168"/>
            <a:ext cx="2560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56248" y="4773168"/>
            <a:ext cx="2697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477316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00" b="0" i="1">
                <a:solidFill>
                  <a:srgbClr val="4D4D4D"/>
                </a:solidFill>
                <a:latin typeface="Aptos"/>
              </a:rPr>
              <a:t>[preencher]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>
                <a:solidFill>
                  <a:srgbClr val="4D4D4D"/>
                </a:solidFill>
                <a:latin typeface="Aptos"/>
              </a:rPr>
              <a:t>Preencher exclusivamente com ferramentas, instruções e resultados utilizados de fato pelo grupo. Não inserir conteúdo presumido.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3676</Words>
  <Application>Microsoft Office PowerPoint</Application>
  <PresentationFormat>Widescreen</PresentationFormat>
  <Paragraphs>212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3</cp:revision>
  <dcterms:created xsi:type="dcterms:W3CDTF">2013-01-27T09:14:16Z</dcterms:created>
  <dcterms:modified xsi:type="dcterms:W3CDTF">2026-09-21T18:55:40Z</dcterms:modified>
  <cp:category/>
</cp:coreProperties>
</file>