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/>
              </a:defRPr>
            </a:pPr>
            <a:r>
              <a:t>Plano de Marketing Digital (Modelo MVP)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t>PROJETO PRÁTICO — MBA FIA LABDATA</a:t>
            </a:r>
            <a:br/>
            <a:r>
              <a:t>Curso de Marketing e Inteligência de Negócios</a:t>
            </a:r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t>Empresa / Marca: AB InBev — Michelob Ultra</a:t>
            </a:r>
            <a:br/>
            <a:r>
              <a:t>Tema: Leveza que Acompanha o Seu Ritmo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 (PÁGINA 84)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D9822B"/>
                </a:solidFill>
                <a:latin typeface="Georgia"/>
              </a:defRPr>
            </a:pPr>
            <a:r>
              <a:t>O DESAFIO DO NOSSO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Nosso projeto parte da oportunidade de ampliar essa proposta no mercado brasileiro, posicionando a Michelob Ultra como uma alternativa para consumidores que desejam continuar socializando e consumindo cerveja, mas buscam escolhas mais leves e compatíveis com seu estilo de vida.</a:t>
            </a:r>
            <a:br/>
            <a:br/>
            <a:r>
              <a:t>O desafio central consiste em quebrar o estigma histórico de que 'cerveja leve é aguada' e educar o mercado quanto ao posicionamento Ultra Light Premium, sem se fechar num nicho exclusivamente esportivo.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Expandir as ocasiões de consumo da Michelob Ultra, conectando leveza, sabor, lifestyle e socialização.</a:t>
            </a:r>
            <a:br/>
            <a:br/>
            <a:r>
              <a:t>• Liderar a criação da categoria Ultra Light no Brasil.</a:t>
            </a:r>
            <a:br/>
            <a:r>
              <a:t>• Destravar novos momentos diurnos e de recompensa ativa (almoços leves, sunsets, pós-treino).</a:t>
            </a:r>
            <a:br/>
            <a:r>
              <a:t>• Manter a noite leve sem comprometer o dia seguinte.</a:t>
            </a:r>
            <a:br/>
            <a:r>
              <a:t>• Unir a experiência social da cerveja à busca por equilíbrio pessoal.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 (PÁGINA 85)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3600" b="1">
                <a:solidFill>
                  <a:srgbClr val="0F4C81"/>
                </a:solidFill>
                <a:latin typeface="Georgia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3600" b="1">
                <a:solidFill>
                  <a:srgbClr val="D9822B"/>
                </a:solidFill>
                <a:latin typeface="Georgia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Esses movimentos revelam uma oportunidade para Michelob Ultra: o consumidor continua valorizando a experiência social da cerveja, mas demonstra maior atenção às escolhas relacionadas ao seu estilo de vida.</a:t>
            </a:r>
            <a:br/>
            <a:br/>
            <a:r>
              <a:t>Com uma proposta baseada em leveza e baixo teor de carboidratos, Michelob Ultra pode ampliar sua presença para além das ocasiões tradicionais da categoria, explorando novos momentos de consumo associados à socialização e a uma rotina mais equilibrada.</a:t>
            </a:r>
            <a:br/>
            <a:r>
              <a:t>A oportunidade não está em escolher entre socialização e equilíbrio, mas em aproximar os dois.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t>Fontes: NielsenIQ — Estilos de Vida 2024; McKinsey — Cinco tendências do consumidor brasileiro em 2025; Worldpanel by Numerator — Brand Footprint Brasil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Mudança Comportamental, Dilema da Indústria e 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t>CONTEXTO E TESE DO CASE</a:t>
            </a:r>
          </a:p>
          <a:p>
            <a:pPr>
              <a:spcBef>
                <a:spcPts val="800"/>
              </a:spcBef>
              <a:defRPr b="1" sz="1100">
                <a:solidFill>
                  <a:srgbClr val="D9822B"/>
                </a:solidFill>
                <a:latin typeface="Calibri"/>
              </a:defRPr>
            </a:pPr>
            <a:r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Mudança secular de hábitos; ascensão da tendência de autocuidado, bem-estar e moderação no consumo alcóolico, sem abandonar a socialização.</a:t>
            </a:r>
          </a:p>
          <a:p>
            <a:pPr>
              <a:spcBef>
                <a:spcPts val="600"/>
              </a:spcBef>
              <a:defRPr b="1" sz="1100">
                <a:solidFill>
                  <a:srgbClr val="D9822B"/>
                </a:solidFill>
                <a:latin typeface="Calibri"/>
              </a:defRPr>
            </a:pPr>
            <a:r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Cervejas comuns pesam no corpo e geram culpa/letargia, enquanto as opções zero álcool encontram maior estigma e resistência à abstinência forçada, além de afetar a percepção de socialização e relaxamento.</a:t>
            </a:r>
          </a:p>
          <a:p>
            <a:pPr>
              <a:spcBef>
                <a:spcPts val="600"/>
              </a:spcBef>
              <a:defRPr b="1" sz="1100">
                <a:solidFill>
                  <a:srgbClr val="D9822B"/>
                </a:solidFill>
                <a:latin typeface="Calibri"/>
              </a:defRPr>
            </a:pPr>
            <a:r>
              <a:t>• A TESE DO CASE (LIDERAR A TRANSIÇÃO):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Posicionar a companhia como pioneira na transição de hábitos, criando e liderando a categoria Ultra Light Premium.</a:t>
            </a:r>
          </a:p>
          <a:p>
            <a:pPr>
              <a:spcBef>
                <a:spcPts val="600"/>
              </a:spcBef>
              <a:defRPr b="1" sz="1100">
                <a:solidFill>
                  <a:srgbClr val="D9822B"/>
                </a:solidFill>
                <a:latin typeface="Calibri"/>
              </a:defRPr>
            </a:pPr>
            <a:r>
              <a:t>• EXPANSÃO DE MOMENTOS: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Não é fugir da noite, mas ampliar o repertório: mantém a noite leve (sem sabotar o dia seguinte) e destrava novos momentos diurnos de recompensa ativa (pós-treino, linha de chegada, sunsets e almoços) onde a cerveja comum não cabia.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500" b="1">
                <a:solidFill>
                  <a:srgbClr val="0F4C81"/>
                </a:solidFill>
                <a:latin typeface="Georgia"/>
              </a:defRPr>
            </a:pPr>
            <a:r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t>• Baixo Brand Awareness Qualificado: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O consumidor ainda não conhece o posicionamento ou confunde o produto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t>• Estigma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Memória afetiva negativa de cervejas light (Aguadas), que exige ativações agressivas para provar sabor e corpo puro malte.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t>• Resistência no On-Trade (Inércia de Bares/Cardápios):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Dificuldade de convencer bares tradicionais a abrir torneiras ou espaço em geladeira para uma cerveja que foge da 'cerveja trincando de volume noturno'.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t>• Limitações Regulatórias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  Impossibilidade legal de usar palavras como 'fitness', 'saudável' ou associar diretamente o produto a atletas e performance física, exigindo narrativas indiretas de 'equilíbrio' e 'celebração consciente'.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Estratégia Central, 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t>1. ESTRATÉGIA CENTRAL DE SOLUÇÃO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• Smart Drinking / Lifestyle Amplo: Superar o estigma da 'cerveja aguada' via degustação.</a:t>
            </a:r>
            <a:br/>
            <a:r>
              <a:t>• Evitar a armadilha do nicho esportivo: usar o esporte apenas como inspiração aspiracional (halo effect), ancorando o volume real no bem-estar cotidiano, almoços leves e noites sem culpa.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t>2. PLANO TÁTICO DE GTM (EM 4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• Onda 1 (Degustação): Sampling guiado em parques, eventos gastronômicos e circuitos urbanos.</a:t>
            </a:r>
            <a:br/>
            <a:r>
              <a:t>• Onda 2 (Trade): Ponta de gôndola e geladeiras em grandes redes, empórios e bares.</a:t>
            </a:r>
            <a:br/>
            <a:r>
              <a:t>• Onda 3 (Repertório): Campanhas 'Sunset Hour' e 'Semana Consciente' no Zé Delivery.</a:t>
            </a:r>
            <a:br/>
            <a:r>
              <a:t>• Onda 4 (Comunidade): Desafios Strava + réguas de CRM para momentos de autocuidado.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• 80% dos consumidores de opções leves/zero continuam bebendo cervejas tradicionais (repertório).</a:t>
            </a:r>
            <a:br/>
            <a:r>
              <a:t>• Michelob é a 2ª cerveja mais vendida nos EUA pelo apelo de equilíbrio ('It's Only Worth It...').</a:t>
            </a:r>
            <a:br/>
            <a:r>
              <a:t>• A fermentação estendida converte todo o amido residual sem reduzir o teor alcoólico regular.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• Millennials (70%): Instagram, Strava, Podcasts de Negócios/Lifestyle e CRM no Zé Delivery.</a:t>
            </a:r>
            <a:br/>
            <a:r>
              <a:t>• Gen Z (20%): TikTok (desmistificando o produto com estética e humor) e festivais diurnos.</a:t>
            </a:r>
            <a:br/>
            <a:r>
              <a:t>• Gen X (10%): Ponta de gôndola no PDV físico, empórios e OOH próximo a centros empresariais.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 (PÁGINA 86)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Ampliar o reconhecimento da Michelob Ultra e consolidar seu posicionamento como cerveja premium, leve e low carb, associada a equilíbrio e novas ocasiões de consumo.</a:t>
            </a:r>
            <a:br/>
            <a:br/>
            <a:r>
              <a:t>• Métrica Chave: Taxa de engajamento em mídias sociais e evolução do Brand Awareness qualificado.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t>2. CONQUISTA DE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Inserir a Michelob Ultra em momentos pouco explorados pela cerveja tradicional (almoços, happy hours, encontros diurnos e ocasiões de estilo de vida ativo).</a:t>
            </a:r>
            <a:br/>
            <a:br/>
            <a:r>
              <a:t>• Métricas Chave: Taxa de experimentação (Trial) e Frequência de consumo nas novas janelas.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0F4C81"/>
                </a:solidFill>
                <a:latin typeface="Georgia"/>
              </a:defRPr>
            </a:pPr>
            <a: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Expandir a presença em supermercados, bares, restaurantes, delivery e pontos de lifestyle, reduzindo barreiras entre a intenção e a compra.</a:t>
            </a:r>
            <a:br/>
            <a:br/>
            <a:r>
              <a:t>• Métrica Chave: Penetração avaliada pela quantidade de canais comprando Michelob em cada região.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300" b="1">
                <a:solidFill>
                  <a:srgbClr val="D9822B"/>
                </a:solidFill>
                <a:latin typeface="Georgia"/>
              </a:defRPr>
            </a:pPr>
            <a:r>
              <a:t>4. GERAÇÃO DE CRESCIMENTO SUSTENTÁVEL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t>Atrair novos consumidores, aumentar a frequência de compra e gerar vendas incrementais, transformando experimentação em compra recorrente.</a:t>
            </a:r>
            <a:br/>
            <a:br/>
            <a:r>
              <a:t>• Métricas Chave: Volume total de vendas e Ciclo de Reposição (tempo médio de novo pedido pelo distribuidor).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 (PÁGINA 87)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6647" y="155448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51560" b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700" b="1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/>
              <a:t>• Linha de frente: Long neck de 275 ml com 72 kcal e 4% ABV.</a:t>
            </a:r>
            <a:br/>
            <a:r>
              <a:rPr sz="1050"/>
              <a:t>• Atributos: Cerveja com álcool, menor teor calórico, puro malte, low carb e sem glúten.</a:t>
            </a:r>
            <a:br/>
            <a:br/>
            <a:r>
              <a:rPr sz="1050"/>
              <a:t>• Força Comercial: Associação histórica à vida ativa (ex: parceria Rafael Nadal) e crescimento acelerado de volumes no Brasil.</a:t>
            </a:r>
            <a:br/>
            <a:br/>
            <a:r>
              <a:rPr sz="1050"/>
              <a:t>• Pressão sobre Michelob: Disputa familiaridade e valor percebido. Exige explicar por que a experiência Michelob merece preferência diante da porção de 275ml.</a:t>
            </a:r>
            <a:br/>
            <a:br/>
            <a:r>
              <a:rPr sz="1050"/>
              <a:t>• Site e fontes:</a:t>
            </a:r>
            <a:br/>
            <a:r>
              <a:rPr sz="1050"/>
              <a:t>  - Site oficial: https://www.amstelbrasil.com.br</a:t>
            </a:r>
            <a:br/>
            <a:r>
              <a:rPr sz="1050"/>
              <a:t>  - Heineken Express: https://express.heineken.com.br/collections/amstel-cervejas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155448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51560" bIns="182880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/>
              </a:defRPr>
            </a:pPr>
            <a:r>
              <a:rPr sz="1700" b="1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/>
              <a:t>• Linha de frente: Garrafa de 330 ml com 97 kcal, 3,5% ABV e sem glúten (redução de 30% calorias vs regular).</a:t>
            </a:r>
            <a:br/>
            <a:br/>
            <a:r>
              <a:rPr sz="1050"/>
              <a:t>• Proposta: Opção com menos calorias dentro de uma marca global já estabelecida (lançada no Brasil em maio/2026).</a:t>
            </a:r>
            <a:br/>
            <a:br/>
            <a:r>
              <a:rPr sz="1050"/>
              <a:t>• Pressão sobre Michelob: Retenção do consumidor habitual de Heineken que busca redução calórica.</a:t>
            </a:r>
            <a:br/>
            <a:br/>
            <a:r>
              <a:rPr sz="1050"/>
              <a:t>• Resposta Michelob: Focar em identidade própria de leveza, sabor superior e ativação de estilo de vida.</a:t>
            </a:r>
            <a:br/>
            <a:br/>
            <a:r>
              <a:rPr sz="1050"/>
              <a:t>• Site e fontes:</a:t>
            </a:r>
            <a:br/>
            <a:r>
              <a:rPr sz="1050"/>
              <a:t>  - Portfólio oficial: https://www.heinekenbrasil.com.br/nossas-marcas</a:t>
            </a:r>
            <a:br/>
            <a:r>
              <a:rPr sz="1050"/>
              <a:t>  - Matéria Valor Econômico: https://valor.globo.com</a:t>
            </a:r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485" y="1737360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263" y="1737360"/>
            <a:ext cx="932688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 (PÁGINA 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686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/>
              <a:t>Quebra de Preconceito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50"/>
              <a:t>• Caso de Referência: Enfrentou a percepção de que bebidas de aveia seriam inferiores ao leite. Construiu comunicação com humor, personalidade e presença cultural, usando a degustação para superar o preconceito de sabor.</a:t>
            </a:r>
            <a:br/>
            <a:br/>
            <a:r>
              <a:rPr sz="950"/>
              <a:t>• Aprendizados Aplicáveis:</a:t>
            </a:r>
            <a:br/>
            <a:r>
              <a:rPr sz="950"/>
              <a:t>  1. Assumir a leveza como atributo de marca (sem tentar imitar cerveja encorpada).</a:t>
            </a:r>
            <a:br/>
            <a:r>
              <a:rPr sz="950"/>
              <a:t>  2. Construir desejo antes da comparação técnica via conteúdo nativo.</a:t>
            </a:r>
            <a:br/>
            <a:r>
              <a:rPr sz="950"/>
              <a:t>  3. Converter dúvida em prova de produto através de degustação gelada guiada.</a:t>
            </a:r>
            <a:br/>
            <a:br/>
            <a:r>
              <a:rPr sz="950"/>
              <a:t>• Site e fontes:</a:t>
            </a:r>
            <a:br/>
            <a:r>
              <a:rPr sz="950"/>
              <a:t>  - Site oficial: https://www.oatly.com</a:t>
            </a:r>
            <a:br/>
            <a:r>
              <a:rPr sz="950"/>
              <a:t>  - Teste de sabor: https://www.oatly.com/sustainability/influence-food-system-change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686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/>
              <a:t>Expansão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50"/>
              <a:t>• Caso de Referência: Ampliou a base na Grã-Bretanha sem mudar o produto. Atuou fortemente com bares do on-trade, recrutou novos públicos (mulheres e jovens) e expandiu o calendário de consumo.</a:t>
            </a:r>
            <a:br/>
            <a:br/>
            <a:r>
              <a:rPr sz="950"/>
              <a:t>• Aprendizados Aplicáveis:</a:t>
            </a:r>
            <a:br/>
            <a:r>
              <a:rPr sz="950"/>
              <a:t>  1. Recrutar públicos subatendidos preservando a identidade de marca.</a:t>
            </a:r>
            <a:br/>
            <a:r>
              <a:rPr sz="950"/>
              <a:t>  2. Trabalhar simultaneamente comunicação e presença/visibilidade no trade.</a:t>
            </a:r>
            <a:br/>
            <a:r>
              <a:rPr sz="950"/>
              <a:t>  3. Expandir o calendário de consumo para novas ocasiões diurnas e sociais.</a:t>
            </a:r>
            <a:br/>
            <a:br/>
            <a:r>
              <a:rPr sz="950"/>
              <a:t>• Site e fontes:</a:t>
            </a:r>
            <a:br/>
            <a:r>
              <a:rPr sz="950"/>
              <a:t>  - Site oficial: https://www.guinness.com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868680" bIns="18288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/>
              </a:defRPr>
            </a:pPr>
            <a:r>
              <a:rPr sz="1500" b="1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/>
              <a:t>Escala de Álcool e Ocasiões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50"/>
              <a:t>• Caso de Referência: Entendeu que o consumidor navega por diferentes necessidades na semana. Criou linha Surge (8% ABV para noite/esquentas) e linha 0% com eletrólitos para hidratação/bem-estar.</a:t>
            </a:r>
            <a:br/>
            <a:br/>
            <a:r>
              <a:rPr sz="950"/>
              <a:t>• Aprendizados Aplicáveis:</a:t>
            </a:r>
            <a:br/>
            <a:r>
              <a:rPr sz="950"/>
              <a:t>  1. Adequar a bebida ao momento do dia (almoço, churrasco, balada).</a:t>
            </a:r>
            <a:br/>
            <a:r>
              <a:rPr sz="950"/>
              <a:t>  2. Agregar funcionalidade e pertencimento na versão Zero ('cara de festa').</a:t>
            </a:r>
            <a:br/>
            <a:r>
              <a:rPr sz="950"/>
              <a:t>  3. Comunicação clara e focada na intensidade de cada momento.</a:t>
            </a:r>
            <a:br/>
            <a:br/>
            <a:r>
              <a:rPr sz="950"/>
              <a:t>• Site e fontes:</a:t>
            </a:r>
            <a:br/>
            <a:r>
              <a:rPr sz="950"/>
              <a:t>  - Site oficial: https://www.whiteclaw.com</a:t>
            </a:r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61" y="1719072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578" y="171907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700" y="1719072"/>
            <a:ext cx="694758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 (PÁGINA 89)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579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1. Trade &amp; Varejo: Supermercados, atacarejos e distribuidores (geladeiras e gôndola).</a:t>
            </a:r>
            <a:br/>
            <a:r>
              <a:t>2. Food Service: Bares casuais, restaurantes diurnos (brunch/poke) e arenas de beach tennis.</a:t>
            </a:r>
            <a:br/>
            <a:r>
              <a:t>3. Esporte &amp; Eventos: Provas de corrida (Iguana, Yescom), assessorias e influencers fitness.</a:t>
            </a:r>
            <a:br/>
            <a:r>
              <a:t>4. Tech: Strava, Zé Delivery e iFood.</a:t>
            </a:r>
            <a:br/>
            <a:r>
              <a:t>5. Embaixadores: Atletas amadores e criadores de conteúdo.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251" y="1463040"/>
            <a:ext cx="2072579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1. Finish Line &amp; Dayparting: Patrocínios em maratonas e Michelob Sunset Hour.</a:t>
            </a:r>
            <a:br/>
            <a:r>
              <a:t>2. Awareness Digital: Desafios Strava Club, TikTok/Reels e squad de criadores.</a:t>
            </a:r>
            <a:br/>
            <a:r>
              <a:t>3. Trade &amp; Sampling: Geladeiras no PDV e sampling guiado.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3145536"/>
            <a:ext cx="2072579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1. Físicos: Fermentação estendida, frota refrigerada e geladeiras PDV.</a:t>
            </a:r>
            <a:br/>
            <a:r>
              <a:t>2. IP &amp; Marca: Fórmula Ultra Light e Brand Equity global.</a:t>
            </a:r>
            <a:br/>
            <a:r>
              <a:t>3. Dados &amp; Tech: BEES, Zé Delivery e Strava Club.</a:t>
            </a:r>
            <a:br/>
            <a:r>
              <a:t>4. Talentos: Equipe de Trade Esportivo.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2982" y="1463040"/>
            <a:ext cx="2072579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t>PROPOSTA DE VALOR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Expandir as fronteiras da celebração social ao oferecer uma cerveja ultra leve e refrescante, de baixas calorias e low carb, que destrava novas ocasiões de recompensa.</a:t>
            </a:r>
            <a:br/>
            <a:br/>
            <a:r>
              <a:t>É a escolha inteligente para adultos ativos que buscam o prazer de brindar suas conquistas sem o peso calórico, a letargia ou a quebra de ritmo da sua rotina de bem-estar.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713" y="1463040"/>
            <a:ext cx="2072579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1. PDV: Merchandising em seções saudáveis e sampling gelado.</a:t>
            </a:r>
            <a:br/>
            <a:r>
              <a:t>2. Gamificação: Km no Strava liberam cupons no PDV e acesso VIP.</a:t>
            </a:r>
            <a:br/>
            <a:r>
              <a:t>3. Community Growth: Assessorias de corrida e beach tennis.</a:t>
            </a:r>
            <a:br/>
            <a:r>
              <a:t>4. Comunicação: Apoio ao equilíbrio e podcasts.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8713" y="3145536"/>
            <a:ext cx="2072579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1. Tradicionais: Redes, Atacarejos e Bares On-Trade.</a:t>
            </a:r>
            <a:br/>
            <a:r>
              <a:t>2. Lifestyle: Arenas Beach Tennis, Poke Bars e Brunch Spots.</a:t>
            </a:r>
            <a:br/>
            <a:r>
              <a:t>3. Quick Commerce: Zé Delivery e iFood (push diurno 11h-16h).</a:t>
            </a:r>
            <a:br/>
            <a:r>
              <a:t>4. Eventos: Linha de chegada em maratonas.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14444" y="1463040"/>
            <a:ext cx="2072579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• CORE TARGET (70%) | Millennials (28-43): 'The Balanced Strivers' — Adultos ativos; brinde premium sem ressaca em pós-treinos e almoços.</a:t>
            </a:r>
            <a:br/>
            <a:br/>
            <a:r>
              <a:t>• ESTRATÉGICO (20%) | Gen Z (18-27): 'Mindful Socializers' — Mindful drinking e alternativa estética em festivais.</a:t>
            </a:r>
            <a:br/>
            <a:br/>
            <a:r>
              <a:t>• RESIDUAL (10%) | Gen X (44-59): 'Habit Loyalists' — Controle calórico e ação em gôndola.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529117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F4C81"/>
                </a:solidFill>
                <a:latin typeface="Georgia"/>
              </a:defRPr>
            </a:pPr>
            <a:r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• Custos de produção e matérias-primas.</a:t>
            </a:r>
            <a:br/>
            <a:r>
              <a:t>• Custos com Fornecedores e Folha de pagamento.</a:t>
            </a:r>
            <a:br/>
            <a:r>
              <a:t>• Desenvolvimento e evolução do produto.</a:t>
            </a:r>
            <a:br/>
            <a:r>
              <a:t>• Investimentos em marketing, publicidade e patrocínios.</a:t>
            </a:r>
            <a:br/>
            <a:r>
              <a:t>• Custos logísticos de distribuição nacional e Impostos sobre bebidas alcoólicas.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7" y="4846320"/>
            <a:ext cx="529117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D9822B"/>
                </a:solidFill>
                <a:latin typeface="Georgia"/>
              </a:defRPr>
            </a:pPr>
            <a:r>
              <a:t>FONTES DE 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t>• Venda de Michelob Ultra.</a:t>
            </a:r>
            <a:br/>
            <a:r>
              <a:t>• Aumento da frequência de compra.</a:t>
            </a:r>
            <a:br/>
            <a:r>
              <a:t>• Aquisição de novos consumidores.</a:t>
            </a:r>
            <a:br/>
            <a:r>
              <a:t>• Incremento de vendas em novas ocasiões de consumo.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