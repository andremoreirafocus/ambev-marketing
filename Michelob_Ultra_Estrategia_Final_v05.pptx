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F5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04_cover_photo.png"/>
          <p:cNvPicPr>
            <a:picLocks noChangeAspect="1"/>
          </p:cNvPicPr>
          <p:nvPr/>
        </p:nvPicPr>
        <p:blipFill>
          <a:blip r:embed="rId2"/>
          <a:srcRect l="10054" r="10054"/>
          <a:stretch>
            <a:fillRect/>
          </a:stretch>
        </p:blipFill>
        <p:spPr>
          <a:xfrm>
            <a:off x="6629400" y="0"/>
            <a:ext cx="55595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63640" y="0"/>
            <a:ext cx="1463040" cy="6858000"/>
          </a:xfrm>
          <a:prstGeom prst="rect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5166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 Display"/>
              </a:rPr>
              <a:t>MICHELOB
ULTRA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432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Mais momentos para o que importa.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3657600"/>
            <a:ext cx="658368" cy="54864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3931920"/>
            <a:ext cx="4983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DCEBF4"/>
                </a:solidFill>
                <a:latin typeface="Aptos"/>
              </a:rPr>
              <a:t>Uma proposta de posicionamento para consumidores que buscam leveza, equilíbrio e vida social.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82F59"/>
                </a:solidFill>
                <a:latin typeface="Aptos Display"/>
              </a:rPr>
              <a:t>Nossa visão integrada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76656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Como a Michelob Ultra gera, entrega e captura valor.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28600"/>
            <a:ext cx="146304" cy="38404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2468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6D76"/>
                </a:solidFill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34440"/>
            <a:ext cx="3383280" cy="1280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Parceiros-chave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t>Trade, food service, esporte, tecnologia e creators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234440"/>
            <a:ext cx="3383280" cy="1280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Atividades-chave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t>Experiência, awareness, comunidade e conversão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008" y="1234440"/>
            <a:ext cx="3383280" cy="1280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Recursos-chave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t>Logística, marca, dados, tecnologia e talentos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25496"/>
            <a:ext cx="3383280" cy="1280160"/>
          </a:xfrm>
          <a:prstGeom prst="roundRect">
            <a:avLst/>
          </a:prstGeom>
          <a:solidFill>
            <a:srgbClr val="082F59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Proposta de valor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Leveza, baixas calorias, low carb e socialização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825496"/>
            <a:ext cx="3383280" cy="1280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Relacionamento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t>Trial, gamificação, comunidade e comunicação direta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2825496"/>
            <a:ext cx="3383280" cy="1280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Canais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t>Varejo, bares, lifestyle, delivery e eventos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416552"/>
            <a:ext cx="3383280" cy="1280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Segmentação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t>Balanced Strivers, Mindful Socializers e Habit Loyalists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4416552"/>
            <a:ext cx="3383280" cy="1280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Estrutura de custo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t>Produção, pessoas, marketing, logística e impostos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4416552"/>
            <a:ext cx="3383280" cy="1280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Fontes de receita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00">
                <a:solidFill>
                  <a:srgbClr val="232C34"/>
                </a:solidFill>
                <a:latin typeface="Aptos"/>
              </a:defRPr>
            </a:pPr>
            <a:r>
              <a:t>Venda, frequência, aquisição e novas ocasiões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82F59"/>
                </a:solidFill>
                <a:latin typeface="Aptos Display"/>
              </a:rPr>
              <a:t>Segmentação de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76656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Priorização comportamental para orientar mensagem, canais e ocasiões.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28600"/>
            <a:ext cx="146304" cy="38404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2468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6D76"/>
                </a:solidFill>
              </a:rPr>
              <a:t>3</a:t>
            </a:r>
          </a:p>
        </p:txBody>
      </p:sp>
      <p:pic>
        <p:nvPicPr>
          <p:cNvPr id="6" name="Picture 5" descr="v04_seg_core.png"/>
          <p:cNvPicPr>
            <a:picLocks noChangeAspect="1"/>
          </p:cNvPicPr>
          <p:nvPr/>
        </p:nvPicPr>
        <p:blipFill>
          <a:blip r:embed="rId2"/>
          <a:srcRect t="12412" b="12412"/>
          <a:stretch>
            <a:fillRect/>
          </a:stretch>
        </p:blipFill>
        <p:spPr>
          <a:xfrm>
            <a:off x="594360" y="1234440"/>
            <a:ext cx="3456432" cy="1417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" y="1234440"/>
            <a:ext cx="731520" cy="393192"/>
          </a:xfrm>
          <a:prstGeom prst="rect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80360"/>
            <a:ext cx="3456432" cy="301752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CORE TARGET
The Balanced Strivers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28–43 anos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Rotina ativa e exigente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Busca equilíbrio sem abandonar a vida social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Ocasiões: pós-treino, almoço e sunset</a:t>
            </a:r>
          </a:p>
        </p:txBody>
      </p:sp>
      <p:pic>
        <p:nvPicPr>
          <p:cNvPr id="9" name="Picture 8" descr="v04_seg_strat.png"/>
          <p:cNvPicPr>
            <a:picLocks noChangeAspect="1"/>
          </p:cNvPicPr>
          <p:nvPr/>
        </p:nvPicPr>
        <p:blipFill>
          <a:blip r:embed="rId3"/>
          <a:srcRect t="12640" b="12640"/>
          <a:stretch>
            <a:fillRect/>
          </a:stretch>
        </p:blipFill>
        <p:spPr>
          <a:xfrm>
            <a:off x="4370832" y="1234440"/>
            <a:ext cx="3456432" cy="1417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70832" y="1234440"/>
            <a:ext cx="731520" cy="393192"/>
          </a:xfrm>
          <a:prstGeom prst="rect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880360"/>
            <a:ext cx="3456432" cy="301752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ESTRATÉGICO
Mindful Socializers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18–27 anos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Consumo mais consciente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Valoriza leveza, estética e autocontrole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Ocasiões: festivais e encontros diurnos</a:t>
            </a:r>
          </a:p>
        </p:txBody>
      </p:sp>
      <p:pic>
        <p:nvPicPr>
          <p:cNvPr id="12" name="Picture 11" descr="v04_seg_res.png"/>
          <p:cNvPicPr>
            <a:picLocks noChangeAspect="1"/>
          </p:cNvPicPr>
          <p:nvPr/>
        </p:nvPicPr>
        <p:blipFill>
          <a:blip r:embed="rId4"/>
          <a:srcRect t="11501" b="11501"/>
          <a:stretch>
            <a:fillRect/>
          </a:stretch>
        </p:blipFill>
        <p:spPr>
          <a:xfrm>
            <a:off x="8147304" y="1234440"/>
            <a:ext cx="3456432" cy="1417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47304" y="1234440"/>
            <a:ext cx="731520" cy="393192"/>
          </a:xfrm>
          <a:prstGeom prst="rect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2880360"/>
            <a:ext cx="3456432" cy="301752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RESIDUAL
Habit Loyalists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44–59 anos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Hábitos de cerveja consolidados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Busca pontual por opções mais leves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80">
                <a:solidFill>
                  <a:srgbClr val="232C34"/>
                </a:solidFill>
                <a:latin typeface="Aptos"/>
              </a:defRPr>
            </a:pPr>
            <a:r>
              <a:t>• Atuação mais tática no PDV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82F59"/>
                </a:solidFill>
                <a:latin typeface="Aptos Display"/>
              </a:rPr>
              <a:t>Proposta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76656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Uma escolha alinhada a um estilo de vida mais equilibrado.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28600"/>
            <a:ext cx="146304" cy="38404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2468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6D76"/>
                </a:solidFill>
              </a:rPr>
              <a:t>4</a:t>
            </a:r>
          </a:p>
        </p:txBody>
      </p:sp>
      <p:pic>
        <p:nvPicPr>
          <p:cNvPr id="6" name="Picture 5" descr="v04_value_photo.png"/>
          <p:cNvPicPr>
            <a:picLocks noChangeAspect="1"/>
          </p:cNvPicPr>
          <p:nvPr/>
        </p:nvPicPr>
        <p:blipFill>
          <a:blip r:embed="rId2"/>
          <a:srcRect t="509" b="509"/>
          <a:stretch>
            <a:fillRect/>
          </a:stretch>
        </p:blipFill>
        <p:spPr>
          <a:xfrm>
            <a:off x="8366760" y="1097280"/>
            <a:ext cx="3246120" cy="5257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325880"/>
            <a:ext cx="7178040" cy="2011680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/>
            <a:r>
              <a:rPr sz="2000" b="1">
                <a:solidFill>
                  <a:srgbClr val="082F59"/>
                </a:solidFill>
                <a:latin typeface="Aptos Display"/>
              </a:rPr>
              <a:t>Expandir as fronteiras da celebração social com uma cerveja leve e refrescante, de baixas calorias e low carb, que se encaixa em uma rotina de maior equilíbrio.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03320"/>
            <a:ext cx="1600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30" b="1">
                <a:solidFill>
                  <a:srgbClr val="082F59"/>
                </a:solidFill>
                <a:latin typeface="Aptos Display"/>
              </a:rPr>
              <a:t>Baixas calorias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880">
                <a:solidFill>
                  <a:srgbClr val="232C34"/>
                </a:solidFill>
                <a:latin typeface="Aptos"/>
              </a:defRPr>
            </a:pPr>
            <a:r>
              <a:t>Escolha mais leve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3703320"/>
            <a:ext cx="1600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30" b="1">
                <a:solidFill>
                  <a:srgbClr val="082F59"/>
                </a:solidFill>
                <a:latin typeface="Aptos Display"/>
              </a:rPr>
              <a:t>Low carb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880">
                <a:solidFill>
                  <a:srgbClr val="232C34"/>
                </a:solidFill>
                <a:latin typeface="Aptos"/>
              </a:defRPr>
            </a:pPr>
            <a:r>
              <a:t>Aderência à rotina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3703320"/>
            <a:ext cx="1600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30" b="1">
                <a:solidFill>
                  <a:srgbClr val="082F59"/>
                </a:solidFill>
                <a:latin typeface="Aptos Display"/>
              </a:rPr>
              <a:t>Refrescância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880">
                <a:solidFill>
                  <a:srgbClr val="232C34"/>
                </a:solidFill>
                <a:latin typeface="Aptos"/>
              </a:defRPr>
            </a:pPr>
            <a:r>
              <a:t>Experiência de cerveja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3" y="3703320"/>
            <a:ext cx="1600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30" b="1">
                <a:solidFill>
                  <a:srgbClr val="082F59"/>
                </a:solidFill>
                <a:latin typeface="Aptos Display"/>
              </a:rPr>
              <a:t>Socialização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880">
                <a:solidFill>
                  <a:srgbClr val="232C34"/>
                </a:solidFill>
                <a:latin typeface="Aptos"/>
              </a:defRPr>
            </a:pPr>
            <a:r>
              <a:t>Sem abrir mão dos momentos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82F59"/>
                </a:solidFill>
                <a:latin typeface="Aptos Display"/>
              </a:rPr>
              <a:t>Relacionamento com clientes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76656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Da experimentação à construção de comunidade.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28600"/>
            <a:ext cx="146304" cy="38404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2468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6D76"/>
                </a:solidFill>
              </a:rPr>
              <a:t>5</a:t>
            </a:r>
          </a:p>
        </p:txBody>
      </p:sp>
      <p:pic>
        <p:nvPicPr>
          <p:cNvPr id="6" name="Picture 5" descr="v04_relationship_photo.png"/>
          <p:cNvPicPr>
            <a:picLocks noChangeAspect="1"/>
          </p:cNvPicPr>
          <p:nvPr/>
        </p:nvPicPr>
        <p:blipFill>
          <a:blip r:embed="rId2"/>
          <a:srcRect t="2823" b="2823"/>
          <a:stretch>
            <a:fillRect/>
          </a:stretch>
        </p:blipFill>
        <p:spPr>
          <a:xfrm>
            <a:off x="8732520" y="1188720"/>
            <a:ext cx="278892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234440"/>
            <a:ext cx="7635240" cy="102412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1. Experiência no PDV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Degustação guiada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Ativações com parceiros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Redução da barreira de experimentação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441448"/>
            <a:ext cx="7635240" cy="102412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2. Gamificação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Desafios em apps esportivos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Cupons e recompensas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48456"/>
            <a:ext cx="7635240" cy="102412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3. Community-led growth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Assessorias e arenas esportivas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Embaixadores e comunidades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855464"/>
            <a:ext cx="7635240" cy="102412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200" b="1">
                <a:solidFill>
                  <a:srgbClr val="082F59"/>
                </a:solidFill>
                <a:latin typeface="Aptos Display"/>
              </a:rPr>
              <a:t>4. Comunicação direta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Creators, podcasts e conteúdo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• Lifestyle, equilíbrio e ocasiões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82F59"/>
                </a:solidFill>
                <a:latin typeface="Aptos Display"/>
              </a:rPr>
              <a:t>Canais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76656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Presença física e digital ao longo da jornada do consumidor.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28600"/>
            <a:ext cx="146304" cy="38404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2468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6D76"/>
                </a:solidFill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  <p:sp>
        <p:nvSpPr>
          <p:cNvPr id="18" name="Oval 17"/>
          <p:cNvSpPr/>
          <p:nvPr/>
        </p:nvSpPr>
        <p:spPr>
          <a:xfrm>
            <a:off x="822959" y="1463039"/>
            <a:ext cx="438912" cy="438912"/>
          </a:xfrm>
          <a:prstGeom prst="ellipse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261872"/>
            <a:ext cx="3429000" cy="205740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 rIns="219456" tIns="201168" bIns="164592"/>
          <a:lstStyle/>
          <a:p>
            <a:pPr algn="ctr">
              <a:spcAft>
                <a:spcPts val="700"/>
              </a:spcAft>
            </a:pPr>
            <a:r>
              <a:rPr sz="1230" b="1">
                <a:solidFill>
                  <a:srgbClr val="082F59"/>
                </a:solidFill>
                <a:latin typeface="Aptos Display"/>
              </a:rPr>
              <a:t>Varejo de massa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Supermercados, hipermercados e atacarejos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Objetivo: disponibilidade, escala e visibilidade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261872"/>
            <a:ext cx="73152" cy="2057400"/>
          </a:xfrm>
          <a:prstGeom prst="rect">
            <a:avLst/>
          </a:prstGeom>
          <a:solidFill>
            <a:srgbClr val="19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53712" y="1463039"/>
            <a:ext cx="438912" cy="438912"/>
          </a:xfrm>
          <a:prstGeom prst="ellipse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1261872"/>
            <a:ext cx="3429000" cy="205740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 rIns="219456" tIns="201168" bIns="164592"/>
          <a:lstStyle/>
          <a:p>
            <a:pPr algn="ctr">
              <a:spcAft>
                <a:spcPts val="700"/>
              </a:spcAft>
            </a:pPr>
            <a:r>
              <a:rPr sz="1230" b="1">
                <a:solidFill>
                  <a:srgbClr val="082F59"/>
                </a:solidFill>
                <a:latin typeface="Aptos Display"/>
              </a:rPr>
              <a:t>Bares e restaurantes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Pontos de consumo e socialização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Objetivo: presença em ocasiões de encontro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261872"/>
            <a:ext cx="73152" cy="2057400"/>
          </a:xfrm>
          <a:prstGeom prst="rect">
            <a:avLst/>
          </a:prstGeom>
          <a:solidFill>
            <a:srgbClr val="19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84464" y="1463039"/>
            <a:ext cx="438912" cy="438912"/>
          </a:xfrm>
          <a:prstGeom prst="ellipse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1261872"/>
            <a:ext cx="3429000" cy="205740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 rIns="219456" tIns="201168" bIns="164592"/>
          <a:lstStyle/>
          <a:p>
            <a:pPr algn="ctr">
              <a:spcAft>
                <a:spcPts val="700"/>
              </a:spcAft>
            </a:pPr>
            <a:r>
              <a:rPr sz="1230" b="1">
                <a:solidFill>
                  <a:srgbClr val="082F59"/>
                </a:solidFill>
                <a:latin typeface="Aptos Display"/>
              </a:rPr>
              <a:t>Lifestyle e esporte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Corridas, clubes, academias e arenas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Objetivo: associação com rotina ativa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2" y="1261872"/>
            <a:ext cx="73152" cy="2057400"/>
          </a:xfrm>
          <a:prstGeom prst="rect">
            <a:avLst/>
          </a:prstGeom>
          <a:solidFill>
            <a:srgbClr val="19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59" y="3886199"/>
            <a:ext cx="438912" cy="438912"/>
          </a:xfrm>
          <a:prstGeom prst="ellipse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685031"/>
            <a:ext cx="3429000" cy="205740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 rIns="219456" tIns="201168" bIns="164592"/>
          <a:lstStyle/>
          <a:p>
            <a:pPr algn="ctr">
              <a:spcAft>
                <a:spcPts val="700"/>
              </a:spcAft>
            </a:pPr>
            <a:r>
              <a:rPr sz="1230" b="1">
                <a:solidFill>
                  <a:srgbClr val="082F59"/>
                </a:solidFill>
                <a:latin typeface="Aptos Display"/>
              </a:rPr>
              <a:t>Eventos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Festivais e experiências de marca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Objetivo: experimentação e lembrança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685031"/>
            <a:ext cx="73152" cy="2057400"/>
          </a:xfrm>
          <a:prstGeom prst="rect">
            <a:avLst/>
          </a:prstGeom>
          <a:solidFill>
            <a:srgbClr val="19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53712" y="3886199"/>
            <a:ext cx="438912" cy="438912"/>
          </a:xfrm>
          <a:prstGeom prst="ellipse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685031"/>
            <a:ext cx="3429000" cy="205740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 rIns="219456" tIns="201168" bIns="164592"/>
          <a:lstStyle/>
          <a:p>
            <a:pPr algn="ctr">
              <a:spcAft>
                <a:spcPts val="700"/>
              </a:spcAft>
            </a:pPr>
            <a:r>
              <a:rPr sz="1230" b="1">
                <a:solidFill>
                  <a:srgbClr val="082F59"/>
                </a:solidFill>
                <a:latin typeface="Aptos Display"/>
              </a:rPr>
              <a:t>Quick commerce / D2C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Zé Delivery, iFood e parceiros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Objetivo: conveniência e conversão imediata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685031"/>
            <a:ext cx="73152" cy="2057400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84464" y="3886199"/>
            <a:ext cx="438912" cy="438912"/>
          </a:xfrm>
          <a:prstGeom prst="ellipse">
            <a:avLst/>
          </a:prstGeom>
          <a:solidFill>
            <a:srgbClr val="08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3685031"/>
            <a:ext cx="3429000" cy="205740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0" rIns="219456" tIns="201168" bIns="164592"/>
          <a:lstStyle/>
          <a:p>
            <a:pPr algn="ctr">
              <a:spcAft>
                <a:spcPts val="700"/>
              </a:spcAft>
            </a:pPr>
            <a:r>
              <a:rPr sz="1230" b="1">
                <a:solidFill>
                  <a:srgbClr val="082F59"/>
                </a:solidFill>
                <a:latin typeface="Aptos Display"/>
              </a:rPr>
              <a:t>Canais digitais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Instagram, TikTok, YouTube e creators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969">
                <a:solidFill>
                  <a:srgbClr val="232C34"/>
                </a:solidFill>
                <a:latin typeface="Aptos"/>
              </a:defRPr>
            </a:pPr>
            <a:r>
              <a:t>• Objetivo: awareness, conteúdo e consideração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9872" y="3685031"/>
            <a:ext cx="73152" cy="2057400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82F59"/>
                </a:solidFill>
                <a:latin typeface="Aptos Display"/>
              </a:rPr>
              <a:t>Parceiros-chave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76656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Ecossistema necessário para alcance, relevância e execução.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28600"/>
            <a:ext cx="146304" cy="38404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2468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6D76"/>
                </a:solidFill>
              </a:rPr>
              <a:t>7</a:t>
            </a:r>
          </a:p>
        </p:txBody>
      </p:sp>
      <p:pic>
        <p:nvPicPr>
          <p:cNvPr id="6" name="Picture 5" descr="v04_partners_photo.png"/>
          <p:cNvPicPr>
            <a:picLocks noChangeAspect="1"/>
          </p:cNvPicPr>
          <p:nvPr/>
        </p:nvPicPr>
        <p:blipFill>
          <a:blip r:embed="rId2"/>
          <a:srcRect l="1696" r="1696"/>
          <a:stretch>
            <a:fillRect/>
          </a:stretch>
        </p:blipFill>
        <p:spPr>
          <a:xfrm>
            <a:off x="8732520" y="1143000"/>
            <a:ext cx="2816352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188720"/>
            <a:ext cx="7635240" cy="84124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50" b="1">
                <a:solidFill>
                  <a:srgbClr val="082F59"/>
                </a:solidFill>
                <a:latin typeface="Aptos Display"/>
              </a:rPr>
              <a:t>Trade &amp; varejo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Supermercados, atacarejos, distribuidores e conveniência.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76272"/>
            <a:ext cx="7635240" cy="84124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50" b="1">
                <a:solidFill>
                  <a:srgbClr val="082F59"/>
                </a:solidFill>
                <a:latin typeface="Aptos Display"/>
              </a:rPr>
              <a:t>Food service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Bares, restaurantes e espaços de socialização.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163824"/>
            <a:ext cx="7635240" cy="84124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50" b="1">
                <a:solidFill>
                  <a:srgbClr val="082F59"/>
                </a:solidFill>
                <a:latin typeface="Aptos Display"/>
              </a:rPr>
              <a:t>Ecossistema esportivo &amp; eventos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Corridas, assessorias, clubes e circuitos.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151376"/>
            <a:ext cx="7635240" cy="84124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50" b="1">
                <a:solidFill>
                  <a:srgbClr val="082F59"/>
                </a:solidFill>
                <a:latin typeface="Aptos Display"/>
              </a:rPr>
              <a:t>Plataformas &amp; tecnologia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Apps esportivos e de entrega para ativação e conversão.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138928"/>
            <a:ext cx="7635240" cy="841248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46304"/>
          <a:lstStyle/>
          <a:p>
            <a:pPr algn="ctr"/>
            <a:r>
              <a:rPr sz="1150" b="1">
                <a:solidFill>
                  <a:srgbClr val="082F59"/>
                </a:solidFill>
                <a:latin typeface="Aptos Display"/>
              </a:rPr>
              <a:t>Influenciadores</a:t>
            </a:r>
          </a:p>
          <a:p>
            <a:pPr>
              <a:spcBef>
                <a:spcPts val="700"/>
              </a:spcBef>
              <a:spcAft>
                <a:spcPts val="100"/>
              </a:spcAft>
              <a:defRPr sz="919">
                <a:solidFill>
                  <a:srgbClr val="232C34"/>
                </a:solidFill>
                <a:latin typeface="Aptos"/>
              </a:defRPr>
            </a:pPr>
            <a:r>
              <a:t>Atletas amadores, corredores e creators de lifestyle.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82F59"/>
                </a:solidFill>
                <a:latin typeface="Aptos Display"/>
              </a:rPr>
              <a:t>Atividades e Recursos-chave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76656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O que fazemos e quais ativos sustentam a proposta.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28600"/>
            <a:ext cx="146304" cy="38404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2468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6D76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5321808" cy="4709160"/>
          </a:xfrm>
          <a:prstGeom prst="roundRect">
            <a:avLst/>
          </a:prstGeom>
          <a:solidFill>
            <a:srgbClr val="E8F1F7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19456" tIns="201168" bIns="164592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082F59"/>
                </a:solidFill>
                <a:latin typeface="Aptos Display"/>
              </a:rPr>
              <a:t>Atividades-chave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40">
                <a:solidFill>
                  <a:srgbClr val="232C34"/>
                </a:solidFill>
                <a:latin typeface="Aptos"/>
              </a:defRPr>
            </a:pPr>
            <a:r>
              <a:t>• EXPERIÊNCIA &amp; OCASIÕES — ativações em corridas, arenas e momentos diurnos.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40">
                <a:solidFill>
                  <a:srgbClr val="232C34"/>
                </a:solidFill>
                <a:latin typeface="Aptos"/>
              </a:defRPr>
            </a:pPr>
            <a:r>
              <a:t>• AWARENESS &amp; COMUNIDADES — desafios, squads, creators e conteúdo nativo.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40">
                <a:solidFill>
                  <a:srgbClr val="232C34"/>
                </a:solidFill>
                <a:latin typeface="Aptos"/>
              </a:defRPr>
            </a:pPr>
            <a:r>
              <a:t>• TRADE, TRIAL &amp; CONVERSÃO — sampling, displays, gôndola e packs promocionais.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298448"/>
            <a:ext cx="73152" cy="4709160"/>
          </a:xfrm>
          <a:prstGeom prst="rect">
            <a:avLst/>
          </a:prstGeom>
          <a:solidFill>
            <a:srgbClr val="19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298448"/>
            <a:ext cx="5321808" cy="4709160"/>
          </a:xfrm>
          <a:prstGeom prst="roundRect">
            <a:avLst/>
          </a:prstGeom>
          <a:solidFill>
            <a:srgbClr val="F5F8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19456" tIns="201168" bIns="164592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082F59"/>
                </a:solidFill>
                <a:latin typeface="Aptos Display"/>
              </a:rPr>
              <a:t>Recursos-chave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40">
                <a:solidFill>
                  <a:srgbClr val="232C34"/>
                </a:solidFill>
                <a:latin typeface="Aptos"/>
              </a:defRPr>
            </a:pPr>
            <a:r>
              <a:t>• FÍSICOS &amp; LOGÍSTICOS — produção, refrigeração e materiais de PDV.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40">
                <a:solidFill>
                  <a:srgbClr val="232C34"/>
                </a:solidFill>
                <a:latin typeface="Aptos"/>
              </a:defRPr>
            </a:pPr>
            <a:r>
              <a:t>• MARCA — Michelob Ultra, identidade e posicionamento.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40">
                <a:solidFill>
                  <a:srgbClr val="232C34"/>
                </a:solidFill>
                <a:latin typeface="Aptos"/>
              </a:defRPr>
            </a:pPr>
            <a:r>
              <a:t>• DADOS &amp; TECNOLOGIA — mídia, CRM, delivery e comunidades.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40">
                <a:solidFill>
                  <a:srgbClr val="232C34"/>
                </a:solidFill>
                <a:latin typeface="Aptos"/>
              </a:defRPr>
            </a:pPr>
            <a:r>
              <a:t>• TALENTOS — trade, marketing esportivo/lifestyle e embaixadores.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298448"/>
            <a:ext cx="73152" cy="4709160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28600"/>
            <a:ext cx="102412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82F59"/>
                </a:solidFill>
                <a:latin typeface="Aptos Display"/>
              </a:rPr>
              <a:t>Fontes de Receita e Estrutura de Custo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676656"/>
            <a:ext cx="10149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Uma leitura simples do modelo econômico proposto.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01400" y="228600"/>
            <a:ext cx="146304" cy="38404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03152" y="2468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36D76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10528"/>
            <a:ext cx="11018520" cy="13716"/>
          </a:xfrm>
          <a:prstGeom prst="rect">
            <a:avLst/>
          </a:prstGeom>
          <a:solidFill>
            <a:srgbClr val="DC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6556248"/>
            <a:ext cx="62179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36D76"/>
                </a:solidFill>
                <a:latin typeface="Aptos"/>
              </a:rPr>
              <a:t>MICHELOB ULTRA | PROJETO ACADÊMICO | FIA LABDATA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353312"/>
            <a:ext cx="5285232" cy="4407408"/>
          </a:xfrm>
          <a:prstGeom prst="roundRect">
            <a:avLst/>
          </a:prstGeom>
          <a:solidFill>
            <a:srgbClr val="082F59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19456" tIns="201168" bIns="164592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Fontes de Receita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200">
                <a:solidFill>
                  <a:srgbClr val="232C3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Venda de Michelob Ultra.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200">
                <a:solidFill>
                  <a:srgbClr val="232C3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Aumento da frequência de compra.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200">
                <a:solidFill>
                  <a:srgbClr val="232C3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Aquisição de novos consumidores.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200">
                <a:solidFill>
                  <a:srgbClr val="232C34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• Incremento de vendas em novas ocasiões de consumo.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353312"/>
            <a:ext cx="73152" cy="4407408"/>
          </a:xfrm>
          <a:prstGeom prst="rect">
            <a:avLst/>
          </a:prstGeom>
          <a:solidFill>
            <a:srgbClr val="D5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353312"/>
            <a:ext cx="5285232" cy="4407408"/>
          </a:xfrm>
          <a:prstGeom prst="roundRect">
            <a:avLst/>
          </a:prstGeom>
          <a:solidFill>
            <a:srgbClr val="FAF7F1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19456" tIns="201168" bIns="164592"/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082F59"/>
                </a:solidFill>
                <a:latin typeface="Aptos Display"/>
              </a:rPr>
              <a:t>Estrutura de Custo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50">
                <a:solidFill>
                  <a:srgbClr val="232C34"/>
                </a:solidFill>
                <a:latin typeface="Aptos"/>
              </a:defRPr>
            </a:pPr>
            <a:r>
              <a:t>• Produção e matérias-primas.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50">
                <a:solidFill>
                  <a:srgbClr val="232C34"/>
                </a:solidFill>
                <a:latin typeface="Aptos"/>
              </a:defRPr>
            </a:pPr>
            <a:r>
              <a:t>• Fornecedores e folha de pagamento.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50">
                <a:solidFill>
                  <a:srgbClr val="232C34"/>
                </a:solidFill>
                <a:latin typeface="Aptos"/>
              </a:defRPr>
            </a:pPr>
            <a:r>
              <a:t>• Desenvolvimento e evolução do produto.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50">
                <a:solidFill>
                  <a:srgbClr val="232C34"/>
                </a:solidFill>
                <a:latin typeface="Aptos"/>
              </a:defRPr>
            </a:pPr>
            <a:r>
              <a:t>• Marketing, publicidade e patrocínios.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50">
                <a:solidFill>
                  <a:srgbClr val="232C34"/>
                </a:solidFill>
                <a:latin typeface="Aptos"/>
              </a:defRPr>
            </a:pPr>
            <a:r>
              <a:t>• Logística de distribuição.</a:t>
            </a:r>
          </a:p>
          <a:p>
            <a:pPr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defRPr sz="1150">
                <a:solidFill>
                  <a:srgbClr val="232C34"/>
                </a:solidFill>
                <a:latin typeface="Aptos"/>
              </a:defRPr>
            </a:pPr>
            <a:r>
              <a:t>• Impostos sobre bebidas alcoólicas.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353312"/>
            <a:ext cx="73152" cy="4407408"/>
          </a:xfrm>
          <a:prstGeom prst="rect">
            <a:avLst/>
          </a:prstGeom>
          <a:solidFill>
            <a:srgbClr val="196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5960" y="5925312"/>
            <a:ext cx="8275320" cy="384048"/>
          </a:xfrm>
          <a:prstGeom prst="roundRect">
            <a:avLst/>
          </a:prstGeom>
          <a:solidFill>
            <a:srgbClr val="E8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30">
                <a:solidFill>
                  <a:srgbClr val="082F59"/>
                </a:solidFill>
                <a:latin typeface="Aptos"/>
              </a:rPr>
              <a:t>Frequência, aquisição e novas ocasiões atuam como alavancas para ampliar a receita proveniente da venda do produto.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