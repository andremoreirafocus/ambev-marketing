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1.xml" ContentType="application/vnd.openxmlformats-officedocument.presentationml.tags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8" r:id="rId6"/>
    <p:sldId id="260" r:id="rId7"/>
    <p:sldId id="269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3DE31A-0999-4C2F-B9F9-59DDD7E6A874}" v="1" dt="2026-09-22T02:36:13.3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9839" autoAdjust="0"/>
    <p:restoredTop sz="96247" autoAdjust="0"/>
  </p:normalViewPr>
  <p:slideViewPr>
    <p:cSldViewPr snapToGrid="0" snapToObjects="1" showGuides="1">
      <p:cViewPr varScale="1">
        <p:scale>
          <a:sx n="103" d="100"/>
          <a:sy n="103" d="100"/>
        </p:scale>
        <p:origin x="114" y="276"/>
      </p:cViewPr>
      <p:guideLst>
        <p:guide orient="horz" pos="2145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7FCD5F-022D-4992-89DF-5D29DCC293BC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8936FB-1BDE-4FB2-B255-FD9883BE121A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planejado: 0min30s.</a:t>
            </a:r>
          </a:p>
          <a:p>
            <a:endParaRPr/>
          </a:p>
          <a:p>
            <a:r>
              <a:t>Boa noite. Nosso case trata da ampliação da base de consumidores da Michelob Ultra no Brasil.</a:t>
            </a:r>
          </a:p>
          <a:p>
            <a:endParaRPr/>
          </a:p>
          <a:p>
            <a:r>
              <a:t>Não propomos mudar o produto. Propomos um piloto de marketing digital para transformar atributos já existentes — leveza, baixo teor de carboidratos e sabor — em motivos de escolha para mais adultos e mais situações de socialização.</a:t>
            </a:r>
          </a:p>
          <a:p>
            <a:endParaRPr/>
          </a:p>
          <a:p>
            <a:r>
              <a:t>A pergunta que orienta a apresentação é: como ampliar a base sem perder a identidade que a marca já construiu?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planejado: 1min45s.</a:t>
            </a:r>
          </a:p>
          <a:p>
            <a:endParaRPr/>
          </a:p>
          <a:p>
            <a:r>
              <a:t>A Michelob Ultra pertence ao portfólio global da AB InBev e já possui uma proposta premium associada à leveza. Sua identidade foi construída em torno de esporte, bem-estar e vida ativa.</a:t>
            </a:r>
          </a:p>
          <a:p>
            <a:endParaRPr/>
          </a:p>
          <a:p>
            <a:r>
              <a:t>Essa credencial é um ativo, mas pode limitar a identificação de adultos que não se definem pelo desempenho físico. Eles também valorizam escolhas mais leves, mas querem encontrá-las em almoços, happy hours, churrascos, festivais e outros momentos sociais.</a:t>
            </a:r>
          </a:p>
          <a:p>
            <a:endParaRPr/>
          </a:p>
          <a:p>
            <a:r>
              <a:t>Por isso, o desafio não é abandonar o esporte nem reposicionar a marca como outra coisa. É usar o esporte como credencial complementar e ampliar a relevância da Michelob Ultra em contextos cotidianos de convivência.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planejado: 1min45s.</a:t>
            </a:r>
          </a:p>
          <a:p>
            <a:endParaRPr/>
          </a:p>
          <a:p>
            <a:r>
              <a:t>O contexto de mercado mostra uma mudança mais ampla do que o nicho esportivo. A NielsenIQ aponta que 86% dos consumidores brasileiros já incorporaram algum hábito mais saudável à rotina. Ao mesmo tempo, cervejas de baixa caloria cresceram em volume e as ocasiões fora de casa aumentaram.</a:t>
            </a:r>
          </a:p>
          <a:p>
            <a:endParaRPr/>
          </a:p>
          <a:p>
            <a:r>
              <a:t>Esses dados não autorizam tratar bebida alcoólica como saudável. Eles indicam que equilíbrio, controle calórico e socialização passaram a coexistir na decisão de consumo.</a:t>
            </a:r>
          </a:p>
          <a:p>
            <a:endParaRPr/>
          </a:p>
          <a:p>
            <a:r>
              <a:t>A oportunidade para a Michelob Ultra é levar uma credencial que ela já possui a um público maior, em situações nas quais a pessoa quer socializar sem se sentir pesada ou afastada de sua rotina.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planejado: 2min00s.</a:t>
            </a:r>
          </a:p>
          <a:p>
            <a:endParaRPr/>
          </a:p>
          <a:p>
            <a:r>
              <a:t>O problema de negócio nasce dessa mudança comportamental. Parte dos consumidores pode perceber cervejas tradicionais como mais pesadas para a rotina, enquanto opções sem álcool ainda enfrentam barreiras de sabor e de ocasião social.</a:t>
            </a:r>
          </a:p>
          <a:p>
            <a:endParaRPr/>
          </a:p>
          <a:p>
            <a:r>
              <a:t>Para a Michelob Ultra, o ponto central é que a associação predominante ao esporte pode reduzir a identificação de adultos que buscam leveza, mas não se reconhecem em corrida, pós-treino ou metas físicas.</a:t>
            </a:r>
          </a:p>
          <a:p>
            <a:endParaRPr/>
          </a:p>
          <a:p>
            <a:r>
              <a:t>Os limitadores que tratamos como hipóteses do case são: conhecimento limitado do posicionamento Ultra Light Premium, estigma de que cerveja leve é aguada e resistência de bares e cardápios a abrir espaço para a marca.</a:t>
            </a:r>
          </a:p>
          <a:p>
            <a:endParaRPr/>
          </a:p>
          <a:p>
            <a:r>
              <a:t>A tese é ampliar a base e as ocasiões sem descaracterizar a Michelob Ultra. Almoços, happy hours, churrascos, festivais e futebol são pontos de contato adicionais; não substituem as situações em que a marca já é relevante.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planejado: 2min00s.</a:t>
            </a:r>
          </a:p>
          <a:p>
            <a:endParaRPr/>
          </a:p>
          <a:p>
            <a:r>
              <a:t>O problema de negócio nasce dessa mudança comportamental. Parte dos consumidores pode perceber cervejas tradicionais como mais pesadas para a rotina, enquanto opções sem álcool ainda enfrentam barreiras de sabor e de ocasião social.</a:t>
            </a:r>
          </a:p>
          <a:p>
            <a:endParaRPr/>
          </a:p>
          <a:p>
            <a:r>
              <a:t>Para a Michelob Ultra, o ponto central é que a associação predominante ao esporte pode reduzir a identificação de adultos que buscam leveza, mas não se reconhecem em corrida, pós-treino ou metas físicas.</a:t>
            </a:r>
          </a:p>
          <a:p>
            <a:endParaRPr/>
          </a:p>
          <a:p>
            <a:r>
              <a:t>Os limitadores que tratamos como hipóteses do case são: conhecimento limitado do posicionamento Ultra Light Premium, estigma de que cerveja leve é aguada e resistência de bares e cardápios a abrir espaço para a marca.</a:t>
            </a:r>
          </a:p>
          <a:p>
            <a:endParaRPr/>
          </a:p>
          <a:p>
            <a:r>
              <a:t>A tese é ampliar a base e as ocasiões sem descaracterizar a Michelob Ultra. Almoços, happy hours, churrascos, festivais e futebol são pontos de contato adicionais; não substituem as situações em que a marca já é relevante.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planejado: 2min30s.</a:t>
            </a:r>
          </a:p>
          <a:p>
            <a:endParaRPr/>
          </a:p>
          <a:p>
            <a:r>
              <a:t>A estratégia tem duas frentes. A primeira é provar sabor e leveza: a degustação guiada responde diretamente ao estigma de cerveja aguada. A segunda é ampliar identificação: o esporte continua como credencial, mas deixa de ser requisito para que alguém se veja na marca.</a:t>
            </a:r>
          </a:p>
          <a:p>
            <a:endParaRPr/>
          </a:p>
          <a:p>
            <a:r>
              <a:t>O plano tático segue quatro ondas. Primeiro, degustação. Segundo, disponibilidade e visibilidade nos canais de venda. Terceiro, comunicação por ocasiões sociais. Quarto, relacionamento: conteúdo digital, QR code, cupom rastreável e CRM no Zé Delivery formam o piloto de aquisição e recompra.</a:t>
            </a:r>
          </a:p>
          <a:p>
            <a:endParaRPr/>
          </a:p>
          <a:p>
            <a:r>
              <a:t>A pesquisa da FGV orienta essa escolha. Ela mostra a relevância do baixo teor de carboidratos para a percepção de saudabilidade e indica que esporte não deve ser o argumento central de aquisição. A degustação é necessária para responder à barreira de sabor.</a:t>
            </a:r>
          </a:p>
          <a:p>
            <a:endParaRPr/>
          </a:p>
          <a:p>
            <a:r>
              <a:t>A matriz de 60%, 20% e 20% é uma hipótese inicial de investimento, não uma fotografia do mercado brasileiro. Os títulos clicáveis no slide levam às fontes que sustentam essa priorização.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8936FB-1BDE-4FB2-B255-FD9883BE121A}" type="slidenum">
              <a:rPr lang="pt-BR" smtClean="0"/>
              <a:t>6</a:t>
            </a:fld>
            <a:endParaRPr lang="pt-B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planejado: 2min30s.</a:t>
            </a:r>
          </a:p>
          <a:p>
            <a:endParaRPr/>
          </a:p>
          <a:p>
            <a:r>
              <a:t>A estratégia tem duas frentes. A primeira é provar sabor e leveza: a degustação guiada responde diretamente ao estigma de cerveja aguada. A segunda é ampliar identificação: o esporte continua como credencial, mas deixa de ser requisito para que alguém se veja na marca.</a:t>
            </a:r>
          </a:p>
          <a:p>
            <a:endParaRPr/>
          </a:p>
          <a:p>
            <a:r>
              <a:t>O plano tático segue quatro ondas. Primeiro, degustação. Segundo, disponibilidade e visibilidade nos canais de venda. Terceiro, comunicação por ocasiões sociais. Quarto, relacionamento: conteúdo digital, QR code, cupom rastreável e CRM no Zé Delivery formam o piloto de aquisição e recompra.</a:t>
            </a:r>
          </a:p>
          <a:p>
            <a:endParaRPr/>
          </a:p>
          <a:p>
            <a:r>
              <a:t>A pesquisa da FGV orienta essa escolha. Ela mostra a relevância do baixo teor de carboidratos para a percepção de saudabilidade e indica que esporte não deve ser o argumento central de aquisição. A degustação é necessária para responder à barreira de sabor.</a:t>
            </a:r>
          </a:p>
          <a:p>
            <a:endParaRPr/>
          </a:p>
          <a:p>
            <a:r>
              <a:t>A matriz de 60%, 20% e 20% é uma hipótese inicial de investimento, não uma fotografia do mercado brasileiro. Os títulos clicáveis no slide levam às fontes que sustentam essa priorização.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8936FB-1BDE-4FB2-B255-FD9883BE121A}" type="slidenum">
              <a:rPr lang="pt-BR" smtClean="0"/>
              <a:t>7</a:t>
            </a:fld>
            <a:endParaRPr lang="pt-B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Tempo </a:t>
            </a:r>
            <a:r>
              <a:rPr dirty="0" err="1"/>
              <a:t>planejado</a:t>
            </a:r>
            <a:r>
              <a:rPr dirty="0"/>
              <a:t>: 2min15s.</a:t>
            </a:r>
          </a:p>
          <a:p>
            <a:endParaRPr dirty="0"/>
          </a:p>
          <a:p>
            <a:r>
              <a:rPr dirty="0"/>
              <a:t>Este slide define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saberemos</a:t>
            </a:r>
            <a:r>
              <a:rPr dirty="0"/>
              <a:t> se o plano </a:t>
            </a:r>
            <a:r>
              <a:rPr dirty="0" err="1"/>
              <a:t>funciona</a:t>
            </a:r>
            <a:r>
              <a:rPr dirty="0"/>
              <a:t>.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estamos</a:t>
            </a:r>
            <a:r>
              <a:rPr dirty="0"/>
              <a:t> </a:t>
            </a:r>
            <a:r>
              <a:rPr dirty="0" err="1"/>
              <a:t>prometendo</a:t>
            </a:r>
            <a:r>
              <a:rPr dirty="0"/>
              <a:t> </a:t>
            </a:r>
            <a:r>
              <a:rPr dirty="0" err="1"/>
              <a:t>resultados</a:t>
            </a:r>
            <a:r>
              <a:rPr dirty="0"/>
              <a:t> </a:t>
            </a:r>
            <a:r>
              <a:rPr dirty="0" err="1"/>
              <a:t>realizados</a:t>
            </a:r>
            <a:r>
              <a:rPr dirty="0"/>
              <a:t>; </a:t>
            </a:r>
            <a:r>
              <a:rPr dirty="0" err="1"/>
              <a:t>estamos</a:t>
            </a:r>
            <a:r>
              <a:rPr dirty="0"/>
              <a:t> </a:t>
            </a:r>
            <a:r>
              <a:rPr dirty="0" err="1"/>
              <a:t>definindo</a:t>
            </a:r>
            <a:r>
              <a:rPr dirty="0"/>
              <a:t> </a:t>
            </a:r>
            <a:r>
              <a:rPr dirty="0" err="1"/>
              <a:t>resultados</a:t>
            </a:r>
            <a:r>
              <a:rPr dirty="0"/>
              <a:t> </a:t>
            </a:r>
            <a:r>
              <a:rPr dirty="0" err="1"/>
              <a:t>pretendidos</a:t>
            </a:r>
            <a:r>
              <a:rPr dirty="0"/>
              <a:t>, </a:t>
            </a:r>
            <a:r>
              <a:rPr dirty="0" err="1"/>
              <a:t>indicadores</a:t>
            </a:r>
            <a:r>
              <a:rPr dirty="0"/>
              <a:t> e </a:t>
            </a:r>
            <a:r>
              <a:rPr dirty="0" err="1"/>
              <a:t>instrumentos</a:t>
            </a:r>
            <a:r>
              <a:rPr dirty="0"/>
              <a:t> para </a:t>
            </a:r>
            <a:r>
              <a:rPr dirty="0" err="1"/>
              <a:t>acompanhá-los</a:t>
            </a:r>
            <a:r>
              <a:rPr dirty="0"/>
              <a:t>. Cada </a:t>
            </a:r>
            <a:r>
              <a:rPr dirty="0" err="1"/>
              <a:t>indicador</a:t>
            </a:r>
            <a:r>
              <a:rPr dirty="0"/>
              <a:t> </a:t>
            </a:r>
            <a:r>
              <a:rPr dirty="0" err="1"/>
              <a:t>precisa</a:t>
            </a:r>
            <a:r>
              <a:rPr dirty="0"/>
              <a:t> </a:t>
            </a:r>
            <a:r>
              <a:rPr dirty="0" err="1"/>
              <a:t>orientar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decisão</a:t>
            </a:r>
            <a:r>
              <a:rPr dirty="0"/>
              <a:t> de </a:t>
            </a:r>
            <a:r>
              <a:rPr dirty="0" err="1"/>
              <a:t>continuidade</a:t>
            </a:r>
            <a:r>
              <a:rPr dirty="0"/>
              <a:t>, </a:t>
            </a:r>
            <a:r>
              <a:rPr dirty="0" err="1"/>
              <a:t>ajuste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escala</a:t>
            </a:r>
            <a:r>
              <a:rPr dirty="0"/>
              <a:t> do </a:t>
            </a:r>
            <a:r>
              <a:rPr dirty="0" err="1"/>
              <a:t>piloto</a:t>
            </a:r>
            <a:r>
              <a:rPr dirty="0"/>
              <a:t>. O </a:t>
            </a:r>
            <a:r>
              <a:rPr dirty="0" err="1"/>
              <a:t>propósito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é </a:t>
            </a:r>
            <a:r>
              <a:rPr dirty="0" err="1"/>
              <a:t>perseguir</a:t>
            </a:r>
            <a:r>
              <a:rPr dirty="0"/>
              <a:t> </a:t>
            </a:r>
            <a:r>
              <a:rPr dirty="0" err="1"/>
              <a:t>números</a:t>
            </a:r>
            <a:r>
              <a:rPr dirty="0"/>
              <a:t> </a:t>
            </a:r>
            <a:r>
              <a:rPr dirty="0" err="1"/>
              <a:t>artificiais</a:t>
            </a:r>
            <a:r>
              <a:rPr dirty="0"/>
              <a:t>, mas </a:t>
            </a:r>
            <a:r>
              <a:rPr dirty="0" err="1"/>
              <a:t>reunir</a:t>
            </a:r>
            <a:r>
              <a:rPr dirty="0"/>
              <a:t> </a:t>
            </a:r>
            <a:r>
              <a:rPr dirty="0" err="1"/>
              <a:t>evidência</a:t>
            </a:r>
            <a:r>
              <a:rPr dirty="0"/>
              <a:t> </a:t>
            </a:r>
            <a:r>
              <a:rPr dirty="0" err="1"/>
              <a:t>suficiente</a:t>
            </a:r>
            <a:r>
              <a:rPr dirty="0"/>
              <a:t> para </a:t>
            </a:r>
            <a:r>
              <a:rPr dirty="0" err="1"/>
              <a:t>decidir</a:t>
            </a:r>
            <a:r>
              <a:rPr dirty="0"/>
              <a:t> </a:t>
            </a:r>
            <a:r>
              <a:rPr dirty="0" err="1"/>
              <a:t>onde</a:t>
            </a:r>
            <a:r>
              <a:rPr dirty="0"/>
              <a:t> </a:t>
            </a:r>
            <a:r>
              <a:rPr dirty="0" err="1"/>
              <a:t>investir</a:t>
            </a:r>
            <a:r>
              <a:rPr dirty="0"/>
              <a:t> em </a:t>
            </a:r>
            <a:r>
              <a:rPr dirty="0" err="1"/>
              <a:t>seguida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O </a:t>
            </a:r>
            <a:r>
              <a:rPr dirty="0" err="1"/>
              <a:t>primeiro</a:t>
            </a:r>
            <a:r>
              <a:rPr dirty="0"/>
              <a:t> </a:t>
            </a:r>
            <a:r>
              <a:rPr dirty="0" err="1"/>
              <a:t>resultado</a:t>
            </a:r>
            <a:r>
              <a:rPr dirty="0"/>
              <a:t> é </a:t>
            </a:r>
            <a:r>
              <a:rPr dirty="0" err="1"/>
              <a:t>ampliar</a:t>
            </a:r>
            <a:r>
              <a:rPr dirty="0"/>
              <a:t> o </a:t>
            </a:r>
            <a:r>
              <a:rPr dirty="0" err="1"/>
              <a:t>conhecimento</a:t>
            </a:r>
            <a:r>
              <a:rPr dirty="0"/>
              <a:t> da </a:t>
            </a:r>
            <a:r>
              <a:rPr dirty="0" err="1"/>
              <a:t>marca</a:t>
            </a:r>
            <a:r>
              <a:rPr dirty="0"/>
              <a:t> entre </a:t>
            </a:r>
            <a:r>
              <a:rPr dirty="0" err="1"/>
              <a:t>adultos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valorizam</a:t>
            </a:r>
            <a:r>
              <a:rPr dirty="0"/>
              <a:t> </a:t>
            </a:r>
            <a:r>
              <a:rPr dirty="0" err="1"/>
              <a:t>leveza</a:t>
            </a:r>
            <a:r>
              <a:rPr dirty="0"/>
              <a:t> e </a:t>
            </a:r>
            <a:r>
              <a:rPr dirty="0" err="1"/>
              <a:t>socialização</a:t>
            </a:r>
            <a:r>
              <a:rPr dirty="0"/>
              <a:t>. Por </a:t>
            </a:r>
            <a:r>
              <a:rPr dirty="0" err="1"/>
              <a:t>isso</a:t>
            </a:r>
            <a:r>
              <a:rPr dirty="0"/>
              <a:t>, </a:t>
            </a:r>
            <a:r>
              <a:rPr dirty="0" err="1"/>
              <a:t>acompanharemos</a:t>
            </a:r>
            <a:r>
              <a:rPr dirty="0"/>
              <a:t> </a:t>
            </a:r>
            <a:r>
              <a:rPr dirty="0" err="1"/>
              <a:t>alcance</a:t>
            </a:r>
            <a:r>
              <a:rPr dirty="0"/>
              <a:t>, </a:t>
            </a:r>
            <a:r>
              <a:rPr dirty="0" err="1"/>
              <a:t>frequência</a:t>
            </a:r>
            <a:r>
              <a:rPr dirty="0"/>
              <a:t>, </a:t>
            </a:r>
            <a:r>
              <a:rPr dirty="0" err="1"/>
              <a:t>engajamento</a:t>
            </a:r>
            <a:r>
              <a:rPr dirty="0"/>
              <a:t> e, </a:t>
            </a:r>
            <a:r>
              <a:rPr dirty="0" err="1"/>
              <a:t>principalmente</a:t>
            </a:r>
            <a:r>
              <a:rPr dirty="0"/>
              <a:t>, a </a:t>
            </a:r>
            <a:r>
              <a:rPr dirty="0" err="1"/>
              <a:t>mudança</a:t>
            </a:r>
            <a:r>
              <a:rPr dirty="0"/>
              <a:t> de </a:t>
            </a:r>
            <a:r>
              <a:rPr dirty="0" err="1"/>
              <a:t>associação</a:t>
            </a:r>
            <a:r>
              <a:rPr dirty="0"/>
              <a:t> da Michelob Ultra com </a:t>
            </a:r>
            <a:r>
              <a:rPr dirty="0" err="1"/>
              <a:t>sabor</a:t>
            </a:r>
            <a:r>
              <a:rPr dirty="0"/>
              <a:t> e </a:t>
            </a:r>
            <a:r>
              <a:rPr dirty="0" err="1"/>
              <a:t>ocasiões</a:t>
            </a:r>
            <a:r>
              <a:rPr dirty="0"/>
              <a:t> </a:t>
            </a:r>
            <a:r>
              <a:rPr dirty="0" err="1"/>
              <a:t>além</a:t>
            </a:r>
            <a:r>
              <a:rPr dirty="0"/>
              <a:t> do </a:t>
            </a:r>
            <a:r>
              <a:rPr dirty="0" err="1"/>
              <a:t>esporte</a:t>
            </a:r>
            <a:r>
              <a:rPr dirty="0"/>
              <a:t>. A </a:t>
            </a:r>
            <a:r>
              <a:rPr dirty="0" err="1"/>
              <a:t>pesquisa</a:t>
            </a:r>
            <a:r>
              <a:rPr dirty="0"/>
              <a:t> breve antes e </a:t>
            </a:r>
            <a:r>
              <a:rPr dirty="0" err="1"/>
              <a:t>depois</a:t>
            </a:r>
            <a:r>
              <a:rPr dirty="0"/>
              <a:t> da </a:t>
            </a:r>
            <a:r>
              <a:rPr dirty="0" err="1"/>
              <a:t>campanha</a:t>
            </a:r>
            <a:r>
              <a:rPr dirty="0"/>
              <a:t> </a:t>
            </a:r>
            <a:r>
              <a:rPr dirty="0" err="1"/>
              <a:t>verifica</a:t>
            </a:r>
            <a:r>
              <a:rPr dirty="0"/>
              <a:t> se a </a:t>
            </a:r>
            <a:r>
              <a:rPr dirty="0" err="1"/>
              <a:t>comunicação</a:t>
            </a:r>
            <a:r>
              <a:rPr dirty="0"/>
              <a:t> </a:t>
            </a: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alcançando</a:t>
            </a:r>
            <a:r>
              <a:rPr dirty="0"/>
              <a:t> o novo </a:t>
            </a:r>
            <a:r>
              <a:rPr dirty="0" err="1"/>
              <a:t>público</a:t>
            </a:r>
            <a:r>
              <a:rPr dirty="0"/>
              <a:t> e </a:t>
            </a:r>
            <a:r>
              <a:rPr dirty="0" err="1"/>
              <a:t>mudando</a:t>
            </a:r>
            <a:r>
              <a:rPr dirty="0"/>
              <a:t> </a:t>
            </a:r>
            <a:r>
              <a:rPr dirty="0" err="1"/>
              <a:t>essa</a:t>
            </a:r>
            <a:r>
              <a:rPr dirty="0"/>
              <a:t> </a:t>
            </a:r>
            <a:r>
              <a:rPr dirty="0" err="1"/>
              <a:t>percepção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O </a:t>
            </a:r>
            <a:r>
              <a:rPr dirty="0" err="1"/>
              <a:t>segundo</a:t>
            </a:r>
            <a:r>
              <a:rPr dirty="0"/>
              <a:t> </a:t>
            </a:r>
            <a:r>
              <a:rPr dirty="0" err="1"/>
              <a:t>resultado</a:t>
            </a:r>
            <a:r>
              <a:rPr dirty="0"/>
              <a:t> é </a:t>
            </a:r>
            <a:r>
              <a:rPr dirty="0" err="1"/>
              <a:t>conquistar</a:t>
            </a:r>
            <a:r>
              <a:rPr dirty="0"/>
              <a:t> </a:t>
            </a:r>
            <a:r>
              <a:rPr dirty="0" err="1"/>
              <a:t>novos</a:t>
            </a:r>
            <a:r>
              <a:rPr dirty="0"/>
              <a:t> </a:t>
            </a:r>
            <a:r>
              <a:rPr dirty="0" err="1"/>
              <a:t>consumidores</a:t>
            </a:r>
            <a:r>
              <a:rPr dirty="0"/>
              <a:t> e </a:t>
            </a:r>
            <a:r>
              <a:rPr dirty="0" err="1"/>
              <a:t>novas</a:t>
            </a:r>
            <a:r>
              <a:rPr dirty="0"/>
              <a:t> </a:t>
            </a:r>
            <a:r>
              <a:rPr dirty="0" err="1"/>
              <a:t>ocasiões</a:t>
            </a:r>
            <a:r>
              <a:rPr dirty="0"/>
              <a:t>. Aqui, QR codes, </a:t>
            </a:r>
            <a:r>
              <a:rPr dirty="0" err="1"/>
              <a:t>cupons</a:t>
            </a:r>
            <a:r>
              <a:rPr dirty="0"/>
              <a:t> e dados das </a:t>
            </a:r>
            <a:r>
              <a:rPr dirty="0" err="1"/>
              <a:t>plataformas</a:t>
            </a:r>
            <a:r>
              <a:rPr dirty="0"/>
              <a:t> </a:t>
            </a:r>
            <a:r>
              <a:rPr dirty="0" err="1"/>
              <a:t>permitem</a:t>
            </a:r>
            <a:r>
              <a:rPr dirty="0"/>
              <a:t> </a:t>
            </a:r>
            <a:r>
              <a:rPr dirty="0" err="1"/>
              <a:t>ligar</a:t>
            </a:r>
            <a:r>
              <a:rPr dirty="0"/>
              <a:t> a </a:t>
            </a:r>
            <a:r>
              <a:rPr dirty="0" err="1"/>
              <a:t>degustação</a:t>
            </a:r>
            <a:r>
              <a:rPr dirty="0"/>
              <a:t> à </a:t>
            </a:r>
            <a:r>
              <a:rPr dirty="0" err="1"/>
              <a:t>primeira</a:t>
            </a:r>
            <a:r>
              <a:rPr dirty="0"/>
              <a:t> </a:t>
            </a:r>
            <a:r>
              <a:rPr dirty="0" err="1"/>
              <a:t>compra</a:t>
            </a:r>
            <a:r>
              <a:rPr dirty="0"/>
              <a:t>, </a:t>
            </a:r>
            <a:r>
              <a:rPr dirty="0" err="1"/>
              <a:t>identificar</a:t>
            </a:r>
            <a:r>
              <a:rPr dirty="0"/>
              <a:t> </a:t>
            </a:r>
            <a:r>
              <a:rPr dirty="0" err="1"/>
              <a:t>novos</a:t>
            </a:r>
            <a:r>
              <a:rPr dirty="0"/>
              <a:t> </a:t>
            </a:r>
            <a:r>
              <a:rPr dirty="0" err="1"/>
              <a:t>compradores</a:t>
            </a:r>
            <a:r>
              <a:rPr dirty="0"/>
              <a:t> e </a:t>
            </a:r>
            <a:r>
              <a:rPr dirty="0" err="1"/>
              <a:t>observar</a:t>
            </a:r>
            <a:r>
              <a:rPr dirty="0"/>
              <a:t> a </a:t>
            </a:r>
            <a:r>
              <a:rPr dirty="0" err="1"/>
              <a:t>frequência</a:t>
            </a:r>
            <a:r>
              <a:rPr dirty="0"/>
              <a:t> de </a:t>
            </a:r>
            <a:r>
              <a:rPr dirty="0" err="1"/>
              <a:t>compra</a:t>
            </a:r>
            <a:r>
              <a:rPr dirty="0"/>
              <a:t> </a:t>
            </a:r>
            <a:r>
              <a:rPr dirty="0" err="1"/>
              <a:t>nas</a:t>
            </a:r>
            <a:r>
              <a:rPr dirty="0"/>
              <a:t> </a:t>
            </a:r>
            <a:r>
              <a:rPr dirty="0" err="1"/>
              <a:t>ocasiões</a:t>
            </a:r>
            <a:r>
              <a:rPr dirty="0"/>
              <a:t> </a:t>
            </a:r>
            <a:r>
              <a:rPr dirty="0" err="1"/>
              <a:t>priorizadas</a:t>
            </a:r>
            <a:r>
              <a:rPr dirty="0"/>
              <a:t>. Assim, a </a:t>
            </a:r>
            <a:r>
              <a:rPr dirty="0" err="1"/>
              <a:t>experimentação</a:t>
            </a:r>
            <a:r>
              <a:rPr dirty="0"/>
              <a:t> </a:t>
            </a:r>
            <a:r>
              <a:rPr dirty="0" err="1"/>
              <a:t>deixa</a:t>
            </a:r>
            <a:r>
              <a:rPr dirty="0"/>
              <a:t> de ser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métrica</a:t>
            </a:r>
            <a:r>
              <a:rPr dirty="0"/>
              <a:t> </a:t>
            </a:r>
            <a:r>
              <a:rPr dirty="0" err="1"/>
              <a:t>isolada</a:t>
            </a:r>
            <a:r>
              <a:rPr dirty="0"/>
              <a:t> e </a:t>
            </a:r>
            <a:r>
              <a:rPr dirty="0" err="1"/>
              <a:t>passa</a:t>
            </a:r>
            <a:r>
              <a:rPr dirty="0"/>
              <a:t> a ser o </a:t>
            </a:r>
            <a:r>
              <a:rPr dirty="0" err="1"/>
              <a:t>início</a:t>
            </a:r>
            <a:r>
              <a:rPr dirty="0"/>
              <a:t> de </a:t>
            </a:r>
            <a:r>
              <a:rPr dirty="0" err="1"/>
              <a:t>uma</a:t>
            </a:r>
            <a:r>
              <a:rPr dirty="0"/>
              <a:t> jornada </a:t>
            </a:r>
            <a:r>
              <a:rPr dirty="0" err="1"/>
              <a:t>mensurável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O </a:t>
            </a:r>
            <a:r>
              <a:rPr dirty="0" err="1"/>
              <a:t>terceiro</a:t>
            </a:r>
            <a:r>
              <a:rPr dirty="0"/>
              <a:t> </a:t>
            </a:r>
            <a:r>
              <a:rPr dirty="0" err="1"/>
              <a:t>resultado</a:t>
            </a:r>
            <a:r>
              <a:rPr dirty="0"/>
              <a:t> é </a:t>
            </a:r>
            <a:r>
              <a:rPr dirty="0" err="1"/>
              <a:t>disponibilidade</a:t>
            </a:r>
            <a:r>
              <a:rPr dirty="0"/>
              <a:t>. </a:t>
            </a:r>
            <a:r>
              <a:rPr dirty="0" err="1"/>
              <a:t>Não</a:t>
            </a:r>
            <a:r>
              <a:rPr dirty="0"/>
              <a:t> basta </a:t>
            </a:r>
            <a:r>
              <a:rPr dirty="0" err="1"/>
              <a:t>gerar</a:t>
            </a:r>
            <a:r>
              <a:rPr dirty="0"/>
              <a:t> </a:t>
            </a:r>
            <a:r>
              <a:rPr dirty="0" err="1"/>
              <a:t>intenção</a:t>
            </a:r>
            <a:r>
              <a:rPr dirty="0"/>
              <a:t> se o </a:t>
            </a:r>
            <a:r>
              <a:rPr dirty="0" err="1"/>
              <a:t>produto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estiver</a:t>
            </a:r>
            <a:r>
              <a:rPr dirty="0"/>
              <a:t> </a:t>
            </a:r>
            <a:r>
              <a:rPr dirty="0" err="1"/>
              <a:t>visível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geladeira</a:t>
            </a:r>
            <a:r>
              <a:rPr dirty="0"/>
              <a:t>,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gôndola</a:t>
            </a:r>
            <a:r>
              <a:rPr dirty="0"/>
              <a:t>, no </a:t>
            </a:r>
            <a:r>
              <a:rPr dirty="0" err="1"/>
              <a:t>cardápio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entrega</a:t>
            </a:r>
            <a:r>
              <a:rPr dirty="0"/>
              <a:t>. </a:t>
            </a:r>
            <a:r>
              <a:rPr dirty="0" err="1"/>
              <a:t>Mediremos</a:t>
            </a:r>
            <a:r>
              <a:rPr dirty="0"/>
              <a:t> </a:t>
            </a:r>
            <a:r>
              <a:rPr dirty="0" err="1"/>
              <a:t>cobertura</a:t>
            </a:r>
            <a:r>
              <a:rPr dirty="0"/>
              <a:t>, </a:t>
            </a:r>
            <a:r>
              <a:rPr dirty="0" err="1"/>
              <a:t>presença</a:t>
            </a:r>
            <a:r>
              <a:rPr dirty="0"/>
              <a:t> e </a:t>
            </a:r>
            <a:r>
              <a:rPr dirty="0" err="1"/>
              <a:t>visibilidade</a:t>
            </a:r>
            <a:r>
              <a:rPr dirty="0"/>
              <a:t> </a:t>
            </a:r>
            <a:r>
              <a:rPr dirty="0" err="1"/>
              <a:t>nos</a:t>
            </a:r>
            <a:r>
              <a:rPr dirty="0"/>
              <a:t> </a:t>
            </a:r>
            <a:r>
              <a:rPr dirty="0" err="1"/>
              <a:t>canais</a:t>
            </a:r>
            <a:r>
              <a:rPr dirty="0"/>
              <a:t> </a:t>
            </a:r>
            <a:r>
              <a:rPr dirty="0" err="1"/>
              <a:t>priorizados</a:t>
            </a:r>
            <a:r>
              <a:rPr dirty="0"/>
              <a:t> para </a:t>
            </a:r>
            <a:r>
              <a:rPr dirty="0" err="1"/>
              <a:t>separar</a:t>
            </a:r>
            <a:r>
              <a:rPr dirty="0"/>
              <a:t> um </a:t>
            </a:r>
            <a:r>
              <a:rPr dirty="0" err="1"/>
              <a:t>problema</a:t>
            </a:r>
            <a:r>
              <a:rPr dirty="0"/>
              <a:t> de </a:t>
            </a:r>
            <a:r>
              <a:rPr dirty="0" err="1"/>
              <a:t>comunicação</a:t>
            </a:r>
            <a:r>
              <a:rPr dirty="0"/>
              <a:t> de um </a:t>
            </a:r>
            <a:r>
              <a:rPr dirty="0" err="1"/>
              <a:t>problema</a:t>
            </a:r>
            <a:r>
              <a:rPr dirty="0"/>
              <a:t> de </a:t>
            </a:r>
            <a:r>
              <a:rPr dirty="0" err="1"/>
              <a:t>acesso</a:t>
            </a:r>
            <a:r>
              <a:rPr dirty="0"/>
              <a:t> à </a:t>
            </a:r>
            <a:r>
              <a:rPr dirty="0" err="1"/>
              <a:t>compra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Por </a:t>
            </a:r>
            <a:r>
              <a:rPr dirty="0" err="1"/>
              <a:t>fim</a:t>
            </a:r>
            <a:r>
              <a:rPr dirty="0"/>
              <a:t>, </a:t>
            </a:r>
            <a:r>
              <a:rPr dirty="0" err="1"/>
              <a:t>crescimento</a:t>
            </a:r>
            <a:r>
              <a:rPr dirty="0"/>
              <a:t> </a:t>
            </a:r>
            <a:r>
              <a:rPr dirty="0" err="1"/>
              <a:t>sustentável</a:t>
            </a:r>
            <a:r>
              <a:rPr dirty="0"/>
              <a:t> </a:t>
            </a:r>
            <a:r>
              <a:rPr dirty="0" err="1"/>
              <a:t>significa</a:t>
            </a:r>
            <a:r>
              <a:rPr dirty="0"/>
              <a:t> </a:t>
            </a:r>
            <a:r>
              <a:rPr dirty="0" err="1"/>
              <a:t>transformar</a:t>
            </a:r>
            <a:r>
              <a:rPr dirty="0"/>
              <a:t> </a:t>
            </a:r>
            <a:r>
              <a:rPr dirty="0" err="1"/>
              <a:t>experimentação</a:t>
            </a:r>
            <a:r>
              <a:rPr dirty="0"/>
              <a:t> em </a:t>
            </a:r>
            <a:r>
              <a:rPr dirty="0" err="1"/>
              <a:t>recompra</a:t>
            </a:r>
            <a:r>
              <a:rPr dirty="0"/>
              <a:t> e </a:t>
            </a:r>
            <a:r>
              <a:rPr dirty="0" err="1"/>
              <a:t>vendas</a:t>
            </a:r>
            <a:r>
              <a:rPr dirty="0"/>
              <a:t> </a:t>
            </a:r>
            <a:r>
              <a:rPr dirty="0" err="1"/>
              <a:t>incrementais</a:t>
            </a:r>
            <a:r>
              <a:rPr dirty="0"/>
              <a:t>. A </a:t>
            </a:r>
            <a:r>
              <a:rPr dirty="0" err="1"/>
              <a:t>faixa</a:t>
            </a:r>
            <a:r>
              <a:rPr dirty="0"/>
              <a:t> de </a:t>
            </a:r>
            <a:r>
              <a:rPr dirty="0" err="1"/>
              <a:t>fechamento</a:t>
            </a:r>
            <a:r>
              <a:rPr dirty="0"/>
              <a:t> resume o </a:t>
            </a:r>
            <a:r>
              <a:rPr dirty="0" err="1"/>
              <a:t>método</a:t>
            </a:r>
            <a:r>
              <a:rPr dirty="0"/>
              <a:t>: registrar a </a:t>
            </a:r>
            <a:r>
              <a:rPr dirty="0" err="1"/>
              <a:t>linha</a:t>
            </a:r>
            <a:r>
              <a:rPr dirty="0"/>
              <a:t> de base antes das </a:t>
            </a:r>
            <a:r>
              <a:rPr dirty="0" err="1"/>
              <a:t>ações</a:t>
            </a:r>
            <a:r>
              <a:rPr dirty="0"/>
              <a:t>, </a:t>
            </a:r>
            <a:r>
              <a:rPr dirty="0" err="1"/>
              <a:t>ativar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região</a:t>
            </a:r>
            <a:r>
              <a:rPr dirty="0"/>
              <a:t> e canal, </a:t>
            </a:r>
            <a:r>
              <a:rPr dirty="0" err="1"/>
              <a:t>comparar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indicadores</a:t>
            </a:r>
            <a:r>
              <a:rPr dirty="0"/>
              <a:t> e </a:t>
            </a:r>
            <a:r>
              <a:rPr dirty="0" err="1"/>
              <a:t>escalar</a:t>
            </a:r>
            <a:r>
              <a:rPr dirty="0"/>
              <a:t> </a:t>
            </a:r>
            <a:r>
              <a:rPr dirty="0" err="1"/>
              <a:t>somente</a:t>
            </a:r>
            <a:r>
              <a:rPr dirty="0"/>
              <a:t> 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gerar</a:t>
            </a:r>
            <a:r>
              <a:rPr dirty="0"/>
              <a:t> </a:t>
            </a:r>
            <a:r>
              <a:rPr dirty="0" err="1"/>
              <a:t>aquisição</a:t>
            </a:r>
            <a:r>
              <a:rPr dirty="0"/>
              <a:t> e </a:t>
            </a:r>
            <a:r>
              <a:rPr dirty="0" err="1"/>
              <a:t>recompra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planejado: 1min45s.</a:t>
            </a:r>
          </a:p>
          <a:p>
            <a:endParaRPr/>
          </a:p>
          <a:p>
            <a:r>
              <a:t>Os concorrentes selecionados disputam a preferência de consumidores que desejam uma cerveja com álcool e menor teor calórico para ocasiões sociais comuns.</a:t>
            </a:r>
          </a:p>
          <a:p>
            <a:endParaRPr/>
          </a:p>
          <a:p>
            <a:r>
              <a:t>A Amstel Ultra traz atributos próximos e se beneficia da familiaridade de uma marca já consolidada no portfólio Heineken. A pressão para Michelob é explicar por que sua experiência premium merece preferência.</a:t>
            </a:r>
          </a:p>
          <a:p>
            <a:endParaRPr/>
          </a:p>
          <a:p>
            <a:r>
              <a:t>A Heineken Ultimate atende o consumidor habitual da marca que busca menor teor alcoólico e calórico. A resposta da Michelob não é copiar a concorrente. É reforçar uma identidade própria de leveza, sabor e relevância em novas ocasiões sociais.</a:t>
            </a:r>
          </a:p>
          <a:p>
            <a:endParaRPr/>
          </a:p>
          <a:p>
            <a:r>
              <a:t>Portanto, a competição não é apenas por preço ou calorias. É por reconhecimento, disponibilidade e significado de marca.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Tempo </a:t>
            </a:r>
            <a:r>
              <a:rPr dirty="0" err="1"/>
              <a:t>planejado</a:t>
            </a:r>
            <a:r>
              <a:rPr dirty="0"/>
              <a:t>: 2min00s.</a:t>
            </a:r>
          </a:p>
          <a:p>
            <a:endParaRPr dirty="0"/>
          </a:p>
          <a:p>
            <a:r>
              <a:rPr dirty="0" err="1"/>
              <a:t>Os</a:t>
            </a:r>
            <a:r>
              <a:rPr dirty="0"/>
              <a:t> benchmarks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servem</a:t>
            </a:r>
            <a:r>
              <a:rPr dirty="0"/>
              <a:t> para </a:t>
            </a:r>
            <a:r>
              <a:rPr dirty="0" err="1"/>
              <a:t>copiar</a:t>
            </a:r>
            <a:r>
              <a:rPr dirty="0"/>
              <a:t> </a:t>
            </a:r>
            <a:r>
              <a:rPr dirty="0" err="1"/>
              <a:t>produtos</a:t>
            </a:r>
            <a:r>
              <a:rPr dirty="0"/>
              <a:t>; </a:t>
            </a:r>
            <a:r>
              <a:rPr dirty="0" err="1"/>
              <a:t>servem</a:t>
            </a:r>
            <a:r>
              <a:rPr dirty="0"/>
              <a:t> para </a:t>
            </a:r>
            <a:r>
              <a:rPr dirty="0" err="1"/>
              <a:t>trazer</a:t>
            </a:r>
            <a:r>
              <a:rPr dirty="0"/>
              <a:t> </a:t>
            </a:r>
            <a:r>
              <a:rPr dirty="0" err="1"/>
              <a:t>aprendizados</a:t>
            </a:r>
            <a:r>
              <a:rPr dirty="0"/>
              <a:t> </a:t>
            </a:r>
            <a:r>
              <a:rPr dirty="0" err="1"/>
              <a:t>aplicáveis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nosso</a:t>
            </a:r>
            <a:r>
              <a:rPr dirty="0"/>
              <a:t> </a:t>
            </a:r>
            <a:r>
              <a:rPr dirty="0" err="1"/>
              <a:t>problema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A </a:t>
            </a:r>
            <a:r>
              <a:rPr dirty="0" err="1"/>
              <a:t>Oatly</a:t>
            </a:r>
            <a:r>
              <a:rPr dirty="0"/>
              <a:t> </a:t>
            </a:r>
            <a:r>
              <a:rPr dirty="0" err="1"/>
              <a:t>mostra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enfrentar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barreira</a:t>
            </a:r>
            <a:r>
              <a:rPr dirty="0"/>
              <a:t> de paladar com testes e </a:t>
            </a:r>
            <a:r>
              <a:rPr dirty="0" err="1"/>
              <a:t>prova</a:t>
            </a:r>
            <a:r>
              <a:rPr dirty="0"/>
              <a:t> de </a:t>
            </a:r>
            <a:r>
              <a:rPr dirty="0" err="1"/>
              <a:t>produto</a:t>
            </a:r>
            <a:r>
              <a:rPr dirty="0"/>
              <a:t>. Para Michelob, a </a:t>
            </a:r>
            <a:r>
              <a:rPr dirty="0" err="1"/>
              <a:t>aplicação</a:t>
            </a:r>
            <a:r>
              <a:rPr dirty="0"/>
              <a:t> é </a:t>
            </a:r>
            <a:r>
              <a:rPr dirty="0" err="1"/>
              <a:t>fazer</a:t>
            </a:r>
            <a:r>
              <a:rPr dirty="0"/>
              <a:t> da </a:t>
            </a:r>
            <a:r>
              <a:rPr dirty="0" err="1"/>
              <a:t>degustação</a:t>
            </a:r>
            <a:r>
              <a:rPr dirty="0"/>
              <a:t> a </a:t>
            </a:r>
            <a:r>
              <a:rPr dirty="0" err="1"/>
              <a:t>resposta</a:t>
            </a:r>
            <a:r>
              <a:rPr dirty="0"/>
              <a:t> </a:t>
            </a:r>
            <a:r>
              <a:rPr dirty="0" err="1"/>
              <a:t>concreta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estigma</a:t>
            </a:r>
            <a:r>
              <a:rPr dirty="0"/>
              <a:t> de </a:t>
            </a:r>
            <a:r>
              <a:rPr dirty="0" err="1"/>
              <a:t>cerveja</a:t>
            </a:r>
            <a:r>
              <a:rPr dirty="0"/>
              <a:t> </a:t>
            </a:r>
            <a:r>
              <a:rPr dirty="0" err="1"/>
              <a:t>aguada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A Guinness </a:t>
            </a:r>
            <a:r>
              <a:rPr dirty="0" err="1"/>
              <a:t>mostra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é </a:t>
            </a:r>
            <a:r>
              <a:rPr dirty="0" err="1"/>
              <a:t>possível</a:t>
            </a:r>
            <a:r>
              <a:rPr dirty="0"/>
              <a:t> </a:t>
            </a:r>
            <a:r>
              <a:rPr dirty="0" err="1"/>
              <a:t>ampliar</a:t>
            </a:r>
            <a:r>
              <a:rPr dirty="0"/>
              <a:t> a base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abandonar</a:t>
            </a:r>
            <a:r>
              <a:rPr dirty="0"/>
              <a:t> a </a:t>
            </a:r>
            <a:r>
              <a:rPr dirty="0" err="1"/>
              <a:t>identidade</a:t>
            </a:r>
            <a:r>
              <a:rPr dirty="0"/>
              <a:t> da </a:t>
            </a:r>
            <a:r>
              <a:rPr dirty="0" err="1"/>
              <a:t>marca</a:t>
            </a:r>
            <a:r>
              <a:rPr dirty="0"/>
              <a:t>, </a:t>
            </a:r>
            <a:r>
              <a:rPr dirty="0" err="1"/>
              <a:t>combinando</a:t>
            </a:r>
            <a:r>
              <a:rPr dirty="0"/>
              <a:t> </a:t>
            </a:r>
            <a:r>
              <a:rPr dirty="0" err="1"/>
              <a:t>comunicação</a:t>
            </a:r>
            <a:r>
              <a:rPr dirty="0"/>
              <a:t>, </a:t>
            </a:r>
            <a:r>
              <a:rPr dirty="0" err="1"/>
              <a:t>presença</a:t>
            </a:r>
            <a:r>
              <a:rPr dirty="0"/>
              <a:t> em bares e </a:t>
            </a:r>
            <a:r>
              <a:rPr dirty="0" err="1"/>
              <a:t>recrutamento</a:t>
            </a:r>
            <a:r>
              <a:rPr dirty="0"/>
              <a:t> de </a:t>
            </a:r>
            <a:r>
              <a:rPr dirty="0" err="1"/>
              <a:t>públicos</a:t>
            </a:r>
            <a:r>
              <a:rPr dirty="0"/>
              <a:t> antes </a:t>
            </a:r>
            <a:r>
              <a:rPr dirty="0" err="1"/>
              <a:t>subatendidos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A White Claw </a:t>
            </a:r>
            <a:r>
              <a:rPr dirty="0" err="1"/>
              <a:t>reforça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as </a:t>
            </a:r>
            <a:r>
              <a:rPr dirty="0" err="1"/>
              <a:t>necessidades</a:t>
            </a:r>
            <a:r>
              <a:rPr dirty="0"/>
              <a:t> </a:t>
            </a:r>
            <a:r>
              <a:rPr dirty="0" err="1"/>
              <a:t>variam</a:t>
            </a:r>
            <a:r>
              <a:rPr dirty="0"/>
              <a:t> </a:t>
            </a:r>
            <a:r>
              <a:rPr dirty="0" err="1"/>
              <a:t>durante</a:t>
            </a:r>
            <a:r>
              <a:rPr dirty="0"/>
              <a:t> a </a:t>
            </a:r>
            <a:r>
              <a:rPr dirty="0" err="1"/>
              <a:t>semana</a:t>
            </a:r>
            <a:r>
              <a:rPr dirty="0"/>
              <a:t>. O </a:t>
            </a:r>
            <a:r>
              <a:rPr dirty="0" err="1"/>
              <a:t>aprendizado</a:t>
            </a:r>
            <a:r>
              <a:rPr dirty="0"/>
              <a:t> para a Michelob </a:t>
            </a:r>
            <a:r>
              <a:rPr dirty="0" err="1"/>
              <a:t>não</a:t>
            </a:r>
            <a:r>
              <a:rPr dirty="0"/>
              <a:t> é </a:t>
            </a:r>
            <a:r>
              <a:rPr dirty="0" err="1"/>
              <a:t>lançar</a:t>
            </a:r>
            <a:r>
              <a:rPr dirty="0"/>
              <a:t> </a:t>
            </a:r>
            <a:r>
              <a:rPr dirty="0" err="1"/>
              <a:t>versões</a:t>
            </a:r>
            <a:r>
              <a:rPr dirty="0"/>
              <a:t> </a:t>
            </a:r>
            <a:r>
              <a:rPr dirty="0" err="1"/>
              <a:t>adicionais</a:t>
            </a:r>
            <a:r>
              <a:rPr dirty="0"/>
              <a:t>; é </a:t>
            </a:r>
            <a:r>
              <a:rPr dirty="0" err="1"/>
              <a:t>organizar</a:t>
            </a:r>
            <a:r>
              <a:rPr dirty="0"/>
              <a:t> a </a:t>
            </a:r>
            <a:r>
              <a:rPr dirty="0" err="1"/>
              <a:t>comunicação</a:t>
            </a:r>
            <a:r>
              <a:rPr dirty="0"/>
              <a:t> e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pontos</a:t>
            </a:r>
            <a:r>
              <a:rPr dirty="0"/>
              <a:t> de </a:t>
            </a:r>
            <a:r>
              <a:rPr dirty="0" err="1"/>
              <a:t>contato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ocasião</a:t>
            </a:r>
            <a:r>
              <a:rPr dirty="0"/>
              <a:t>, </a:t>
            </a:r>
            <a:r>
              <a:rPr dirty="0" err="1"/>
              <a:t>preservando</a:t>
            </a:r>
            <a:r>
              <a:rPr dirty="0"/>
              <a:t> o </a:t>
            </a:r>
            <a:r>
              <a:rPr dirty="0" err="1"/>
              <a:t>mesmo</a:t>
            </a:r>
            <a:r>
              <a:rPr dirty="0"/>
              <a:t> </a:t>
            </a:r>
            <a:r>
              <a:rPr dirty="0" err="1"/>
              <a:t>produto</a:t>
            </a:r>
            <a:r>
              <a:rPr dirty="0"/>
              <a:t> e </a:t>
            </a:r>
            <a:r>
              <a:rPr dirty="0" err="1"/>
              <a:t>proposta</a:t>
            </a:r>
            <a:r>
              <a:rPr dirty="0"/>
              <a:t> de valor.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planejado: 2min30s.</a:t>
            </a:r>
          </a:p>
          <a:p>
            <a:endParaRPr/>
          </a:p>
          <a:p>
            <a:r>
              <a:t>O Canvas traduz a estratégia em recomendações de negócio. Nos parceiros, priorizamos canais de venda, bares, restaurantes, eventos, plataformas de entrega e criadores de conteúdo. Nas atividades, destacamos degustação, comunicação por ocasião e presença nos canais.</a:t>
            </a:r>
          </a:p>
          <a:p>
            <a:endParaRPr/>
          </a:p>
          <a:p>
            <a:r>
              <a:t>A proposta de valor permanece uma cerveja premium leve e refrescante, com baixas calorias e baixo teor de carboidratos, agora conectada a mais situações de convivência.</a:t>
            </a:r>
          </a:p>
          <a:p>
            <a:endParaRPr/>
          </a:p>
          <a:p>
            <a:r>
              <a:t>Os relacionamentos e canais tornam o piloto executável: ponto de venda, CRM, cupons, Zé Delivery, iFood, bares, restaurantes e eventos.</a:t>
            </a:r>
          </a:p>
          <a:p>
            <a:endParaRPr/>
          </a:p>
          <a:p>
            <a:r>
              <a:t>A segmentação de investimento é inicial e será validada no piloto. Millennials recebem a maior parcela pela combinação de socialização e canais digitais; Geração Z é estratégica para eventos e experiências; Geração X combina interesse em controle calórico com necessidade de prova de sabor.</a:t>
            </a:r>
          </a:p>
          <a:p>
            <a:endParaRPr/>
          </a:p>
          <a:p>
            <a:r>
              <a:t>A lógica financeira é gerar vendas incrementais, recorrência e maior frequência de compra nos canais e ocasiões priorizados.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8936FB-1BDE-4FB2-B255-FD9883BE121A}" type="slidenum">
              <a:rPr lang="pt-BR" smtClean="0"/>
              <a:t>11</a:t>
            </a:fld>
            <a:endParaRPr lang="pt-B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 planejado: 0min45s.</a:t>
            </a:r>
          </a:p>
          <a:p>
            <a:endParaRPr/>
          </a:p>
          <a:p>
            <a:r>
              <a:t>Este anexo registra o uso de inteligência artificial no trabalho, conforme solicitado pelo professor.</a:t>
            </a:r>
          </a:p>
          <a:p>
            <a:endParaRPr/>
          </a:p>
          <a:p>
            <a:r>
              <a:t>Antes da entrega final, o grupo deve preencher a tabela somente com as ferramentas, instruções e resultados que utilizou de fato. O objetivo é dar transparência ao processo, mostrando tanto os usos quanto os limites identificados.</a:t>
            </a:r>
          </a:p>
          <a:p>
            <a:endParaRPr/>
          </a:p>
          <a:p>
            <a:r>
              <a:t>Encerramos reforçando que a proposta é um piloto mensurável para ampliar a base da Michelob Ultra, preservando a identidade da marca e aprendendo antes de escalar.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7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7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7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7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intelo.com/report/low-calorie-alcoholic-beverages-market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onferencias.fgv.br/clav/article/download/598/354/1443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adnews.com.br/post/ze-delivery-oferece-ate-40-off-no-mes-da-cerveja" TargetMode="External"/><Relationship Id="rId4" Type="http://schemas.openxmlformats.org/officeDocument/2006/relationships/hyperlink" Target="https://rascasse.com/explore/us/michelob-ultra-149491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hyperlink" Target="https://www.heinekenbrasil.com.br/nossas-marcas" TargetMode="External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valor.globo.com/conteudo-de-marca/heineken/noticia/2026/07/14/heinekenr-lanca-versao-com-menor-teor-alcoolico-e-caloria-primeiro-no-brasil.ghtml" TargetMode="External"/><Relationship Id="rId5" Type="http://schemas.openxmlformats.org/officeDocument/2006/relationships/hyperlink" Target="https://www.heinekenbrasil.com.br/heineken-ultimate" TargetMode="External"/><Relationship Id="rId4" Type="http://schemas.openxmlformats.org/officeDocument/2006/relationships/hyperlink" Target="https://express.heineken.com.br/collections/amstel-cervejas" TargetMode="Externa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hyperlink" Target="https://www.oatly.com/sustainability/influence-food-system-change" TargetMode="External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hyperlink" Target="https://ussupport.whiteclaw.com/en/support/solutions/articles/36000314438-how-much-alcohol-is-in-white-claw-hard-seltzer-surge-" TargetMode="External"/><Relationship Id="rId4" Type="http://schemas.openxmlformats.org/officeDocument/2006/relationships/hyperlink" Target="https://www.diageo.com/en/news-and-media/stories/2023/world-class-brand-building-the-year-guinness-became-great-britain-s-favourite-pint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Georgia" panose="02040502050405090303"/>
              </a:defRPr>
            </a:pPr>
            <a:r>
              <a:t>APRESENTAÇÃO DO CASE — MICHELOB ULTRA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47802"/>
            <a:ext cx="10362895" cy="4457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4C81"/>
                </a:solidFill>
                <a:latin typeface="Georgia" panose="02040502050405090303"/>
              </a:defRPr>
            </a:pPr>
            <a:r>
              <a:rPr dirty="0"/>
              <a:t>Plano de Marketing — </a:t>
            </a:r>
            <a:r>
              <a:rPr lang="en-US" altLang="en-US" dirty="0"/>
              <a:t>Piloto de expansão para novas ocasiões de consumo</a:t>
            </a:r>
          </a:p>
          <a:p>
            <a:pPr>
              <a:spcBef>
                <a:spcPts val="1400"/>
              </a:spcBef>
              <a:defRPr sz="1800">
                <a:solidFill>
                  <a:srgbClr val="1B2A4A"/>
                </a:solidFill>
                <a:latin typeface="Calibri"/>
              </a:defRPr>
            </a:pPr>
            <a:r>
              <a:rPr dirty="0"/>
              <a:t>PROJETO PRÁTICO — MBA FIA LABDATA</a:t>
            </a:r>
            <a:br>
              <a:rPr dirty="0"/>
            </a:br>
            <a:r>
              <a:rPr dirty="0" err="1"/>
              <a:t>Curso</a:t>
            </a:r>
            <a:r>
              <a:rPr dirty="0"/>
              <a:t> de Marketing </a:t>
            </a:r>
            <a:r>
              <a:rPr lang="pt-BR" dirty="0"/>
              <a:t>Digital</a:t>
            </a:r>
            <a:endParaRPr dirty="0"/>
          </a:p>
          <a:p>
            <a:pPr>
              <a:spcBef>
                <a:spcPts val="3000"/>
              </a:spcBef>
              <a:defRPr sz="1400">
                <a:solidFill>
                  <a:srgbClr val="5A6578"/>
                </a:solidFill>
                <a:latin typeface="Calibri"/>
              </a:defRPr>
            </a:pPr>
            <a:r>
              <a:rPr dirty="0"/>
              <a:t>Empresa / Marca: AB InBev </a:t>
            </a:r>
            <a:r>
              <a:rPr lang="pt-BR" dirty="0"/>
              <a:t>— </a:t>
            </a:r>
            <a:r>
              <a:rPr lang="pt-BR" dirty="0" err="1"/>
              <a:t>Michelob</a:t>
            </a:r>
            <a:r>
              <a:rPr lang="pt-BR" dirty="0"/>
              <a:t> Ultra</a:t>
            </a:r>
            <a:br>
              <a:rPr dirty="0"/>
            </a:br>
            <a:r>
              <a:rPr dirty="0"/>
              <a:t>Tema: </a:t>
            </a:r>
            <a:r>
              <a:rPr lang="pt-BR" dirty="0"/>
              <a:t>Ampliação da base de consumidores da cerveja </a:t>
            </a:r>
            <a:r>
              <a:rPr lang="pt-BR" dirty="0" err="1"/>
              <a:t>Michelob</a:t>
            </a:r>
            <a:r>
              <a:rPr lang="pt-BR" dirty="0"/>
              <a:t> Ultra</a:t>
            </a:r>
          </a:p>
          <a:p>
            <a:pPr>
              <a:spcBef>
                <a:spcPts val="3000"/>
              </a:spcBef>
              <a:defRPr sz="1400">
                <a:solidFill>
                  <a:srgbClr val="5A6578"/>
                </a:solidFill>
                <a:latin typeface="Calibri"/>
              </a:defRPr>
            </a:pPr>
            <a:r>
              <a:rPr lang="pt-BR" dirty="0"/>
              <a:t>Grupo: 8 </a:t>
            </a:r>
          </a:p>
          <a:p>
            <a:pPr>
              <a:spcBef>
                <a:spcPts val="1200"/>
              </a:spcBef>
              <a:defRPr sz="1400">
                <a:solidFill>
                  <a:srgbClr val="5A6578"/>
                </a:solidFill>
                <a:latin typeface="Calibri"/>
              </a:defRPr>
            </a:pPr>
            <a:r>
              <a:rPr lang="pt-BR" dirty="0"/>
              <a:t>André Luiz da Cruz Moreira</a:t>
            </a:r>
          </a:p>
          <a:p>
            <a:pPr>
              <a:spcBef>
                <a:spcPts val="1200"/>
              </a:spcBef>
              <a:defRPr sz="1400">
                <a:solidFill>
                  <a:srgbClr val="5A6578"/>
                </a:solidFill>
                <a:latin typeface="Calibri"/>
              </a:defRPr>
            </a:pPr>
            <a:r>
              <a:rPr lang="pt-BR" sz="1400" dirty="0">
                <a:solidFill>
                  <a:srgbClr val="5A6578"/>
                </a:solidFill>
                <a:latin typeface="Calibri"/>
              </a:rPr>
              <a:t>Lucas Silva do Carmo</a:t>
            </a:r>
          </a:p>
          <a:p>
            <a:pPr>
              <a:spcBef>
                <a:spcPts val="1200"/>
              </a:spcBef>
              <a:defRPr sz="1400">
                <a:solidFill>
                  <a:srgbClr val="5A6578"/>
                </a:solidFill>
                <a:latin typeface="Calibri"/>
              </a:defRPr>
            </a:pPr>
            <a:r>
              <a:rPr lang="pt-BR" sz="1400" dirty="0">
                <a:solidFill>
                  <a:srgbClr val="5A6578"/>
                </a:solidFill>
                <a:latin typeface="Calibri"/>
              </a:rPr>
              <a:t>Rafael </a:t>
            </a:r>
            <a:r>
              <a:rPr lang="pt-BR" sz="1400" dirty="0" err="1">
                <a:solidFill>
                  <a:srgbClr val="5A6578"/>
                </a:solidFill>
                <a:latin typeface="Calibri"/>
              </a:rPr>
              <a:t>Eiti</a:t>
            </a:r>
            <a:r>
              <a:rPr lang="pt-BR" sz="1400" dirty="0">
                <a:solidFill>
                  <a:srgbClr val="5A6578"/>
                </a:solidFill>
                <a:latin typeface="Calibri"/>
              </a:rPr>
              <a:t> Tanaka</a:t>
            </a:r>
          </a:p>
          <a:p>
            <a:pPr>
              <a:spcBef>
                <a:spcPts val="1200"/>
              </a:spcBef>
              <a:defRPr sz="1400">
                <a:solidFill>
                  <a:srgbClr val="5A6578"/>
                </a:solidFill>
                <a:latin typeface="Calibri"/>
              </a:defRPr>
            </a:pPr>
            <a:r>
              <a:rPr lang="pt-BR" sz="1400" dirty="0">
                <a:solidFill>
                  <a:srgbClr val="5A6578"/>
                </a:solidFill>
                <a:latin typeface="Calibri"/>
              </a:rPr>
              <a:t>Rômulo Pedro </a:t>
            </a:r>
            <a:r>
              <a:rPr lang="pt-BR" sz="1400" dirty="0" err="1">
                <a:solidFill>
                  <a:srgbClr val="5A6578"/>
                </a:solidFill>
                <a:latin typeface="Calibri"/>
              </a:rPr>
              <a:t>Arrivabene</a:t>
            </a:r>
            <a:endParaRPr lang="pt-BR" sz="1400" dirty="0">
              <a:solidFill>
                <a:srgbClr val="5A657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689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APRESENTAÇÃO DA MARCA E DO NEGÓCIO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 panose="02040502050405090303"/>
              </a:defRPr>
            </a:pPr>
            <a:r>
              <a:t>MICHELOB ULTRA — LEVEZA QUE ACOMPANHA O SEU RITMO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28416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600" b="1">
                <a:solidFill>
                  <a:srgbClr val="0F4C81"/>
                </a:solidFill>
                <a:latin typeface="Georgia" panose="02040502050405090303"/>
              </a:defRPr>
            </a:pPr>
            <a:r>
              <a:t>MARCA E NEGÓCIO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t>A Michelob é uma marca de cerveja criada nos Estados Unidos e pertencente ao portfólio global da AB InBev.</a:t>
            </a:r>
            <a:br/>
            <a:br/>
            <a:r>
              <a:t>Com a Michelob Ultra, a marca passou a explorar uma proposta diferenciada dentro do mercado de cervejas, combinando uma experiência premium com atributos de leveza e baixo teor de carboidratos.</a:t>
            </a:r>
            <a:br/>
            <a:br/>
            <a:r>
              <a:t>A Michelob Ultra construiu sua identidade em torno de um estilo de vida ativo e equilibrado, aproximando a cerveja de territórios como esporte, bem-estar, socialização e experiências ao ar livre.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554480"/>
            <a:ext cx="3328416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600" b="1">
                <a:solidFill>
                  <a:srgbClr val="D9822B"/>
                </a:solidFill>
                <a:latin typeface="Georgia" panose="02040502050405090303"/>
              </a:defRPr>
            </a:pPr>
            <a:r>
              <a:rPr dirty="0"/>
              <a:t>O DESAFIO DO CASE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O ponto de partida é a oportunidade de ampliar a base atual da </a:t>
            </a:r>
            <a:r>
              <a:rPr lang="pt-BR" dirty="0" err="1"/>
              <a:t>Michelob</a:t>
            </a:r>
            <a:r>
              <a:rPr lang="pt-BR" dirty="0"/>
              <a:t> Ultra no mercado brasileiro. 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A marca, hoje fortemente associada a um estilo de vida ativo e equilibrado, deve ganhar relevância entre adultos que não se definem pelo esporte, mas valorizam escolhas mais leves na rotina e na vida social.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O desafio central consiste em superar o estigma histórico de que “cerveja leve é aguada”, educar o mercado quanto ao posicionamento Ultra Light Premium e evitar que a comunicação limite a </a:t>
            </a:r>
            <a:r>
              <a:rPr lang="pt-BR" dirty="0" err="1"/>
              <a:t>Michelob</a:t>
            </a:r>
            <a:r>
              <a:rPr lang="pt-BR" dirty="0"/>
              <a:t> Ultra ao universo esportivo.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br>
              <a:rPr dirty="0"/>
            </a:b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8119872" y="1554480"/>
            <a:ext cx="3328416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600" b="1">
                <a:solidFill>
                  <a:srgbClr val="0F4C81"/>
                </a:solidFill>
                <a:latin typeface="Georgia" panose="02040502050405090303"/>
              </a:defRPr>
            </a:pPr>
            <a:r>
              <a:rPr dirty="0"/>
              <a:t>DIRECIONAMENTO DO PROJETO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Ampliar a base de consumidores da </a:t>
            </a:r>
            <a:r>
              <a:rPr lang="pt-BR" dirty="0" err="1"/>
              <a:t>Michelob</a:t>
            </a:r>
            <a:r>
              <a:rPr lang="pt-BR" dirty="0"/>
              <a:t> Ultra, levando suas credenciais de leveza e sabor para diferentes contextos de socialização.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Consolidar a </a:t>
            </a:r>
            <a:r>
              <a:rPr lang="pt-BR" dirty="0" err="1"/>
              <a:t>Michelob</a:t>
            </a:r>
            <a:r>
              <a:rPr lang="pt-BR" dirty="0"/>
              <a:t> Ultra como referência da categoria Ultra Light Premium no Brasil.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Aproximar a marca de adultos que buscam escolhas mais leves, mesmo sem relação frequente com práticas esportivas.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Construir relevância em ocasiões sociais cotidianas, como almoços, </a:t>
            </a:r>
            <a:r>
              <a:rPr lang="pt-BR" dirty="0" err="1"/>
              <a:t>happy</a:t>
            </a:r>
            <a:r>
              <a:rPr lang="pt-BR" dirty="0"/>
              <a:t> hours, encontros casuais, churrascos, festivais e futebol.</a:t>
            </a:r>
          </a:p>
          <a:p>
            <a:pPr>
              <a:spcBef>
                <a:spcPts val="10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Manter o esporte como credencial da marca, sem transformá-lo em requisito de identificação ou consumo.</a:t>
            </a: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689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CONTEXTO DE MERCADO — MICHELOB ULTRA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 panose="02040502050405090303"/>
              </a:defRPr>
            </a:pPr>
            <a:r>
              <a:t>Um consumidor mais atento ao equilíbrio, sem abrir mão da socialização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28416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defRPr sz="3600" b="1">
                <a:solidFill>
                  <a:srgbClr val="D9822B"/>
                </a:solidFill>
                <a:latin typeface="Georgia" panose="02040502050405090303"/>
              </a:defRPr>
            </a:pPr>
            <a:r>
              <a:t>86%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t>BUSCAM HÁBITOS MAIS SAUDÁVEIS</a:t>
            </a:r>
            <a:br/>
            <a:r>
              <a:t>86% dos consumidores brasileiros (Estudo Estilos de Vida 2024 / NielsenIQ) já incorporaram ao menos um hábito mais saudável à rotina.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554480"/>
            <a:ext cx="3328416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defRPr sz="3600" b="1">
                <a:solidFill>
                  <a:srgbClr val="0F4C81"/>
                </a:solidFill>
                <a:latin typeface="Georgia" panose="02040502050405090303"/>
              </a:defRPr>
            </a:pPr>
            <a:r>
              <a:t>+40%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t>CRESCIMENTO EM VOLUME</a:t>
            </a:r>
            <a:br/>
            <a:r>
              <a:t>As cervejas de baixa caloria cresceram 40% em volume no Brasil, demonstrando forte espaço para escolhas com maior controle calórico.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554480"/>
            <a:ext cx="3328416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defRPr sz="3600" b="1">
                <a:solidFill>
                  <a:srgbClr val="D9822B"/>
                </a:solidFill>
                <a:latin typeface="Georgia" panose="02040502050405090303"/>
              </a:defRPr>
            </a:pPr>
            <a:r>
              <a:t>+20%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t>OCASIÕES FORA DE CASA</a:t>
            </a:r>
            <a:br/>
            <a:r>
              <a:t>As ocasiões de consumo fora do lar cresceram 20% (&gt;41,4M ocasiões). 63% dos brasileiros consomem cerveja fora de casa (Worldpanel 2025).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10728655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600" b="1">
                <a:solidFill>
                  <a:srgbClr val="0F4C81"/>
                </a:solidFill>
                <a:latin typeface="Georgia" panose="02040502050405090303"/>
              </a:defRPr>
            </a:pPr>
            <a:r>
              <a:rPr dirty="0"/>
              <a:t>A OPORTUNIDADE</a:t>
            </a:r>
          </a:p>
          <a:p>
            <a:pPr>
              <a:spcBef>
                <a:spcPts val="8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Esses movimentos revelam uma oportunidade para </a:t>
            </a:r>
            <a:r>
              <a:rPr lang="pt-BR" dirty="0" err="1"/>
              <a:t>Michelob</a:t>
            </a:r>
            <a:r>
              <a:rPr lang="pt-BR" dirty="0"/>
              <a:t> Ultra: a busca por escolhas mais leves e por equilíbrio na rotina alcança consumidores além do público que já se identifica com esporte e vida ativa.</a:t>
            </a:r>
          </a:p>
          <a:p>
            <a:pPr>
              <a:spcBef>
                <a:spcPts val="8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Com seus atributos de leveza e baixo teor de carboidratos, a </a:t>
            </a:r>
            <a:r>
              <a:rPr lang="pt-BR" dirty="0" err="1"/>
              <a:t>Michelob</a:t>
            </a:r>
            <a:r>
              <a:rPr lang="pt-BR" dirty="0"/>
              <a:t> Ultra pode ampliar sua base ao se tornar mais presente em situações sociais cotidianas, sem exigir que o consumidor se reconheça em códigos de desempenho físico.</a:t>
            </a:r>
          </a:p>
          <a:p>
            <a:pPr>
              <a:spcBef>
                <a:spcPts val="800"/>
              </a:spcBef>
              <a:defRPr sz="120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A oportunidade está em levar uma credencial já existente da marca a um público mais amplo e a diferentes contextos de socialização.</a:t>
            </a:r>
          </a:p>
          <a:p>
            <a:pPr>
              <a:spcBef>
                <a:spcPts val="1000"/>
              </a:spcBef>
              <a:defRPr sz="1000">
                <a:solidFill>
                  <a:srgbClr val="5A6578"/>
                </a:solidFill>
                <a:latin typeface="Calibri"/>
              </a:defRPr>
            </a:pPr>
            <a:r>
              <a:rPr dirty="0"/>
              <a:t>Fontes: </a:t>
            </a:r>
            <a:r>
              <a:rPr dirty="0" err="1"/>
              <a:t>NielsenIQ</a:t>
            </a:r>
            <a:r>
              <a:rPr dirty="0"/>
              <a:t> — </a:t>
            </a:r>
            <a:r>
              <a:rPr dirty="0" err="1"/>
              <a:t>Estilos</a:t>
            </a:r>
            <a:r>
              <a:rPr dirty="0"/>
              <a:t> de Vida 2024; McKinsey — Cinco </a:t>
            </a:r>
            <a:r>
              <a:rPr dirty="0" err="1"/>
              <a:t>tendências</a:t>
            </a:r>
            <a:r>
              <a:rPr dirty="0"/>
              <a:t> do </a:t>
            </a:r>
            <a:r>
              <a:rPr dirty="0" err="1"/>
              <a:t>consumidor</a:t>
            </a:r>
            <a:r>
              <a:rPr dirty="0"/>
              <a:t> </a:t>
            </a:r>
            <a:r>
              <a:rPr dirty="0" err="1"/>
              <a:t>brasileiro</a:t>
            </a:r>
            <a:r>
              <a:rPr dirty="0"/>
              <a:t> em 2025; Worldpanel by Numerator — Brand Footprint </a:t>
            </a:r>
            <a:r>
              <a:rPr dirty="0" err="1"/>
              <a:t>Brasil</a:t>
            </a:r>
            <a:r>
              <a:rPr dirty="0"/>
              <a:t> 2025.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689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PROBLEMA DE NEGÓCIO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3384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 panose="02040502050405090303"/>
              </a:defRPr>
            </a:pPr>
            <a:r>
              <a:t>Mudança Comportamental, Dilema da Indústria</a:t>
            </a:r>
            <a:r>
              <a:rPr lang="pt-BR"/>
              <a:t> e Tese do Case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715126"/>
            <a:ext cx="5253355" cy="44310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>
              <a:spcBef>
                <a:spcPts val="8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dirty="0"/>
              <a:t>• MUDANÇA COMPORTAMENTAL: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dirty="0"/>
              <a:t> </a:t>
            </a:r>
            <a:r>
              <a:rPr dirty="0" err="1"/>
              <a:t>Mudança</a:t>
            </a:r>
            <a:r>
              <a:rPr dirty="0"/>
              <a:t> secular de </a:t>
            </a:r>
            <a:r>
              <a:rPr dirty="0" err="1"/>
              <a:t>hábitos</a:t>
            </a:r>
            <a:r>
              <a:rPr dirty="0"/>
              <a:t>; </a:t>
            </a:r>
            <a:r>
              <a:rPr dirty="0" err="1"/>
              <a:t>ascensão</a:t>
            </a:r>
            <a:r>
              <a:rPr dirty="0"/>
              <a:t> da </a:t>
            </a:r>
            <a:r>
              <a:rPr dirty="0" err="1"/>
              <a:t>tendência</a:t>
            </a:r>
            <a:r>
              <a:rPr dirty="0"/>
              <a:t> de </a:t>
            </a:r>
            <a:r>
              <a:rPr dirty="0" err="1"/>
              <a:t>autocuidado</a:t>
            </a:r>
            <a:r>
              <a:rPr dirty="0"/>
              <a:t>, </a:t>
            </a:r>
            <a:r>
              <a:rPr dirty="0" err="1"/>
              <a:t>bem-estar</a:t>
            </a:r>
            <a:r>
              <a:rPr dirty="0"/>
              <a:t> e </a:t>
            </a:r>
            <a:r>
              <a:rPr dirty="0" err="1"/>
              <a:t>moderação</a:t>
            </a:r>
            <a:r>
              <a:rPr dirty="0"/>
              <a:t> no </a:t>
            </a:r>
            <a:r>
              <a:rPr dirty="0" err="1"/>
              <a:t>consumo</a:t>
            </a:r>
            <a:r>
              <a:rPr dirty="0"/>
              <a:t> </a:t>
            </a:r>
            <a:r>
              <a:rPr dirty="0" err="1"/>
              <a:t>alcóolico</a:t>
            </a:r>
            <a:r>
              <a:rPr dirty="0"/>
              <a:t>,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abandonar</a:t>
            </a:r>
            <a:r>
              <a:rPr dirty="0"/>
              <a:t> a </a:t>
            </a:r>
            <a:r>
              <a:rPr dirty="0" err="1"/>
              <a:t>socialização</a:t>
            </a:r>
            <a:r>
              <a:rPr dirty="0"/>
              <a:t>.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endParaRPr dirty="0"/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M</a:t>
            </a:r>
            <a:r>
              <a:rPr lang="en-US" altLang="en-US" dirty="0"/>
              <a:t>ais de </a:t>
            </a:r>
            <a:r>
              <a:rPr lang="en-US" altLang="en-US" b="1" dirty="0"/>
              <a:t>62%</a:t>
            </a:r>
            <a:r>
              <a:rPr lang="en-US" altLang="en-US" dirty="0"/>
              <a:t> dos adultos compradores de álcool em mercados desenvolvidos analisados buscam ativamente op</a:t>
            </a:r>
            <a:r>
              <a:rPr lang="" altLang="en-US" dirty="0"/>
              <a:t>çõ</a:t>
            </a:r>
            <a:r>
              <a:rPr lang="en-US" altLang="en-US" dirty="0"/>
              <a:t>es com menos calorias ou menor teor alcoólico.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endParaRPr lang="en-US" altLang="en-US" dirty="0"/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en-US" altLang="en-US" dirty="0"/>
              <a:t>Esse comportamento impulsiona o mercado global de bebidas alcoólicas de baixa caloria, estimado em </a:t>
            </a:r>
            <a:r>
              <a:rPr lang="en-US" altLang="en-US" b="1" dirty="0"/>
              <a:t>US$ 27,4 bilh</a:t>
            </a:r>
            <a:r>
              <a:rPr lang="" altLang="en-US" b="1" dirty="0"/>
              <a:t>õ</a:t>
            </a:r>
            <a:r>
              <a:rPr lang="en-US" altLang="en-US" b="1" dirty="0"/>
              <a:t>es em 2025</a:t>
            </a:r>
            <a:r>
              <a:rPr lang="en-US" altLang="en-US" dirty="0"/>
              <a:t> e projetado para </a:t>
            </a:r>
            <a:r>
              <a:rPr lang="en-US" altLang="en-US" b="1" dirty="0"/>
              <a:t>US$ 52,8 bilh</a:t>
            </a:r>
            <a:r>
              <a:rPr lang="" altLang="en-US" b="1" dirty="0"/>
              <a:t>õ</a:t>
            </a:r>
            <a:r>
              <a:rPr lang="en-US" altLang="en-US" b="1" dirty="0"/>
              <a:t>es até 2034</a:t>
            </a:r>
            <a:r>
              <a:rPr lang="en-US" altLang="en-US" dirty="0"/>
              <a:t>.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endParaRPr lang="en-US" altLang="en-US" b="1" dirty="0"/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en-US" altLang="en-US" dirty="0"/>
              <a:t>A busca por equilíbrio come</a:t>
            </a:r>
            <a:r>
              <a:rPr lang="" altLang="en-US" dirty="0"/>
              <a:t>ç</a:t>
            </a:r>
            <a:r>
              <a:rPr lang="en-US" altLang="en-US" dirty="0"/>
              <a:t>a a influenciar também a escolha da bebida alcoólica.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endParaRPr lang="en-US" altLang="en-US" dirty="0"/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en-US" altLang="en-US" dirty="0"/>
              <a:t>Fonte: </a:t>
            </a:r>
            <a:r>
              <a:rPr lang="pt-BR" altLang="en-US" dirty="0">
                <a:hlinkClick r:id="rId3" action="ppaction://hlinkfile"/>
              </a:rPr>
              <a:t>Dataintelo — Low-calorie Alcoholic Beverages Market, 2025–2034</a:t>
            </a:r>
            <a:r>
              <a:rPr lang="en-US" altLang="en-US" dirty="0"/>
              <a:t> </a:t>
            </a:r>
            <a:endParaRPr dirty="0"/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8410" y="1715126"/>
            <a:ext cx="5331460" cy="44310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500" b="1">
                <a:solidFill>
                  <a:srgbClr val="0F4C81"/>
                </a:solidFill>
                <a:latin typeface="Georgia" panose="02040502050405090303"/>
              </a:defRPr>
            </a:pPr>
            <a:endParaRPr dirty="0"/>
          </a:p>
          <a:p>
            <a:pPr>
              <a:spcBef>
                <a:spcPts val="6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dirty="0"/>
              <a:t>• O DILEMA DA INDÚSTRIA: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dirty="0"/>
              <a:t>  Parte dos consumidores pode perceber cervejas tradicionais como mais pesadas ou menos compatíveis com a rotina; opções sem álcool ainda podem enfrentar barreiras de sabor e de ocasião social. A oportunidade é oferecer uma alternativa com álcool e menor teor calórico para quem busca leveza sem abrir mão da socialização.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endParaRPr dirty="0"/>
          </a:p>
          <a:p>
            <a:pPr>
              <a:spcBef>
                <a:spcPts val="6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dirty="0"/>
              <a:t>• A TESE DO CASE (</a:t>
            </a:r>
            <a:r>
              <a:rPr lang="pt-BR" dirty="0"/>
              <a:t>AMPLIAR A BASE</a:t>
            </a:r>
            <a:r>
              <a:rPr dirty="0"/>
              <a:t>):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A </a:t>
            </a:r>
            <a:r>
              <a:rPr lang="pt-BR" dirty="0" err="1"/>
              <a:t>Michelob</a:t>
            </a:r>
            <a:r>
              <a:rPr lang="pt-BR" dirty="0"/>
              <a:t> Ultra possui atributos coerentes com uma rotina mais equilibrada, mas sua associação predominante ao esporte pode reduzir a identificação de adultos que também buscam leveza na vida social. O desafio é ampliar essa identificação sem descaracterizar a marca.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endParaRPr lang="pt-BR" dirty="0"/>
          </a:p>
          <a:p>
            <a:pPr>
              <a:spcBef>
                <a:spcPts val="6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dirty="0"/>
              <a:t>• EXPANSÃO </a:t>
            </a:r>
            <a:r>
              <a:rPr lang="pt-BR" dirty="0"/>
              <a:t>DE BASE E OCASIÕES:</a:t>
            </a:r>
            <a:endParaRPr dirty="0"/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A leveza da </a:t>
            </a:r>
            <a:r>
              <a:rPr lang="pt-BR" dirty="0" err="1"/>
              <a:t>Michelob</a:t>
            </a:r>
            <a:r>
              <a:rPr lang="pt-BR" dirty="0"/>
              <a:t> Ultra deve se tornar uma escolha relevante para mais pessoas e em mais contextos de convivência. Almoços, </a:t>
            </a:r>
            <a:r>
              <a:rPr lang="pt-BR" dirty="0" err="1"/>
              <a:t>happy</a:t>
            </a:r>
            <a:r>
              <a:rPr lang="pt-BR" dirty="0"/>
              <a:t> hours, encontros casuais, churrascos, festivais e futebol são pontos de contato com esse novo público, e não substitutos da presença já existente da marca em outras situações.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689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PROBLEMA DE NEGÓCIO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3384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 panose="02040502050405090303"/>
              </a:defRPr>
            </a:pPr>
            <a:r>
              <a:t>Limitadores de Negócio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0885" y="1652270"/>
            <a:ext cx="10586720" cy="47485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500" b="1">
                <a:solidFill>
                  <a:srgbClr val="0F4C81"/>
                </a:solidFill>
                <a:latin typeface="Georgia" panose="02040502050405090303"/>
              </a:defRPr>
            </a:pPr>
            <a:r>
              <a:rPr dirty="0"/>
              <a:t>PRINCIPAIS LIMITADORES DE NEGÓCIO</a:t>
            </a:r>
          </a:p>
          <a:p>
            <a:pPr>
              <a:spcBef>
                <a:spcPts val="8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lang="pt-BR" dirty="0"/>
              <a:t>• </a:t>
            </a:r>
            <a:r>
              <a:rPr lang="en-US" altLang="en-US" dirty="0"/>
              <a:t>Comunica</a:t>
            </a:r>
            <a:r>
              <a:rPr lang="" altLang="en-US" dirty="0"/>
              <a:t>ç</a:t>
            </a:r>
            <a:r>
              <a:rPr lang="en-US" altLang="en-US" dirty="0"/>
              <a:t>ão predominantemente esportiva: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en-US" altLang="en-US" dirty="0"/>
              <a:t>A presen</a:t>
            </a:r>
            <a:r>
              <a:rPr lang="" altLang="en-US" dirty="0"/>
              <a:t>ç</a:t>
            </a:r>
            <a:r>
              <a:rPr lang="en-US" altLang="en-US" dirty="0"/>
              <a:t>a da marca em contextos de pós-treino, corrida e metas físicas refor</a:t>
            </a:r>
            <a:r>
              <a:rPr lang="" altLang="en-US" dirty="0"/>
              <a:t>ç</a:t>
            </a:r>
            <a:r>
              <a:rPr lang="en-US" altLang="en-US" dirty="0"/>
              <a:t>a sua credencial de leveza, mas ainda não comunica de forma explícita sua relevância para adultos que buscam essa escolha em outras situa</a:t>
            </a:r>
            <a:r>
              <a:rPr lang="" altLang="en-US" dirty="0"/>
              <a:t>çõ</a:t>
            </a:r>
            <a:r>
              <a:rPr lang="en-US" altLang="en-US" dirty="0"/>
              <a:t>es de convivência.</a:t>
            </a:r>
          </a:p>
          <a:p>
            <a:pPr>
              <a:spcBef>
                <a:spcPts val="8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lang="pt-BR" dirty="0"/>
              <a:t>• Conhecimento limitado do posicionamento (hipótese do case):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dirty="0"/>
              <a:t>Parte do público-alvo pode desconhecer a proposta Ultra Light Premium ou confundi-la com uma cerveja tradicional da prateleira.</a:t>
            </a:r>
          </a:p>
          <a:p>
            <a:pPr>
              <a:spcBef>
                <a:spcPts val="8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Estigma</a:t>
            </a:r>
            <a:r>
              <a:rPr dirty="0"/>
              <a:t> Sensorial Histórico: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Memória</a:t>
            </a:r>
            <a:r>
              <a:rPr dirty="0"/>
              <a:t> </a:t>
            </a:r>
            <a:r>
              <a:rPr dirty="0" err="1"/>
              <a:t>afetiva</a:t>
            </a:r>
            <a:r>
              <a:rPr dirty="0"/>
              <a:t> </a:t>
            </a:r>
            <a:r>
              <a:rPr dirty="0" err="1"/>
              <a:t>negativa</a:t>
            </a:r>
            <a:r>
              <a:rPr dirty="0"/>
              <a:t> de </a:t>
            </a:r>
            <a:r>
              <a:rPr dirty="0" err="1"/>
              <a:t>cervejas</a:t>
            </a:r>
            <a:r>
              <a:rPr dirty="0"/>
              <a:t> light (</a:t>
            </a:r>
            <a:r>
              <a:rPr dirty="0" err="1"/>
              <a:t>Aguadas</a:t>
            </a:r>
            <a:r>
              <a:rPr dirty="0"/>
              <a:t>),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exige</a:t>
            </a:r>
            <a:r>
              <a:rPr dirty="0"/>
              <a:t> </a:t>
            </a:r>
            <a:r>
              <a:rPr dirty="0" err="1"/>
              <a:t>ativações</a:t>
            </a:r>
            <a:r>
              <a:rPr dirty="0"/>
              <a:t> </a:t>
            </a:r>
            <a:r>
              <a:rPr dirty="0" err="1"/>
              <a:t>agressivas</a:t>
            </a:r>
            <a:r>
              <a:rPr dirty="0"/>
              <a:t> para </a:t>
            </a:r>
            <a:r>
              <a:rPr dirty="0" err="1"/>
              <a:t>provar</a:t>
            </a:r>
            <a:r>
              <a:rPr dirty="0"/>
              <a:t> </a:t>
            </a:r>
            <a:r>
              <a:rPr dirty="0" err="1"/>
              <a:t>sabor</a:t>
            </a:r>
            <a:r>
              <a:rPr dirty="0"/>
              <a:t> e </a:t>
            </a:r>
            <a:r>
              <a:rPr dirty="0" err="1"/>
              <a:t>corpo</a:t>
            </a:r>
            <a:r>
              <a:rPr dirty="0"/>
              <a:t> puro </a:t>
            </a:r>
            <a:r>
              <a:rPr dirty="0" err="1"/>
              <a:t>malte</a:t>
            </a:r>
            <a:r>
              <a:rPr dirty="0"/>
              <a:t>.</a:t>
            </a:r>
          </a:p>
          <a:p>
            <a:pPr>
              <a:spcBef>
                <a:spcPts val="8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dirty="0"/>
              <a:t>• Resistência nos bares e cardápios (hipótese do case):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dirty="0"/>
              <a:t>Bares tradicionais podem hesitar em reservar espaço em geladeira, cardápio ou ponto de venda para uma cerveja de menor teor calórico.</a:t>
            </a:r>
          </a:p>
          <a:p>
            <a:pPr>
              <a:spcBef>
                <a:spcPts val="800"/>
              </a:spcBef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dirty="0"/>
              <a:t>• Limites regulatórios e de linguagem (CONAR / Anvisa):</a:t>
            </a:r>
          </a:p>
          <a:p>
            <a:pPr>
              <a:defRPr sz="1050">
                <a:solidFill>
                  <a:srgbClr val="1B2A4A"/>
                </a:solidFill>
                <a:latin typeface="Calibri"/>
              </a:defRPr>
            </a:pPr>
            <a:r>
              <a:rPr dirty="0"/>
              <a:t>A comunicação deve passar por validação regulatória antes da execução e evitar atribuir benefício à saúde ou desempenho físico ao consumo da cerveja.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689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ESTRATÉGIA DE SOLUÇÃO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3384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 panose="02040502050405090303"/>
              </a:defRPr>
            </a:pPr>
            <a:r>
              <a:t>Estratégia Central</a:t>
            </a:r>
          </a:p>
        </p:txBody>
      </p:sp>
      <p:sp>
        <p:nvSpPr>
          <p:cNvPr id="4" name="Rectangle 3"/>
          <p:cNvSpPr/>
          <p:nvPr/>
        </p:nvSpPr>
        <p:spPr>
          <a:xfrm flipV="1">
            <a:off x="731520" y="1284605"/>
            <a:ext cx="10988675" cy="762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68300" y="1554480"/>
            <a:ext cx="4726305" cy="5037455"/>
          </a:xfrm>
          <a:prstGeom prst="roundRect">
            <a:avLst/>
          </a:prstGeom>
          <a:noFill/>
          <a:ln w="12700" cap="flat" cmpd="sng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0F4C81"/>
                </a:solidFill>
                <a:latin typeface="Georgia" panose="02040502050405090303"/>
              </a:defRPr>
            </a:pPr>
            <a:r>
              <a:rPr dirty="0"/>
              <a:t>1. ESTRATÉGIA CENTRAL DE SOLUÇÃO</a:t>
            </a:r>
          </a:p>
          <a:p>
            <a:pPr algn="ctr">
              <a:defRPr sz="1300" b="1">
                <a:solidFill>
                  <a:srgbClr val="0F4C81"/>
                </a:solidFill>
                <a:latin typeface="Georgia" panose="02040502050405090303"/>
              </a:defRPr>
            </a:pPr>
            <a:endParaRPr dirty="0"/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en-US" altLang="en-US" dirty="0">
                <a:sym typeface="+mn-ea"/>
              </a:rPr>
              <a:t>• </a:t>
            </a:r>
            <a:r>
              <a:rPr lang="pt-BR" altLang="en-US" dirty="0">
                <a:sym typeface="+mn-ea"/>
              </a:rPr>
              <a:t>APRESENTAR A NOVA LINHA</a:t>
            </a:r>
            <a:r>
              <a:rPr lang="en-US" altLang="en-US" dirty="0">
                <a:sym typeface="+mn-ea"/>
              </a:rPr>
              <a:t> </a:t>
            </a:r>
            <a:r>
              <a:rPr lang="pt-BR" altLang="en-US" dirty="0">
                <a:sym typeface="+mn-ea"/>
              </a:rPr>
              <a:t>MICHELOB ULTRA </a:t>
            </a:r>
            <a:r>
              <a:rPr lang="en-US" altLang="en-US" dirty="0">
                <a:sym typeface="+mn-ea"/>
              </a:rPr>
              <a:t>MOMENTS</a:t>
            </a:r>
            <a:endParaRPr lang="en-US" altLang="en-US" dirty="0"/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en-US" altLang="en-US" dirty="0">
                <a:sym typeface="+mn-ea"/>
              </a:rPr>
              <a:t>Apresentar o novo produto como uma alternativa dentro do portfólio Michelob Ultra: 2,0% de álcool, teor calórico significativamente reduzido e uma proposta orientada a momentos de socialização e consumo mais moderado.</a:t>
            </a:r>
            <a:endParaRPr lang="en-US" altLang="en-US" dirty="0"/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en-US" altLang="en-US" dirty="0"/>
              <a:t>• PROVAR SABOR E LEVEZA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en-US" altLang="en-US" dirty="0"/>
              <a:t>Superar a percep</a:t>
            </a:r>
            <a:r>
              <a:rPr lang="" altLang="en-US" dirty="0"/>
              <a:t>ç</a:t>
            </a:r>
            <a:r>
              <a:rPr lang="en-US" altLang="en-US" dirty="0"/>
              <a:t>ão de que uma cerveja com menor teor alcoólico e calórico entrega menos sabor, utilizando experimenta</a:t>
            </a:r>
            <a:r>
              <a:rPr lang="" altLang="en-US" dirty="0"/>
              <a:t>ç</a:t>
            </a:r>
            <a:r>
              <a:rPr lang="en-US" altLang="en-US" dirty="0"/>
              <a:t>ão, degusta</a:t>
            </a:r>
            <a:r>
              <a:rPr lang="" altLang="en-US" dirty="0"/>
              <a:t>ç</a:t>
            </a:r>
            <a:r>
              <a:rPr lang="en-US" altLang="en-US" dirty="0"/>
              <a:t>ão e comunica</a:t>
            </a:r>
            <a:r>
              <a:rPr lang="" altLang="en-US" dirty="0"/>
              <a:t>ç</a:t>
            </a:r>
            <a:r>
              <a:rPr lang="en-US" altLang="en-US" dirty="0"/>
              <a:t>ão dos atributos do produto.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en-US" altLang="en-US" dirty="0"/>
              <a:t>• CRIAR NOVAS OCASI</a:t>
            </a:r>
            <a:r>
              <a:rPr lang="" altLang="en-US" dirty="0"/>
              <a:t>Õ</a:t>
            </a:r>
            <a:r>
              <a:rPr lang="en-US" altLang="en-US" dirty="0"/>
              <a:t>ES DE CONSUMO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en-US" altLang="en-US" dirty="0"/>
              <a:t>Posicionar Michelob Ultra Moments para situa</a:t>
            </a:r>
            <a:r>
              <a:rPr lang="" altLang="en-US" dirty="0"/>
              <a:t>çõ</a:t>
            </a:r>
            <a:r>
              <a:rPr lang="en-US" altLang="en-US" dirty="0"/>
              <a:t>es em que o consumidor deseja socializar com maior leveza, como almo</a:t>
            </a:r>
            <a:r>
              <a:rPr lang="" altLang="en-US" dirty="0"/>
              <a:t>ç</a:t>
            </a:r>
            <a:r>
              <a:rPr lang="en-US" altLang="en-US" dirty="0"/>
              <a:t>os, encontros diurnos, happy hours, churrascos, festivais e eventos sociais.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en-US" altLang="en-US" dirty="0"/>
              <a:t>• AMPLIAR O TERRIT</a:t>
            </a:r>
            <a:r>
              <a:rPr lang="" altLang="en-US" dirty="0"/>
              <a:t>Ó</a:t>
            </a:r>
            <a:r>
              <a:rPr lang="en-US" altLang="en-US" dirty="0"/>
              <a:t>RIO DA MARCA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en-US" altLang="en-US" dirty="0"/>
              <a:t>Preservar a conexão da Michelob Ultra com esporte e estilo de vida ativo, mas ampliar sua comunica</a:t>
            </a:r>
            <a:r>
              <a:rPr lang="" altLang="en-US" dirty="0"/>
              <a:t>ç</a:t>
            </a:r>
            <a:r>
              <a:rPr lang="en-US" altLang="en-US" dirty="0"/>
              <a:t>ão para consumidores que valorizam equilíbrio e bem-estar sem necessariamente se identificarem com o universo esportivo.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en-US" altLang="en-US" dirty="0"/>
              <a:t>A estratégia não é substituir a cerveja tradicional, mas criar uma nova escolha para novos momentos.</a:t>
            </a:r>
          </a:p>
        </p:txBody>
      </p:sp>
      <p:pic>
        <p:nvPicPr>
          <p:cNvPr id="14" name="Picture 13" descr="Michelob_Moments_v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015" y="1903730"/>
            <a:ext cx="6785610" cy="4525645"/>
          </a:xfrm>
          <a:prstGeom prst="rect">
            <a:avLst/>
          </a:prstGeom>
          <a:ln>
            <a:noFill/>
          </a:ln>
          <a:effectLst/>
          <a:scene3d>
            <a:camera prst="orthographicFront"/>
            <a:lightRig rig="threePt" dir="t"/>
          </a:scene3d>
          <a:sp3d extrusionH="76200" contourW="12700">
            <a:extrusionClr>
              <a:schemeClr val="tx1"/>
            </a:extrusionClr>
            <a:contourClr>
              <a:schemeClr val="tx1">
                <a:lumMod val="50000"/>
                <a:lumOff val="50000"/>
              </a:schemeClr>
            </a:contourClr>
          </a:sp3d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689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ESTRATÉGIA DE SOLUÇÃO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3384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 panose="02040502050405090303"/>
              </a:defRPr>
            </a:pPr>
            <a:r>
              <a:t>Plano Tático GTM e Matriz de Mídias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75250" cy="23463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D9822B"/>
                </a:solidFill>
                <a:latin typeface="Georgia" panose="02040502050405090303"/>
              </a:defRPr>
            </a:pPr>
            <a:r>
              <a:rPr lang="pt-BR" dirty="0"/>
              <a:t>2. PLANO TÁTICO DE GTM (EM 5 FASES)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>
                <a:sym typeface="+mn-ea"/>
              </a:rPr>
              <a:t>• Onda 1 (</a:t>
            </a:r>
            <a:r>
              <a:rPr lang="en-US" altLang="en-US" sz="900" dirty="0">
                <a:sym typeface="+mn-ea"/>
              </a:rPr>
              <a:t>Lan</a:t>
            </a:r>
            <a:r>
              <a:rPr lang="" altLang="en-US" sz="900" dirty="0">
                <a:sym typeface="+mn-ea"/>
              </a:rPr>
              <a:t>ç</a:t>
            </a:r>
            <a:r>
              <a:rPr lang="en-US" altLang="en-US" sz="900" dirty="0">
                <a:sym typeface="+mn-ea"/>
              </a:rPr>
              <a:t>amento e Awareness</a:t>
            </a:r>
            <a:r>
              <a:rPr lang="pt-BR" sz="900" dirty="0">
                <a:sym typeface="+mn-ea"/>
              </a:rPr>
              <a:t>): </a:t>
            </a:r>
            <a:r>
              <a:rPr lang="en-US" altLang="en-US" sz="900" dirty="0">
                <a:sym typeface="+mn-ea"/>
              </a:rPr>
              <a:t>Apresenta</a:t>
            </a:r>
            <a:r>
              <a:rPr lang="" altLang="en-US" sz="900" dirty="0">
                <a:sym typeface="+mn-ea"/>
              </a:rPr>
              <a:t>ç</a:t>
            </a:r>
            <a:r>
              <a:rPr lang="en-US" altLang="en-US" sz="900" dirty="0">
                <a:sym typeface="+mn-ea"/>
              </a:rPr>
              <a:t>ão da Michelob Ultra Moments, destacando 2,0% de álcool, teor calórico significativamente reduzido e sabor, com campanha digital, influenciadores e mídia de alcance.</a:t>
            </a:r>
            <a:r>
              <a:rPr lang="pt-BR" altLang="en-US" sz="900" dirty="0">
                <a:sym typeface="+mn-ea"/>
              </a:rPr>
              <a:t> </a:t>
            </a:r>
            <a:endParaRPr lang="en-US" altLang="en-US" sz="900" dirty="0">
              <a:sym typeface="+mn-ea"/>
            </a:endParaRP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Onda 2 (Degustação): degustação guiada em bares, eventos gastronômicos, festivais e pontos de venda.</a:t>
            </a:r>
            <a:br>
              <a:rPr sz="900" dirty="0"/>
            </a:br>
            <a:r>
              <a:rPr lang="pt-BR" sz="900" dirty="0"/>
              <a:t>• Onda 3 (Disponibilidade e visibilidade nos canais de venda): ponta de gôndola, geladeiras e presença destacada em grandes redes, empórios, bares e restaurantes.</a:t>
            </a:r>
            <a:br>
              <a:rPr sz="900" dirty="0"/>
            </a:br>
            <a:r>
              <a:rPr lang="pt-BR" sz="900" dirty="0"/>
              <a:t>• Onda 4 (Ocasiões): Campanhas voltadas a almoços, happy hours, encontros casuais, churrascos, festivais, futebol e eventos de entretenimento.</a:t>
            </a:r>
            <a:br>
              <a:rPr sz="900" dirty="0"/>
            </a:br>
            <a:r>
              <a:rPr lang="pt-BR" sz="900" dirty="0"/>
              <a:t>• Onda 5 (Relacionamento): piloto de aquisição e recompra com conteúdo digital, QR code de degustação, cupom rastreável e CRM no Zé Delivery, em regiões e canais priorizados.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00445" y="1554480"/>
            <a:ext cx="5175250" cy="51638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0F4C81"/>
                </a:solidFill>
                <a:latin typeface="Georgia" panose="02040502050405090303"/>
              </a:defRPr>
            </a:pPr>
            <a:r>
              <a:rPr dirty="0"/>
              <a:t>3. DADOS DE APRENDIZADO &amp; CURIOSIDADES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Pesquisa brasileira da FGV, com 581 respondentes, identificou baixo teor de carboidratos como o atributo mais relevante para a percepção de saudabilidade; orgânico e baixa caloria vieram em seguida.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Nos grupos de discussão, o termo “light” gerou desconfiança em parte dos participantes; a leveza precisa ser acompanhada de prova de sabor.  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Aprendizado para a estratégia: comunicar atributos concretos do produto e comprovar sabor por degustação; manter o esporte como credencial complementar, não como argumento central de aquisição. 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Fonte: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u="sng" dirty="0">
                <a:solidFill>
                  <a:srgbClr val="0F4C81"/>
                </a:solidFill>
                <a:latin typeface="Aptos"/>
                <a:hlinkClick r:id="rId3"/>
              </a:rPr>
              <a:t>Cerveja e Saudabilidade: Como a Percepção de Saudabilidade de uma Cerveja Afeta a Intenção de Compra do Consumidor - FGV</a:t>
            </a:r>
            <a:r>
              <a:rPr lang="pt-BR" sz="900" dirty="0">
                <a:solidFill>
                  <a:srgbClr val="4D4D4D"/>
                </a:solidFill>
                <a:latin typeface="Aptos"/>
              </a:rPr>
              <a:t>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endParaRPr sz="900" dirty="0"/>
          </a:p>
        </p:txBody>
      </p:sp>
      <p:sp>
        <p:nvSpPr>
          <p:cNvPr id="8" name="Rounded Rectangle 7"/>
          <p:cNvSpPr/>
          <p:nvPr/>
        </p:nvSpPr>
        <p:spPr>
          <a:xfrm>
            <a:off x="731520" y="4010025"/>
            <a:ext cx="5175250" cy="269176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D9822B"/>
                </a:solidFill>
                <a:latin typeface="Georgia" panose="02040502050405090303"/>
              </a:defRPr>
            </a:pPr>
            <a:r>
              <a:rPr dirty="0"/>
              <a:t>4. MATRIZ DE MÍDIAS POR PÚBLICO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</a:t>
            </a:r>
            <a:r>
              <a:rPr lang="pt-BR" sz="900" dirty="0" err="1"/>
              <a:t>Millennials</a:t>
            </a:r>
            <a:r>
              <a:rPr lang="pt-BR" sz="900" dirty="0"/>
              <a:t> — 50% do investimento: Instagram, podcasts, criadores de conteúdo e CRM no Zé Delivery.  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Geração Z — 30% do investimento: TikTok, festivais, criadores de conteúdo e ativações em eventos sociais.  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Geração X — 20% do investimento: ponto de venda físico, empórios, supermercados, bares e comunicação sobre controle calórico, leveza, sabor e conveniência.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endParaRPr lang="pt-BR" sz="900" dirty="0"/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>
                <a:solidFill>
                  <a:srgbClr val="1B2A4A"/>
                </a:solidFill>
                <a:latin typeface="Calibri"/>
              </a:rPr>
              <a:t>Fontes usadas para avaliar a distribuição inicial de investimento a validar no piloto: </a:t>
            </a:r>
          </a:p>
          <a:p>
            <a:pPr algn="l">
              <a:spcBef>
                <a:spcPts val="2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en-US" sz="900" u="sng" dirty="0">
                <a:solidFill>
                  <a:srgbClr val="0F4C81"/>
                </a:solidFill>
                <a:latin typeface="Aptos"/>
                <a:hlinkClick r:id="rId4"/>
              </a:rPr>
              <a:t>Michelob ULTRA Target Market: 2.2M People in United States (2026) — Age, Gender &amp; Regions- Rascasse Audience Intelligence</a:t>
            </a:r>
            <a:r>
              <a:rPr sz="900" dirty="0">
                <a:solidFill>
                  <a:srgbClr val="4D4D4D"/>
                </a:solidFill>
                <a:latin typeface="Aptos"/>
              </a:rPr>
              <a:t>; </a:t>
            </a:r>
            <a:endParaRPr lang="pt-BR" sz="900" dirty="0">
              <a:solidFill>
                <a:srgbClr val="4D4D4D"/>
              </a:solidFill>
              <a:latin typeface="Aptos"/>
            </a:endParaRPr>
          </a:p>
          <a:p>
            <a:pPr algn="l">
              <a:spcBef>
                <a:spcPts val="2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sz="900" u="sng" dirty="0" err="1">
                <a:solidFill>
                  <a:srgbClr val="0F4C81"/>
                </a:solidFill>
                <a:latin typeface="Aptos"/>
                <a:hlinkClick r:id="rId5"/>
              </a:rPr>
              <a:t>Zé</a:t>
            </a:r>
            <a:r>
              <a:rPr sz="900" u="sng" dirty="0">
                <a:solidFill>
                  <a:srgbClr val="0F4C81"/>
                </a:solidFill>
                <a:latin typeface="Aptos"/>
                <a:hlinkClick r:id="rId5"/>
              </a:rPr>
              <a:t> Delivery </a:t>
            </a:r>
            <a:r>
              <a:rPr sz="900" u="sng" dirty="0" err="1">
                <a:solidFill>
                  <a:srgbClr val="0F4C81"/>
                </a:solidFill>
                <a:latin typeface="Aptos"/>
                <a:hlinkClick r:id="rId5"/>
              </a:rPr>
              <a:t>oferece</a:t>
            </a:r>
            <a:r>
              <a:rPr sz="900" u="sng" dirty="0">
                <a:solidFill>
                  <a:srgbClr val="0F4C81"/>
                </a:solidFill>
                <a:latin typeface="Aptos"/>
                <a:hlinkClick r:id="rId5"/>
              </a:rPr>
              <a:t> </a:t>
            </a:r>
            <a:r>
              <a:rPr sz="900" u="sng" dirty="0" err="1">
                <a:solidFill>
                  <a:srgbClr val="0F4C81"/>
                </a:solidFill>
                <a:latin typeface="Aptos"/>
                <a:hlinkClick r:id="rId5"/>
              </a:rPr>
              <a:t>até</a:t>
            </a:r>
            <a:r>
              <a:rPr sz="900" u="sng" dirty="0">
                <a:solidFill>
                  <a:srgbClr val="0F4C81"/>
                </a:solidFill>
                <a:latin typeface="Aptos"/>
                <a:hlinkClick r:id="rId5"/>
              </a:rPr>
              <a:t> 40% off no </a:t>
            </a:r>
            <a:r>
              <a:rPr sz="900" u="sng" dirty="0" err="1">
                <a:solidFill>
                  <a:srgbClr val="0F4C81"/>
                </a:solidFill>
                <a:latin typeface="Aptos"/>
                <a:hlinkClick r:id="rId5"/>
              </a:rPr>
              <a:t>mês</a:t>
            </a:r>
            <a:r>
              <a:rPr sz="900" u="sng" dirty="0">
                <a:solidFill>
                  <a:srgbClr val="0F4C81"/>
                </a:solidFill>
                <a:latin typeface="Aptos"/>
                <a:hlinkClick r:id="rId5"/>
              </a:rPr>
              <a:t> da </a:t>
            </a:r>
            <a:r>
              <a:rPr sz="900" u="sng" dirty="0" err="1">
                <a:solidFill>
                  <a:srgbClr val="0F4C81"/>
                </a:solidFill>
                <a:latin typeface="Aptos"/>
                <a:hlinkClick r:id="rId5"/>
              </a:rPr>
              <a:t>cerveja</a:t>
            </a:r>
            <a:r>
              <a:rPr sz="900" u="sng" dirty="0">
                <a:solidFill>
                  <a:srgbClr val="0F4C81"/>
                </a:solidFill>
                <a:latin typeface="Aptos"/>
                <a:hlinkClick r:id="rId5"/>
              </a:rPr>
              <a:t> — </a:t>
            </a:r>
            <a:r>
              <a:rPr sz="900" u="sng" dirty="0" err="1">
                <a:solidFill>
                  <a:srgbClr val="0F4C81"/>
                </a:solidFill>
                <a:latin typeface="Aptos"/>
                <a:hlinkClick r:id="rId5"/>
              </a:rPr>
              <a:t>Adnews</a:t>
            </a:r>
            <a:r>
              <a:rPr sz="900" dirty="0">
                <a:solidFill>
                  <a:srgbClr val="4D4D4D"/>
                </a:solidFill>
                <a:latin typeface="Aptos"/>
              </a:rPr>
              <a:t>;</a:t>
            </a:r>
            <a:endParaRPr lang="pt-BR" sz="900" dirty="0">
              <a:solidFill>
                <a:srgbClr val="4D4D4D"/>
              </a:solidFill>
              <a:latin typeface="Aptos"/>
            </a:endParaRPr>
          </a:p>
          <a:p>
            <a:pPr algn="l">
              <a:spcBef>
                <a:spcPts val="2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u="sng" dirty="0">
                <a:solidFill>
                  <a:srgbClr val="0F4C81"/>
                </a:solidFill>
                <a:latin typeface="Aptos"/>
                <a:hlinkClick r:id="rId3"/>
              </a:rPr>
              <a:t>Cerveja e Saudabilidade: Como a Percepção de Saudabilidade de uma Cerveja Afeta a Intenção de Compra do Consumidor - FGV</a:t>
            </a:r>
            <a:r>
              <a:rPr sz="900" dirty="0">
                <a:solidFill>
                  <a:srgbClr val="4D4D4D"/>
                </a:solidFill>
                <a:latin typeface="Aptos"/>
              </a:rPr>
              <a:t>.</a:t>
            </a:r>
            <a:endParaRPr lang="pt-BR" sz="800" dirty="0">
              <a:solidFill>
                <a:srgbClr val="4D4D4D"/>
              </a:solidFill>
              <a:latin typeface="Aptos"/>
            </a:endParaRP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689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RESULTADOS PRETENDIDOS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 panose="02040502050405090303"/>
              </a:defRPr>
            </a:pPr>
            <a:r>
              <a:t>Metas de Conquista e Indicadores Chave de Desempenho (KPIs)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77516" y="1455821"/>
            <a:ext cx="5329508" cy="224750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0F4C81"/>
                </a:solidFill>
                <a:latin typeface="Georgia" panose="02040502050405090303"/>
              </a:defRPr>
            </a:pPr>
            <a:r>
              <a:rPr sz="1100" dirty="0"/>
              <a:t>1. AUMENTO DO CONHECIMENTO DA MARCA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sz="900" dirty="0"/>
              <a:t>A</a:t>
            </a:r>
            <a:r>
              <a:rPr lang="pt-BR" sz="900" dirty="0" err="1"/>
              <a:t>mpliar</a:t>
            </a:r>
            <a:r>
              <a:rPr lang="pt-BR" sz="900" dirty="0"/>
              <a:t> o reconhecimento da </a:t>
            </a:r>
            <a:r>
              <a:rPr lang="pt-BR" sz="900" dirty="0" err="1"/>
              <a:t>Michelob</a:t>
            </a:r>
            <a:r>
              <a:rPr lang="pt-BR" sz="900" dirty="0"/>
              <a:t> Ultra e lançar a Michelob Ultra Moments para adultos que valorizam leveza e socialização, inclusive entre aqueles que não se identificam com o universo esportivo.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Métricas chave: 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1. Taxa de engajamento nas mídias sociais.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2. Alcance e frequência da comunicação no novo público.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3. Evolução do conhecimento e da associação da </a:t>
            </a:r>
            <a:r>
              <a:rPr lang="pt-BR" sz="900" dirty="0" err="1"/>
              <a:t>Michelob</a:t>
            </a:r>
            <a:r>
              <a:rPr lang="pt-BR" sz="900" dirty="0"/>
              <a:t> Ultra a leveza, sabor e situações de socialização além do esporte.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Instrumentos: relatórios das mídias sociais e dos demais canais digitais utilizados; pesquisa breve antes e depois da campanha, divulgada digitalmente e por QR </a:t>
            </a:r>
            <a:r>
              <a:rPr lang="pt-BR" sz="900" dirty="0" err="1"/>
              <a:t>code</a:t>
            </a:r>
            <a:r>
              <a:rPr lang="pt-BR" sz="900" dirty="0"/>
              <a:t> em degustações, bares e eventos.</a:t>
            </a:r>
            <a:br>
              <a:rPr sz="1000" dirty="0"/>
            </a:br>
            <a:endParaRPr sz="1000" dirty="0"/>
          </a:p>
        </p:txBody>
      </p:sp>
      <p:sp>
        <p:nvSpPr>
          <p:cNvPr id="6" name="Rounded Rectangle 5"/>
          <p:cNvSpPr/>
          <p:nvPr/>
        </p:nvSpPr>
        <p:spPr>
          <a:xfrm>
            <a:off x="6272783" y="1455821"/>
            <a:ext cx="5329507" cy="224750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D9822B"/>
                </a:solidFill>
                <a:latin typeface="Georgia" panose="02040502050405090303"/>
              </a:defRPr>
            </a:pPr>
            <a:r>
              <a:rPr sz="1100" b="1" dirty="0">
                <a:solidFill>
                  <a:srgbClr val="0F4C81"/>
                </a:solidFill>
                <a:latin typeface="Georgia" panose="02040502050405090303"/>
              </a:rPr>
              <a:t>2. CONQUISTA DE</a:t>
            </a:r>
            <a:r>
              <a:rPr lang="pt-BR" sz="1100" b="1" dirty="0">
                <a:solidFill>
                  <a:srgbClr val="0F4C81"/>
                </a:solidFill>
                <a:latin typeface="Georgia" panose="02040502050405090303"/>
              </a:rPr>
              <a:t> NOVOS CONSUMIDORES E </a:t>
            </a:r>
            <a:r>
              <a:rPr sz="1100" b="1" dirty="0">
                <a:solidFill>
                  <a:srgbClr val="0F4C81"/>
                </a:solidFill>
                <a:latin typeface="Georgia" panose="02040502050405090303"/>
              </a:rPr>
              <a:t> NOVAS OCASIÕES DE CONSUMO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Inserir a </a:t>
            </a:r>
            <a:r>
              <a:rPr lang="pt-BR" sz="900" dirty="0" err="1"/>
              <a:t>Michelob</a:t>
            </a:r>
            <a:r>
              <a:rPr lang="pt-BR" sz="900" dirty="0"/>
              <a:t> Ultra em almoços, </a:t>
            </a:r>
            <a:r>
              <a:rPr lang="pt-BR" sz="900" dirty="0" err="1"/>
              <a:t>happy</a:t>
            </a:r>
            <a:r>
              <a:rPr lang="pt-BR" sz="900" dirty="0"/>
              <a:t> hours, encontros casuais, churrascos, festivais e ocasiões ligadas ao futebol, atraindo adultos que buscam uma cerveja premium leve para socializar.</a:t>
            </a:r>
            <a:br>
              <a:rPr sz="900" dirty="0"/>
            </a:br>
            <a:br>
              <a:rPr sz="900" dirty="0"/>
            </a:br>
            <a:r>
              <a:rPr sz="900" dirty="0"/>
              <a:t>• </a:t>
            </a:r>
            <a:r>
              <a:rPr sz="900" dirty="0" err="1"/>
              <a:t>Métricas</a:t>
            </a:r>
            <a:r>
              <a:rPr sz="900" dirty="0"/>
              <a:t> </a:t>
            </a:r>
            <a:r>
              <a:rPr lang="pt-BR" sz="900" dirty="0"/>
              <a:t>c</a:t>
            </a:r>
            <a:r>
              <a:rPr sz="900" dirty="0"/>
              <a:t>have: </a:t>
            </a:r>
            <a:endParaRPr lang="pt-BR" sz="900" dirty="0"/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1. Taxa de experimentação nas ativações e nos pontos de venda priorizados.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2. Participação de novos compradores entre os consumidores identificados nas plataformas de entrega e de relacionamento.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3. Frequência de compra nas ocasiões priorizadas.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Instrumentos: QR </a:t>
            </a:r>
            <a:r>
              <a:rPr lang="pt-BR" sz="900" dirty="0" err="1"/>
              <a:t>codes</a:t>
            </a:r>
            <a:r>
              <a:rPr lang="pt-BR" sz="900" dirty="0"/>
              <a:t> e cupons distribuídos em degustações e ativações; relatórios de resgate; dados de compra das plataformas de entrega e de relacionamento; pesquisa breve após a ação.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7515" y="3905448"/>
            <a:ext cx="5329508" cy="224750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0F4C81"/>
                </a:solidFill>
                <a:latin typeface="Georgia" panose="02040502050405090303"/>
              </a:defRPr>
            </a:pPr>
            <a:r>
              <a:rPr sz="1100" b="1" dirty="0">
                <a:solidFill>
                  <a:srgbClr val="0F4C81"/>
                </a:solidFill>
                <a:latin typeface="Georgia" panose="02040502050405090303"/>
              </a:rPr>
              <a:t>3. AMPLIAÇÃO DA DISPONIBILIDADE E PRESENÇA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Expandir a presença em supermercados, bares, restaurantes, entrega e pontos associados a ocasiões sociais e de convivência, reduzindo as barreiras entre intenção e compra.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Métricas chave: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1. Número de pontos de venda, bares, restaurantes e canais de entrega com </a:t>
            </a:r>
            <a:r>
              <a:rPr lang="pt-BR" sz="900" dirty="0" err="1"/>
              <a:t>Michelob</a:t>
            </a:r>
            <a:r>
              <a:rPr lang="pt-BR" sz="900" dirty="0"/>
              <a:t> Ultra disponível, por região.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2. Percentual dos pontos de venda priorizados que mantêm o produto disponível e visível em geladeira, gôndola ou cardápio.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3. Cobertura da marca nos canais de entrega selecionados.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Instrumentos: relatórios de distribuidores e varejistas; auditorias periódicas nos pontos de venda; verificação de cardápios e catálogos das plataformas de entrega.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endParaRPr sz="1000" dirty="0"/>
          </a:p>
        </p:txBody>
      </p:sp>
      <p:sp>
        <p:nvSpPr>
          <p:cNvPr id="8" name="Rounded Rectangle 7"/>
          <p:cNvSpPr/>
          <p:nvPr/>
        </p:nvSpPr>
        <p:spPr>
          <a:xfrm>
            <a:off x="6272783" y="3900636"/>
            <a:ext cx="5329506" cy="225231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D9822B"/>
                </a:solidFill>
                <a:latin typeface="Georgia" panose="02040502050405090303"/>
              </a:defRPr>
            </a:pPr>
            <a:r>
              <a:rPr sz="1100" b="1" dirty="0">
                <a:solidFill>
                  <a:srgbClr val="0F4C81"/>
                </a:solidFill>
                <a:latin typeface="Georgia" panose="02040502050405090303"/>
              </a:rPr>
              <a:t>4. GERAÇÃO DE CRESCIMENTO SUSTENTÁVEL</a:t>
            </a:r>
            <a:endParaRPr lang="pt-BR" sz="1100" b="1" dirty="0">
              <a:solidFill>
                <a:srgbClr val="0F4C81"/>
              </a:solidFill>
              <a:latin typeface="Georgia" panose="02040502050405090303"/>
            </a:endParaRP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Atrair novos consumidores, aumentar a frequência de compra e gerar vendas incrementais, transformando a experimentação em compra recorrente.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Métricas chave: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1. Volume total de vendas e variação de vendas nas regiões e canais ativados.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2. Participação de novos compradores.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3. Taxa de recompra e intervalo médio entre compras.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4. Ciclo de reposição dos distribuidores.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• Instrumentos: relatórios de vendas da companhia, distribuidores e varejistas; dados das plataformas de entrega e de relacionamento; comparação dos resultados antes e depois das ações nos canais e regiões ativados.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endParaRPr lang="pt-BR" sz="1000" dirty="0"/>
          </a:p>
        </p:txBody>
      </p:sp>
      <p:sp>
        <p:nvSpPr>
          <p:cNvPr id="9" name="Rounded Rectangle 8"/>
          <p:cNvSpPr/>
          <p:nvPr/>
        </p:nvSpPr>
        <p:spPr>
          <a:xfrm>
            <a:off x="502920" y="6291072"/>
            <a:ext cx="11155680" cy="365760"/>
          </a:xfrm>
          <a:prstGeom prst="roundRect">
            <a:avLst/>
          </a:prstGeom>
          <a:solidFill>
            <a:srgbClr val="0F4C81"/>
          </a:solidFill>
          <a:ln w="15240">
            <a:solidFill>
              <a:srgbClr val="D982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O piloto transforma métricas em decisão: medir antes, ativar, comparar e escalar o que gerar aquisição e recompra.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689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ANÁLISE DE CONCORRENTES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 panose="02040502050405090303"/>
              </a:defRPr>
            </a:pPr>
            <a:r>
              <a:t>Mapeamento do Cenário Competitivo Direto e Indireto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66647" y="2194560"/>
            <a:ext cx="47548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51560" rIns="228600" bIns="182880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0F4C81"/>
                </a:solidFill>
                <a:latin typeface="Georgia" panose="02040502050405090303"/>
              </a:defRPr>
            </a:pPr>
            <a:r>
              <a:rPr sz="1700" b="1" dirty="0"/>
              <a:t>1. AMSTEL ULTRA</a:t>
            </a:r>
          </a:p>
          <a:p>
            <a:pPr>
              <a:spcBef>
                <a:spcPts val="400"/>
              </a:spcBef>
              <a:defRPr sz="1100">
                <a:solidFill>
                  <a:srgbClr val="1B2A4A"/>
                </a:solidFill>
                <a:latin typeface="Calibri"/>
              </a:defRPr>
            </a:pPr>
            <a:r>
              <a:rPr sz="1050" dirty="0"/>
              <a:t>• Linha de frente: Long neck de 275 ml com 72 kcal e 4% ABV.</a:t>
            </a:r>
            <a:br>
              <a:rPr dirty="0"/>
            </a:br>
            <a:r>
              <a:rPr sz="1050" dirty="0"/>
              <a:t>• Atributos: Cerveja com álcool, menor teor calórico, puro malte, low carb e sem glúten.</a:t>
            </a:r>
            <a:br>
              <a:rPr dirty="0"/>
            </a:br>
            <a:br>
              <a:rPr dirty="0"/>
            </a:br>
            <a:r>
              <a:rPr sz="1050" dirty="0"/>
              <a:t>• Força Comercial: Marca do portfólio do Grupo Heineken; a versão Ultra reforça uma proposta de cerveja leve, puro malte, low carb e sem glúten.</a:t>
            </a:r>
            <a:br>
              <a:rPr dirty="0"/>
            </a:br>
            <a:br>
              <a:rPr dirty="0"/>
            </a:br>
            <a:r>
              <a:rPr sz="1050" dirty="0"/>
              <a:t>• Pressão sobre Michelob: Disputa familiaridade e valor percebido. Exige explicar por que a experiência Michelob merece preferência diante da porção de 275ml.</a:t>
            </a:r>
            <a:br>
              <a:rPr dirty="0"/>
            </a:br>
            <a:br>
              <a:rPr dirty="0"/>
            </a:br>
            <a:r>
              <a:rPr sz="1050" dirty="0"/>
              <a:t>• Fontes:</a:t>
            </a:r>
            <a:br>
              <a:rPr dirty="0"/>
            </a:br>
            <a:r>
              <a:rPr sz="1050" dirty="0"/>
              <a:t>  - Grupo Heineken Brasil: </a:t>
            </a:r>
            <a:r>
              <a:rPr lang="pt-BR" sz="1050" dirty="0">
                <a:hlinkClick r:id="rId3"/>
              </a:rPr>
              <a:t>Marcas do grupo Heineken</a:t>
            </a:r>
            <a:br>
              <a:rPr dirty="0"/>
            </a:br>
            <a:r>
              <a:rPr sz="1050" dirty="0"/>
              <a:t>  - Heineken Express: </a:t>
            </a:r>
            <a:r>
              <a:rPr lang="pt-BR" sz="1050" dirty="0" err="1">
                <a:hlinkClick r:id="rId4"/>
              </a:rPr>
              <a:t>Amstel</a:t>
            </a:r>
            <a:r>
              <a:rPr lang="pt-BR" sz="1050" dirty="0">
                <a:hlinkClick r:id="rId4"/>
              </a:rPr>
              <a:t> Cervejas</a:t>
            </a:r>
            <a:endParaRPr sz="1050" dirty="0"/>
          </a:p>
        </p:txBody>
      </p:sp>
      <p:sp>
        <p:nvSpPr>
          <p:cNvPr id="6" name="Rounded Rectangle 5"/>
          <p:cNvSpPr/>
          <p:nvPr/>
        </p:nvSpPr>
        <p:spPr>
          <a:xfrm>
            <a:off x="6370167" y="2194560"/>
            <a:ext cx="47548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51560" rIns="228600" bIns="182880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D9822B"/>
                </a:solidFill>
                <a:latin typeface="Georgia" panose="02040502050405090303"/>
              </a:defRPr>
            </a:pPr>
            <a:r>
              <a:rPr sz="1700" b="1" dirty="0"/>
              <a:t>2. HEINEKEN ULTIMATE</a:t>
            </a:r>
          </a:p>
          <a:p>
            <a:pPr>
              <a:spcBef>
                <a:spcPts val="400"/>
              </a:spcBef>
              <a:defRPr sz="1100">
                <a:solidFill>
                  <a:srgbClr val="1B2A4A"/>
                </a:solidFill>
                <a:latin typeface="Calibri"/>
              </a:defRPr>
            </a:pPr>
            <a:r>
              <a:rPr sz="1050" dirty="0"/>
              <a:t>• Linha de frente: Garrafa de 330 ml com 97 kcal, 3,5% ABV e sem glúten (redução de 30% calorias vs regular).</a:t>
            </a:r>
            <a:br>
              <a:rPr dirty="0"/>
            </a:br>
            <a:br>
              <a:rPr dirty="0"/>
            </a:br>
            <a:r>
              <a:rPr sz="1050" dirty="0"/>
              <a:t>• Proposta: Opção com menos calorias dentro de uma marca global já estabelecida (lançada no Brasil em maio/2026).</a:t>
            </a:r>
            <a:br>
              <a:rPr dirty="0"/>
            </a:br>
            <a:br>
              <a:rPr dirty="0"/>
            </a:br>
            <a:r>
              <a:rPr sz="1050" dirty="0"/>
              <a:t>• Pressão sobre Michelob: Retenção do consumidor habitual de Heineken que busca redução calórica.</a:t>
            </a:r>
            <a:br>
              <a:rPr dirty="0"/>
            </a:br>
            <a:br>
              <a:rPr dirty="0"/>
            </a:br>
            <a:r>
              <a:rPr sz="1050" dirty="0"/>
              <a:t>• Resposta Michelob: Focar em identidade própria de leveza, sabor superior e ativação de estilo de vida.</a:t>
            </a:r>
            <a:br>
              <a:rPr dirty="0"/>
            </a:br>
            <a:br>
              <a:rPr dirty="0"/>
            </a:br>
            <a:r>
              <a:rPr sz="1050" dirty="0"/>
              <a:t>• Fontes:</a:t>
            </a:r>
            <a:br>
              <a:rPr dirty="0"/>
            </a:br>
            <a:r>
              <a:rPr sz="1050" dirty="0"/>
              <a:t>  - Produto oficial: </a:t>
            </a:r>
            <a:r>
              <a:rPr lang="pt-BR" sz="1050" dirty="0">
                <a:hlinkClick r:id="rId5"/>
              </a:rPr>
              <a:t>Heineken® </a:t>
            </a:r>
            <a:r>
              <a:rPr lang="pt-BR" sz="1050" dirty="0" err="1">
                <a:hlinkClick r:id="rId5"/>
              </a:rPr>
              <a:t>Ultimate</a:t>
            </a:r>
            <a:br>
              <a:rPr dirty="0"/>
            </a:br>
            <a:r>
              <a:rPr sz="1050" dirty="0"/>
              <a:t>  - Lançamento: </a:t>
            </a:r>
            <a:r>
              <a:rPr lang="pt-BR" sz="1050" dirty="0">
                <a:hlinkClick r:id="rId6"/>
              </a:rPr>
              <a:t>Heineken® lança versão com menor teor alcóolico e caloria primeiro no Brasil</a:t>
            </a:r>
            <a:endParaRPr sz="1050" dirty="0"/>
          </a:p>
        </p:txBody>
      </p:sp>
      <p:pic>
        <p:nvPicPr>
          <p:cNvPr id="7" name="Picture 6" descr="amste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20486" y="2387068"/>
            <a:ext cx="847202" cy="777240"/>
          </a:xfrm>
          <a:prstGeom prst="rect">
            <a:avLst/>
          </a:prstGeom>
        </p:spPr>
      </p:pic>
      <p:pic>
        <p:nvPicPr>
          <p:cNvPr id="8" name="Picture 7" descr="heinek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1263" y="2375036"/>
            <a:ext cx="932688" cy="777240"/>
          </a:xfrm>
          <a:prstGeom prst="rect">
            <a:avLst/>
          </a:prstGeom>
        </p:spPr>
      </p:pic>
      <p:sp>
        <p:nvSpPr>
          <p:cNvPr id="12" name="CaixaDeTexto 11"/>
          <p:cNvSpPr txBox="1"/>
          <p:nvPr/>
        </p:nvSpPr>
        <p:spPr>
          <a:xfrm>
            <a:off x="1066648" y="1483629"/>
            <a:ext cx="1005840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chemeClr val="accent6">
                    <a:lumMod val="75000"/>
                  </a:schemeClr>
                </a:solidFill>
              </a:rPr>
              <a:t>Quem disputa a preferência de adultos que buscam uma cerveja com álcool e menor teor calórico para ocasiões sociais comuns, com diferentes níveis de reconhecimento, distribuição e proposta de marca 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689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BENCHMARK &amp; MARCAS INSPIRADORAS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 panose="02040502050405090303"/>
              </a:defRPr>
            </a:pPr>
            <a:r>
              <a:t>Aprendizados de Marcas Globais Aplicáveis ao Projeto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2219524"/>
            <a:ext cx="3328416" cy="41812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868680" rIns="182880" bIns="18288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F4C81"/>
                </a:solidFill>
                <a:latin typeface="Georgia" panose="02040502050405090303"/>
              </a:defRPr>
            </a:pPr>
            <a:r>
              <a:rPr sz="1500" b="1" dirty="0"/>
              <a:t>5.1. OATLY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sz="1200" b="1" dirty="0"/>
              <a:t>Quebra de </a:t>
            </a:r>
            <a:r>
              <a:rPr sz="1200" b="1" dirty="0" err="1"/>
              <a:t>Preconceito</a:t>
            </a:r>
            <a:r>
              <a:rPr sz="1200" b="1" dirty="0"/>
              <a:t> e Sabor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sz="900" dirty="0"/>
              <a:t>• Caso de Referência: Enfrentou a percepção de que bebidas de aveia seriam inferiores ao leite. A marca usou testes cegos de sabor para enfrentar a barreira de experimentação.</a:t>
            </a:r>
            <a:br>
              <a:rPr dirty="0"/>
            </a:br>
            <a:br>
              <a:rPr dirty="0"/>
            </a:br>
            <a:r>
              <a:rPr sz="900" dirty="0"/>
              <a:t>• Aprendizados Aplicáveis:</a:t>
            </a:r>
            <a:br>
              <a:rPr dirty="0"/>
            </a:br>
            <a:r>
              <a:rPr sz="900" dirty="0"/>
              <a:t>  1. Assumir a leveza como atributo de marca (sem tentar imitar cerveja encorpada).</a:t>
            </a:r>
            <a:br>
              <a:rPr dirty="0"/>
            </a:br>
            <a:r>
              <a:rPr sz="900" dirty="0"/>
              <a:t>  2. Construir desejo antes da comparação técnica via conteúdo nativo.</a:t>
            </a:r>
            <a:br>
              <a:rPr dirty="0"/>
            </a:br>
            <a:r>
              <a:rPr sz="900" dirty="0"/>
              <a:t>  3. Converter dúvida em prova de produto através de degustação gelada guiada.</a:t>
            </a:r>
            <a:br>
              <a:rPr dirty="0"/>
            </a:br>
            <a:br>
              <a:rPr dirty="0"/>
            </a:br>
            <a:r>
              <a:rPr sz="900" dirty="0"/>
              <a:t>• Fontes:</a:t>
            </a:r>
            <a:br>
              <a:rPr dirty="0"/>
            </a:br>
            <a:r>
              <a:rPr sz="900" dirty="0"/>
              <a:t>  - Teste cego Oatly: </a:t>
            </a:r>
            <a:r>
              <a:rPr lang="en-US" sz="900" dirty="0">
                <a:hlinkClick r:id="rId3"/>
              </a:rPr>
              <a:t>Caroline Reid, Senior Director of Sustainability at </a:t>
            </a:r>
            <a:r>
              <a:rPr lang="en-US" sz="900" dirty="0" err="1">
                <a:hlinkClick r:id="rId3"/>
              </a:rPr>
              <a:t>Oatly</a:t>
            </a:r>
            <a:r>
              <a:rPr lang="en-US" sz="900" dirty="0">
                <a:hlinkClick r:id="rId3"/>
              </a:rPr>
              <a:t>, reflects on how we &amp; others can influence food system transformation</a:t>
            </a:r>
            <a:endParaRPr sz="900" dirty="0"/>
          </a:p>
        </p:txBody>
      </p:sp>
      <p:sp>
        <p:nvSpPr>
          <p:cNvPr id="6" name="Rounded Rectangle 5"/>
          <p:cNvSpPr/>
          <p:nvPr/>
        </p:nvSpPr>
        <p:spPr>
          <a:xfrm>
            <a:off x="4425696" y="2219524"/>
            <a:ext cx="3328416" cy="41812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868680" rIns="182880" bIns="18288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F4C81"/>
                </a:solidFill>
                <a:latin typeface="Georgia" panose="02040502050405090303"/>
              </a:defRPr>
            </a:pPr>
            <a:r>
              <a:rPr sz="1500" b="1" dirty="0"/>
              <a:t>5.2. GUINNESS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sz="1200" b="1" dirty="0" err="1"/>
              <a:t>Expansão</a:t>
            </a:r>
            <a:r>
              <a:rPr sz="1200" b="1" dirty="0"/>
              <a:t> de Base e On-Trade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sz="900" dirty="0"/>
              <a:t>• Caso de Referência: Ampliou a base na Grã-Bretanha sem mudar o produto. Atuou fortemente com bares do on-trade, recrutou novos públicos (mulheres e jovens) e expandiu o calendário de consumo.</a:t>
            </a:r>
            <a:br>
              <a:rPr dirty="0"/>
            </a:br>
            <a:br>
              <a:rPr dirty="0"/>
            </a:br>
            <a:r>
              <a:rPr sz="900" dirty="0"/>
              <a:t>• Aprendizados Aplicáveis:</a:t>
            </a:r>
            <a:br>
              <a:rPr dirty="0"/>
            </a:br>
            <a:r>
              <a:rPr sz="900" dirty="0"/>
              <a:t>  1. Recrutar públicos subatendidos preservando a identidade de marca.</a:t>
            </a:r>
            <a:br>
              <a:rPr dirty="0"/>
            </a:br>
            <a:r>
              <a:rPr sz="900" dirty="0"/>
              <a:t>  2. Trabalhar simultaneamente comunicação e presença/visibilidade no trade.</a:t>
            </a:r>
            <a:br>
              <a:rPr dirty="0"/>
            </a:br>
            <a:r>
              <a:rPr sz="900" dirty="0"/>
              <a:t>  3. Expandir o calendário de consumo para novas ocasiões diurnas e sociais.</a:t>
            </a:r>
            <a:br>
              <a:rPr dirty="0"/>
            </a:br>
            <a:br>
              <a:rPr dirty="0"/>
            </a:br>
            <a:r>
              <a:rPr sz="900" dirty="0"/>
              <a:t>• Fonte: Diageo — </a:t>
            </a:r>
            <a:r>
              <a:rPr lang="en-US" sz="900" dirty="0">
                <a:hlinkClick r:id="rId4"/>
              </a:rPr>
              <a:t>World-class brand building: The year Guinness became Great Britain’s </a:t>
            </a:r>
            <a:r>
              <a:rPr lang="en-US" sz="900" dirty="0" err="1">
                <a:hlinkClick r:id="rId4"/>
              </a:rPr>
              <a:t>favourite</a:t>
            </a:r>
            <a:r>
              <a:rPr lang="en-US" sz="900" dirty="0">
                <a:hlinkClick r:id="rId4"/>
              </a:rPr>
              <a:t> pint</a:t>
            </a:r>
            <a:endParaRPr sz="900" dirty="0"/>
          </a:p>
        </p:txBody>
      </p:sp>
      <p:sp>
        <p:nvSpPr>
          <p:cNvPr id="7" name="Rounded Rectangle 6"/>
          <p:cNvSpPr/>
          <p:nvPr/>
        </p:nvSpPr>
        <p:spPr>
          <a:xfrm>
            <a:off x="8119872" y="2219524"/>
            <a:ext cx="3328416" cy="41812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868680" rIns="182880" bIns="18288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F4C81"/>
                </a:solidFill>
                <a:latin typeface="Georgia" panose="02040502050405090303"/>
              </a:defRPr>
            </a:pPr>
            <a:r>
              <a:rPr sz="1500" b="1" dirty="0"/>
              <a:t>5.3. WHITE CLAW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D9822B"/>
                </a:solidFill>
                <a:latin typeface="Calibri"/>
              </a:defRPr>
            </a:pPr>
            <a:r>
              <a:rPr sz="1200" b="1" dirty="0"/>
              <a:t>Escala de </a:t>
            </a:r>
            <a:r>
              <a:rPr sz="1200" b="1" dirty="0" err="1"/>
              <a:t>Álcool</a:t>
            </a:r>
            <a:r>
              <a:rPr sz="1200" b="1" dirty="0"/>
              <a:t> e </a:t>
            </a:r>
            <a:r>
              <a:rPr sz="1200" b="1" dirty="0" err="1"/>
              <a:t>Ocasiões</a:t>
            </a:r>
            <a:endParaRPr sz="1200" b="1" dirty="0"/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sz="900" dirty="0"/>
              <a:t>• Caso de Referência: A linha Surge, com 8% ABV, mostra como a marca atende a necessidades distintas em diferentes momentos de consumo.</a:t>
            </a:r>
            <a:br>
              <a:rPr dirty="0"/>
            </a:br>
            <a:br>
              <a:rPr dirty="0"/>
            </a:br>
            <a:r>
              <a:rPr sz="900" dirty="0"/>
              <a:t>• Aprendizados Aplicáveis:</a:t>
            </a:r>
            <a:br>
              <a:rPr dirty="0"/>
            </a:br>
            <a:r>
              <a:rPr sz="900" dirty="0"/>
              <a:t>1. Organizar a comunicação da Michelob Ultra por ocasiões de consumo, como almoço, happy hour, churrasco, festival e futebol.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2. Adaptar a linguagem e os pontos de contato a cada ocasião, preservando o mesmo produto e sua proposta de valor.</a:t>
            </a:r>
          </a:p>
          <a:p>
            <a:pPr>
              <a:spcBef>
                <a:spcPts val="400"/>
              </a:spcBef>
              <a:defRPr sz="1050">
                <a:solidFill>
                  <a:srgbClr val="1B2A4A"/>
                </a:solidFill>
                <a:latin typeface="Calibri"/>
              </a:defRPr>
            </a:pPr>
            <a:r>
              <a:rPr lang="pt-BR" sz="900" dirty="0"/>
              <a:t>3. Usar a variedade de momentos sociais para ampliar a identificação com a marca, sem criar versões adicionais ou promessas funcionais.</a:t>
            </a:r>
            <a:br>
              <a:rPr dirty="0"/>
            </a:br>
            <a:br>
              <a:rPr dirty="0"/>
            </a:br>
            <a:r>
              <a:rPr lang="pt-BR" sz="900" dirty="0"/>
              <a:t>• Fonte: White Claw Support — </a:t>
            </a:r>
            <a:r>
              <a:rPr lang="pt-BR" sz="900" dirty="0">
                <a:hlinkClick r:id="rId5"/>
              </a:rPr>
              <a:t>https://ussupport.whiteclaw.com/en/support/solutions/articles/36000314438-how-much-alcohol-is-in-white-claw-hard-seltzer-surge-</a:t>
            </a:r>
            <a:endParaRPr lang="pt-BR" sz="900" dirty="0"/>
          </a:p>
        </p:txBody>
      </p:sp>
      <p:pic>
        <p:nvPicPr>
          <p:cNvPr id="8" name="Picture 7" descr="oatl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85961" y="2380824"/>
            <a:ext cx="619532" cy="594360"/>
          </a:xfrm>
          <a:prstGeom prst="rect">
            <a:avLst/>
          </a:prstGeom>
        </p:spPr>
      </p:pic>
      <p:pic>
        <p:nvPicPr>
          <p:cNvPr id="9" name="Picture 8" descr="guinness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56578" y="2525182"/>
            <a:ext cx="1066650" cy="594360"/>
          </a:xfrm>
          <a:prstGeom prst="rect">
            <a:avLst/>
          </a:prstGeom>
        </p:spPr>
      </p:pic>
      <p:pic>
        <p:nvPicPr>
          <p:cNvPr id="10" name="Picture 9" descr="whiteclaw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36700" y="2380803"/>
            <a:ext cx="694758" cy="594360"/>
          </a:xfrm>
          <a:prstGeom prst="rect">
            <a:avLst/>
          </a:prstGeom>
        </p:spPr>
      </p:pic>
      <p:sp>
        <p:nvSpPr>
          <p:cNvPr id="12" name="CaixaDeTexto 11"/>
          <p:cNvSpPr txBox="1"/>
          <p:nvPr/>
        </p:nvSpPr>
        <p:spPr>
          <a:xfrm>
            <a:off x="1066648" y="1435501"/>
            <a:ext cx="1005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accent6">
                    <a:lumMod val="75000"/>
                  </a:schemeClr>
                </a:solidFill>
              </a:rPr>
              <a:t>Quais marcas oferecem aprendizados aplicáveis para superar o estigma de sabor, ampliar a base de consumidores e tornar a </a:t>
            </a:r>
            <a:r>
              <a:rPr lang="pt-BR" dirty="0" err="1">
                <a:solidFill>
                  <a:schemeClr val="accent6">
                    <a:lumMod val="75000"/>
                  </a:schemeClr>
                </a:solidFill>
              </a:rPr>
              <a:t>Michelob</a:t>
            </a:r>
            <a:r>
              <a:rPr lang="pt-BR" dirty="0">
                <a:solidFill>
                  <a:schemeClr val="accent6">
                    <a:lumMod val="75000"/>
                  </a:schemeClr>
                </a:solidFill>
              </a:rPr>
              <a:t> Ultra relevante em novos contextos de socialização?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689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822B"/>
                </a:solidFill>
                <a:latin typeface="Calibri"/>
              </a:defRPr>
            </a:pPr>
            <a:r>
              <a:t>MODELO DE NEGÓCIO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Georgia" panose="02040502050405090303"/>
              </a:defRPr>
            </a:pPr>
            <a:r>
              <a:t>BASE METODOLÓGICA — BUSINESS MODEL CANVAS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072640" cy="378904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0F4C81"/>
                </a:solidFill>
                <a:latin typeface="Georgia" panose="02040502050405090303"/>
              </a:defRPr>
            </a:pPr>
            <a:r>
              <a:rPr dirty="0"/>
              <a:t>PARCEIROS CHAVE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1. Canais de venda: supermercados, atacarejos, distribuidores, geladeiras e gôndolas.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2. Bares e restaurantes: estabelecimentos de almoço, </a:t>
            </a:r>
            <a:r>
              <a:rPr lang="pt-BR" dirty="0" err="1"/>
              <a:t>happy</a:t>
            </a:r>
            <a:r>
              <a:rPr lang="pt-BR" dirty="0"/>
              <a:t> hour e convivência social.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3. Entretenimento e eventos: festivais, eventos gastronômicos, futebol e outros pontos de encontro. Eventos esportivos permanecem como parceria complementar.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4. Plataformas: Zé Delivery, iFood e ferramentas de relacionamento com consumidores.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5. Criadores de conteúdo: gastronomia, entretenimento, cultura, esporte e convivência social.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77185" y="1463040"/>
            <a:ext cx="1985645" cy="19418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0F4C81"/>
                </a:solidFill>
                <a:latin typeface="Georgia" panose="02040502050405090303"/>
              </a:defRPr>
            </a:pPr>
            <a:r>
              <a:rPr dirty="0"/>
              <a:t>ATIVIDADES CHAVES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1. Degustação e prova de sabor em bares, eventos, festivais e pontos de venda.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2. Comunicação por ocasiões sociais em canais digitais, criadores de conteúdo e CRM.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3. Visibilidade e disponibilidade nos canais de venda, em supermercados, bares, restaurantes e entrega.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2877185" y="3516630"/>
            <a:ext cx="1985645" cy="1739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0F4C81"/>
                </a:solidFill>
                <a:latin typeface="Georgia" panose="02040502050405090303"/>
              </a:defRPr>
            </a:pPr>
            <a:r>
              <a:rPr dirty="0"/>
              <a:t>RECURSOS CHAVES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sz="850" dirty="0">
                <a:solidFill>
                  <a:srgbClr val="1B2A4A"/>
                </a:solidFill>
                <a:latin typeface="Calibri"/>
              </a:rPr>
              <a:t>1. </a:t>
            </a:r>
            <a:r>
              <a:rPr sz="850" dirty="0" err="1">
                <a:solidFill>
                  <a:srgbClr val="1B2A4A"/>
                </a:solidFill>
                <a:latin typeface="Calibri"/>
              </a:rPr>
              <a:t>Físicos</a:t>
            </a:r>
            <a:r>
              <a:rPr sz="850" dirty="0">
                <a:solidFill>
                  <a:srgbClr val="1B2A4A"/>
                </a:solidFill>
                <a:latin typeface="Calibri"/>
              </a:rPr>
              <a:t>: </a:t>
            </a:r>
            <a:r>
              <a:rPr sz="850" dirty="0" err="1">
                <a:solidFill>
                  <a:srgbClr val="1B2A4A"/>
                </a:solidFill>
                <a:latin typeface="Calibri"/>
              </a:rPr>
              <a:t>Fermentação</a:t>
            </a:r>
            <a:r>
              <a:rPr sz="850" dirty="0">
                <a:solidFill>
                  <a:srgbClr val="1B2A4A"/>
                </a:solidFill>
                <a:latin typeface="Calibri"/>
              </a:rPr>
              <a:t> </a:t>
            </a:r>
            <a:r>
              <a:rPr sz="850" dirty="0" err="1">
                <a:solidFill>
                  <a:srgbClr val="1B2A4A"/>
                </a:solidFill>
                <a:latin typeface="Calibri"/>
              </a:rPr>
              <a:t>estendida</a:t>
            </a:r>
            <a:r>
              <a:rPr sz="850" dirty="0">
                <a:solidFill>
                  <a:srgbClr val="1B2A4A"/>
                </a:solidFill>
                <a:latin typeface="Calibri"/>
              </a:rPr>
              <a:t>, </a:t>
            </a:r>
            <a:r>
              <a:rPr sz="850" dirty="0" err="1">
                <a:solidFill>
                  <a:srgbClr val="1B2A4A"/>
                </a:solidFill>
                <a:latin typeface="Calibri"/>
              </a:rPr>
              <a:t>frota</a:t>
            </a:r>
            <a:r>
              <a:rPr sz="850" dirty="0">
                <a:solidFill>
                  <a:srgbClr val="1B2A4A"/>
                </a:solidFill>
                <a:latin typeface="Calibri"/>
              </a:rPr>
              <a:t> </a:t>
            </a:r>
            <a:r>
              <a:rPr sz="850" dirty="0" err="1">
                <a:solidFill>
                  <a:srgbClr val="1B2A4A"/>
                </a:solidFill>
                <a:latin typeface="Calibri"/>
              </a:rPr>
              <a:t>refrigerada</a:t>
            </a:r>
            <a:r>
              <a:rPr sz="850" dirty="0">
                <a:solidFill>
                  <a:srgbClr val="1B2A4A"/>
                </a:solidFill>
                <a:latin typeface="Calibri"/>
              </a:rPr>
              <a:t> e </a:t>
            </a:r>
            <a:r>
              <a:rPr sz="850" dirty="0" err="1">
                <a:solidFill>
                  <a:srgbClr val="1B2A4A"/>
                </a:solidFill>
                <a:latin typeface="Calibri"/>
              </a:rPr>
              <a:t>geladeiras</a:t>
            </a:r>
            <a:r>
              <a:rPr sz="850" dirty="0">
                <a:solidFill>
                  <a:srgbClr val="1B2A4A"/>
                </a:solidFill>
                <a:latin typeface="Calibri"/>
              </a:rPr>
              <a:t> PDV.</a:t>
            </a:r>
            <a:br>
              <a:rPr sz="850" dirty="0">
                <a:solidFill>
                  <a:srgbClr val="1B2A4A"/>
                </a:solidFill>
                <a:latin typeface="Calibri"/>
              </a:rPr>
            </a:br>
            <a:r>
              <a:rPr sz="850" dirty="0">
                <a:solidFill>
                  <a:srgbClr val="1B2A4A"/>
                </a:solidFill>
                <a:latin typeface="Calibri"/>
              </a:rPr>
              <a:t>2. IP &amp; Marca: </a:t>
            </a:r>
            <a:r>
              <a:rPr sz="850" dirty="0" err="1">
                <a:solidFill>
                  <a:srgbClr val="1B2A4A"/>
                </a:solidFill>
                <a:latin typeface="Calibri"/>
              </a:rPr>
              <a:t>Fórmula</a:t>
            </a:r>
            <a:r>
              <a:rPr sz="850" dirty="0">
                <a:solidFill>
                  <a:srgbClr val="1B2A4A"/>
                </a:solidFill>
                <a:latin typeface="Calibri"/>
              </a:rPr>
              <a:t> Ultra Light e Brand Equity global.</a:t>
            </a:r>
            <a:br>
              <a:rPr sz="850" dirty="0">
                <a:solidFill>
                  <a:srgbClr val="1B2A4A"/>
                </a:solidFill>
                <a:latin typeface="Calibri"/>
              </a:rPr>
            </a:br>
            <a:r>
              <a:rPr lang="pt-BR" sz="850" dirty="0">
                <a:solidFill>
                  <a:srgbClr val="1B2A4A"/>
                </a:solidFill>
                <a:latin typeface="Calibri"/>
              </a:rPr>
              <a:t>3. Dados e tecnologia: BEES, Zé Delivery, iFood e CRM.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sz="850" dirty="0">
                <a:solidFill>
                  <a:srgbClr val="1B2A4A"/>
                </a:solidFill>
                <a:latin typeface="Calibri"/>
              </a:rPr>
              <a:t>4. Talentos: equipe comercial, ativações sociais e relacionamento digital.</a:t>
            </a:r>
            <a:endParaRPr sz="85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918710" y="1463040"/>
            <a:ext cx="1830705" cy="378904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lnSpc>
                <a:spcPct val="100000"/>
              </a:lnSpc>
              <a:defRPr sz="1000" b="1">
                <a:solidFill>
                  <a:srgbClr val="D9822B"/>
                </a:solidFill>
                <a:latin typeface="Georgia" panose="02040502050405090303"/>
              </a:defRPr>
            </a:pPr>
            <a:r>
              <a:rPr lang="pt-BR" sz="1000" b="1" dirty="0">
                <a:solidFill>
                  <a:srgbClr val="0F4C81"/>
                </a:solidFill>
                <a:latin typeface="Georgia" panose="02040502050405090303"/>
              </a:rPr>
              <a:t>PROPOSTA</a:t>
            </a:r>
            <a:r>
              <a:rPr lang="pt-BR" dirty="0"/>
              <a:t> </a:t>
            </a:r>
            <a:r>
              <a:rPr lang="pt-BR" sz="1000" b="1" dirty="0">
                <a:solidFill>
                  <a:srgbClr val="0F4C81"/>
                </a:solidFill>
                <a:latin typeface="Georgia" panose="02040502050405090303"/>
              </a:rPr>
              <a:t>DE</a:t>
            </a:r>
            <a:r>
              <a:rPr lang="pt-BR" dirty="0"/>
              <a:t> </a:t>
            </a:r>
            <a:r>
              <a:rPr lang="pt-BR" sz="1000" b="1" dirty="0">
                <a:solidFill>
                  <a:srgbClr val="0F4C81"/>
                </a:solidFill>
                <a:latin typeface="Georgia" panose="02040502050405090303"/>
              </a:rPr>
              <a:t>VALOR</a:t>
            </a:r>
            <a:endParaRPr lang="pt-BR" dirty="0"/>
          </a:p>
          <a:p>
            <a:pPr>
              <a:lnSpc>
                <a:spcPct val="100000"/>
              </a:lnSpc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en-US" altLang="en-US" dirty="0"/>
              <a:t>Ampliar a presen</a:t>
            </a:r>
            <a:r>
              <a:rPr lang="" altLang="en-US" dirty="0"/>
              <a:t>ç</a:t>
            </a:r>
            <a:r>
              <a:rPr lang="en-US" altLang="en-US" dirty="0"/>
              <a:t>a da Michelob Ultra em novas situa</a:t>
            </a:r>
            <a:r>
              <a:rPr lang="" altLang="en-US" dirty="0"/>
              <a:t>çõ</a:t>
            </a:r>
            <a:r>
              <a:rPr lang="en-US" altLang="en-US" dirty="0"/>
              <a:t>es de convivência, mantendo sua proposta de cerveja premium leve, com baixas calorias e baixo teor de carboidratos, e lan</a:t>
            </a:r>
            <a:r>
              <a:rPr lang="" altLang="en-US" dirty="0"/>
              <a:t>ç</a:t>
            </a:r>
            <a:r>
              <a:rPr lang="en-US" altLang="en-US" dirty="0"/>
              <a:t>ando </a:t>
            </a:r>
            <a:r>
              <a:rPr lang="pt-BR" altLang="en-US" dirty="0"/>
              <a:t>a Michelob Ultra Moments</a:t>
            </a:r>
            <a:r>
              <a:rPr lang="en-US" altLang="en-US" dirty="0"/>
              <a:t> com</a:t>
            </a:r>
            <a:r>
              <a:rPr lang="pt-BR" altLang="en-US" dirty="0"/>
              <a:t> apenas</a:t>
            </a:r>
            <a:r>
              <a:rPr lang="en-US" altLang="en-US" dirty="0"/>
              <a:t> 2% de teor alcoólico.  </a:t>
            </a:r>
          </a:p>
          <a:p>
            <a:pPr>
              <a:lnSpc>
                <a:spcPct val="100000"/>
              </a:lnSpc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en-US" altLang="en-US" dirty="0"/>
              <a:t>Um portfólio para adultos que valorizam leveza, sabor e diferentes op</a:t>
            </a:r>
            <a:r>
              <a:rPr lang="" altLang="en-US" dirty="0"/>
              <a:t>çõ</a:t>
            </a:r>
            <a:r>
              <a:rPr lang="en-US" altLang="en-US" dirty="0"/>
              <a:t>es de consumo em almo</a:t>
            </a:r>
            <a:r>
              <a:rPr lang="" altLang="en-US" dirty="0"/>
              <a:t>ç</a:t>
            </a:r>
            <a:r>
              <a:rPr lang="en-US" altLang="en-US" dirty="0"/>
              <a:t>os, happy hours, encontros casuais, churrascos, festivais, futebol e outras ocasi</a:t>
            </a:r>
            <a:r>
              <a:rPr lang="" altLang="en-US" dirty="0"/>
              <a:t>õ</a:t>
            </a:r>
            <a:r>
              <a:rPr lang="en-US" altLang="en-US" dirty="0"/>
              <a:t>es do cotidiano.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39585" y="1463040"/>
            <a:ext cx="2401570" cy="19418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0F4C81"/>
                </a:solidFill>
                <a:latin typeface="Georgia" panose="02040502050405090303"/>
              </a:defRPr>
            </a:pPr>
            <a:r>
              <a:rPr dirty="0"/>
              <a:t>RELACIONAMENTO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1. Ponto de venda: merchandising e degustação gelada.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2. CRM e benefícios: comunicações, cupons e convites associados a ocasiões sociais e recompra.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3. Comunidade: relacionamento com consumidores por meio de gastronomia, entretenimento, cultura e esporte.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4. Comunicação: conteúdo sobre leveza, sabor e socialização.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6838950" y="3516630"/>
            <a:ext cx="2402205" cy="1739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0F4C81"/>
                </a:solidFill>
                <a:latin typeface="Georgia" panose="02040502050405090303"/>
              </a:defRPr>
            </a:pPr>
            <a:r>
              <a:rPr dirty="0"/>
              <a:t>CANAIS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1. Tradicionais: redes, atacarejos, supermercados e bares.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2. Convivência social: restaurantes, espaços gastronômicos, festivais e pontos de encontro.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3. Entrega: Zé Delivery e iFood, com comunicações adequadas a cada ocasião.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4. Eventos: futebol, festivais, encontros gastronômicos e eventos esportivos.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9314180" y="1463040"/>
            <a:ext cx="2072640" cy="378904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0F4C81"/>
                </a:solidFill>
                <a:latin typeface="Georgia" panose="02040502050405090303"/>
              </a:defRPr>
            </a:pPr>
            <a:r>
              <a:rPr dirty="0"/>
              <a:t>SEGMENTAÇÃO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PRINCIPAL — 50% do investimento inicial | </a:t>
            </a:r>
            <a:r>
              <a:rPr lang="pt-BR" dirty="0" err="1"/>
              <a:t>Millennials</a:t>
            </a:r>
            <a:r>
              <a:rPr lang="pt-BR" dirty="0"/>
              <a:t> (28 a 43 anos): consumidores que buscam uma cerveja premium leve para socializar em almoços, </a:t>
            </a:r>
            <a:r>
              <a:rPr lang="pt-BR" dirty="0" err="1"/>
              <a:t>happy</a:t>
            </a:r>
            <a:r>
              <a:rPr lang="pt-BR" dirty="0"/>
              <a:t> hours, encontros casuais e momentos de entretenimento.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ESTRATÉGICO — 30% do investimento inicial | Geração Z (18 a 27 anos): consumidores que valorizam experiências sociais, festivais, estética de marca e escolhas mais leves.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COMPLEMENTAR — 20% do investimento inicial | Geração X (44 a 59 anos): consumidores que valorizam controle calórico, leveza, conveniência e disponibilidade no ponto de venda, mas precisam perceber que esses atributos não comprometem o sabor.</a:t>
            </a:r>
            <a:endParaRPr dirty="0"/>
          </a:p>
          <a:p>
            <a:pPr algn="l">
              <a:spcBef>
                <a:spcPts val="100"/>
              </a:spcBef>
            </a:pPr>
            <a:r>
              <a:rPr sz="700">
                <a:solidFill>
                  <a:srgbClr val="4D4D4D"/>
                </a:solidFill>
                <a:latin typeface="Aptos"/>
              </a:rPr>
              <a:t>Hipótese de investimento inicial; lógica, limites e fontes de priorização apresentadas no slide 5.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63845"/>
            <a:ext cx="5291455" cy="13131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0F4C81"/>
                </a:solidFill>
                <a:latin typeface="Georgia" panose="02040502050405090303"/>
              </a:defRPr>
            </a:pPr>
            <a:r>
              <a:rPr dirty="0"/>
              <a:t>ESTRUTURA DE CUSTO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>
                <a:sym typeface="+mn-ea"/>
              </a:rPr>
              <a:t>• Desenvolvimento da nova linha Michelob Ultra Moments.</a:t>
            </a:r>
            <a:endParaRPr lang="pt-BR" dirty="0"/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Custos de produção, matérias-primas, logística refrigerada e impostos.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 • Investimentos em comunicação, mídia digital e criadores de conteúdo.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Degustações, materiais de ponto de venda, geladeiras e ativações nos canais de venda.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Parcerias com bares, restaurantes, eventos, plataformas de entrega e CRM.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Equipe comercial, relacionamento digital e acompanhamento de dados.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6096000" y="5358765"/>
            <a:ext cx="5291455" cy="131254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000" b="1">
                <a:solidFill>
                  <a:srgbClr val="D9822B"/>
                </a:solidFill>
                <a:latin typeface="Georgia" panose="02040502050405090303"/>
              </a:defRPr>
            </a:pPr>
            <a:r>
              <a:rPr sz="1000" b="1" dirty="0">
                <a:solidFill>
                  <a:srgbClr val="0F4C81"/>
                </a:solidFill>
                <a:latin typeface="Georgia" panose="02040502050405090303"/>
              </a:rPr>
              <a:t>FONTES</a:t>
            </a:r>
            <a:r>
              <a:rPr dirty="0"/>
              <a:t> </a:t>
            </a:r>
            <a:r>
              <a:rPr sz="1000" b="1" dirty="0">
                <a:solidFill>
                  <a:srgbClr val="0F4C81"/>
                </a:solidFill>
                <a:latin typeface="Georgia" panose="02040502050405090303"/>
              </a:rPr>
              <a:t>DE</a:t>
            </a:r>
            <a:r>
              <a:rPr dirty="0"/>
              <a:t> </a:t>
            </a:r>
            <a:r>
              <a:rPr sz="1000" b="1" dirty="0">
                <a:solidFill>
                  <a:srgbClr val="0F4C81"/>
                </a:solidFill>
                <a:latin typeface="Georgia" panose="02040502050405090303"/>
              </a:rPr>
              <a:t>RECEITAS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Vendas de </a:t>
            </a:r>
            <a:r>
              <a:rPr lang="pt-BR" dirty="0" err="1"/>
              <a:t>Michelob</a:t>
            </a:r>
            <a:r>
              <a:rPr lang="pt-BR" dirty="0"/>
              <a:t> Ultra nos canais de venda priorizados.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Vendas incrementais geradas por novos consumidores.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Vendas recorrentes decorrentes do aumento da frequência de compra.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r>
              <a:rPr lang="pt-BR" dirty="0"/>
              <a:t>• Vendas incrementais em novas situações sociais de consumo.</a:t>
            </a:r>
          </a:p>
          <a:p>
            <a:pPr>
              <a:spcBef>
                <a:spcPts val="300"/>
              </a:spcBef>
              <a:defRPr sz="850">
                <a:solidFill>
                  <a:srgbClr val="1B2A4A"/>
                </a:solidFill>
                <a:latin typeface="Calibri"/>
              </a:defRPr>
            </a:pP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900" b="1" i="0">
                <a:solidFill>
                  <a:srgbClr val="D9822B"/>
                </a:solidFill>
                <a:latin typeface="Aptos"/>
              </a:rPr>
              <a:t>ANEXO — USO DE INTELIGÊNCIA ARTIFICIAL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0F4C81"/>
                </a:solidFill>
                <a:latin typeface="Georgia" panose="02040502050405090303"/>
              </a:rPr>
              <a:t>Registro de ferramentas, instruções e aprendizados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07008"/>
            <a:ext cx="10698480" cy="32004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1520" y="5925312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800" b="0" i="1" dirty="0" err="1">
                <a:solidFill>
                  <a:srgbClr val="4D4D4D"/>
                </a:solidFill>
                <a:latin typeface="Aptos"/>
              </a:rPr>
              <a:t>Preencher</a:t>
            </a:r>
            <a:r>
              <a:rPr sz="800" b="0" i="1" dirty="0">
                <a:solidFill>
                  <a:srgbClr val="4D4D4D"/>
                </a:solidFill>
                <a:latin typeface="Aptos"/>
              </a:rPr>
              <a:t> </a:t>
            </a:r>
            <a:r>
              <a:rPr sz="800" b="0" i="1" dirty="0" err="1">
                <a:solidFill>
                  <a:srgbClr val="4D4D4D"/>
                </a:solidFill>
                <a:latin typeface="Aptos"/>
              </a:rPr>
              <a:t>exclusivamente</a:t>
            </a:r>
            <a:r>
              <a:rPr sz="800" b="0" i="1" dirty="0">
                <a:solidFill>
                  <a:srgbClr val="4D4D4D"/>
                </a:solidFill>
                <a:latin typeface="Aptos"/>
              </a:rPr>
              <a:t> com ferramentas, </a:t>
            </a:r>
            <a:r>
              <a:rPr sz="800" b="0" i="1" dirty="0" err="1">
                <a:solidFill>
                  <a:srgbClr val="4D4D4D"/>
                </a:solidFill>
                <a:latin typeface="Aptos"/>
              </a:rPr>
              <a:t>instruções</a:t>
            </a:r>
            <a:r>
              <a:rPr sz="800" b="0" i="1" dirty="0">
                <a:solidFill>
                  <a:srgbClr val="4D4D4D"/>
                </a:solidFill>
                <a:latin typeface="Aptos"/>
              </a:rPr>
              <a:t> e </a:t>
            </a:r>
            <a:r>
              <a:rPr sz="800" b="0" i="1" dirty="0" err="1">
                <a:solidFill>
                  <a:srgbClr val="4D4D4D"/>
                </a:solidFill>
                <a:latin typeface="Aptos"/>
              </a:rPr>
              <a:t>resultados</a:t>
            </a:r>
            <a:r>
              <a:rPr sz="800" b="0" i="1" dirty="0">
                <a:solidFill>
                  <a:srgbClr val="4D4D4D"/>
                </a:solidFill>
                <a:latin typeface="Aptos"/>
              </a:rPr>
              <a:t> </a:t>
            </a:r>
            <a:r>
              <a:rPr sz="800" b="0" i="1" dirty="0" err="1">
                <a:solidFill>
                  <a:srgbClr val="4D4D4D"/>
                </a:solidFill>
                <a:latin typeface="Aptos"/>
              </a:rPr>
              <a:t>utilizados</a:t>
            </a:r>
            <a:r>
              <a:rPr sz="800" b="0" i="1" dirty="0">
                <a:solidFill>
                  <a:srgbClr val="4D4D4D"/>
                </a:solidFill>
                <a:latin typeface="Aptos"/>
              </a:rPr>
              <a:t> de </a:t>
            </a:r>
            <a:r>
              <a:rPr sz="800" b="0" i="1" dirty="0" err="1">
                <a:solidFill>
                  <a:srgbClr val="4D4D4D"/>
                </a:solidFill>
                <a:latin typeface="Aptos"/>
              </a:rPr>
              <a:t>fato</a:t>
            </a:r>
            <a:r>
              <a:rPr sz="800" b="0" i="1" dirty="0">
                <a:solidFill>
                  <a:srgbClr val="4D4D4D"/>
                </a:solidFill>
                <a:latin typeface="Aptos"/>
              </a:rPr>
              <a:t> </a:t>
            </a:r>
            <a:r>
              <a:rPr sz="800" b="0" i="1" dirty="0" err="1">
                <a:solidFill>
                  <a:srgbClr val="4D4D4D"/>
                </a:solidFill>
                <a:latin typeface="Aptos"/>
              </a:rPr>
              <a:t>pelo</a:t>
            </a:r>
            <a:r>
              <a:rPr sz="800" b="0" i="1" dirty="0">
                <a:solidFill>
                  <a:srgbClr val="4D4D4D"/>
                </a:solidFill>
                <a:latin typeface="Aptos"/>
              </a:rPr>
              <a:t> </a:t>
            </a:r>
            <a:r>
              <a:rPr sz="800" b="0" i="1" dirty="0" err="1">
                <a:solidFill>
                  <a:srgbClr val="4D4D4D"/>
                </a:solidFill>
                <a:latin typeface="Aptos"/>
              </a:rPr>
              <a:t>grupo</a:t>
            </a:r>
            <a:r>
              <a:rPr sz="800" b="0" i="1" dirty="0">
                <a:solidFill>
                  <a:srgbClr val="4D4D4D"/>
                </a:solidFill>
                <a:latin typeface="Aptos"/>
              </a:rPr>
              <a:t>. </a:t>
            </a:r>
            <a:r>
              <a:rPr sz="800" b="0" i="1" dirty="0" err="1">
                <a:solidFill>
                  <a:srgbClr val="4D4D4D"/>
                </a:solidFill>
                <a:latin typeface="Aptos"/>
              </a:rPr>
              <a:t>Não</a:t>
            </a:r>
            <a:r>
              <a:rPr sz="800" b="0" i="1" dirty="0">
                <a:solidFill>
                  <a:srgbClr val="4D4D4D"/>
                </a:solidFill>
                <a:latin typeface="Aptos"/>
              </a:rPr>
              <a:t> </a:t>
            </a:r>
            <a:r>
              <a:rPr sz="800" b="0" i="1" dirty="0" err="1">
                <a:solidFill>
                  <a:srgbClr val="4D4D4D"/>
                </a:solidFill>
                <a:latin typeface="Aptos"/>
              </a:rPr>
              <a:t>inserir</a:t>
            </a:r>
            <a:r>
              <a:rPr sz="800" b="0" i="1" dirty="0">
                <a:solidFill>
                  <a:srgbClr val="4D4D4D"/>
                </a:solidFill>
                <a:latin typeface="Aptos"/>
              </a:rPr>
              <a:t> </a:t>
            </a:r>
            <a:r>
              <a:rPr sz="800" b="0" i="1" dirty="0" err="1">
                <a:solidFill>
                  <a:srgbClr val="4D4D4D"/>
                </a:solidFill>
                <a:latin typeface="Aptos"/>
              </a:rPr>
              <a:t>conteúdo</a:t>
            </a:r>
            <a:r>
              <a:rPr sz="800" b="0" i="1" dirty="0">
                <a:solidFill>
                  <a:srgbClr val="4D4D4D"/>
                </a:solidFill>
                <a:latin typeface="Aptos"/>
              </a:rPr>
              <a:t> </a:t>
            </a:r>
            <a:r>
              <a:rPr sz="800" b="0" i="1" dirty="0" err="1">
                <a:solidFill>
                  <a:srgbClr val="4D4D4D"/>
                </a:solidFill>
                <a:latin typeface="Aptos"/>
              </a:rPr>
              <a:t>presumido</a:t>
            </a:r>
            <a:r>
              <a:rPr sz="800" b="0" i="1" dirty="0">
                <a:solidFill>
                  <a:srgbClr val="4D4D4D"/>
                </a:solidFill>
                <a:latin typeface="Aptos"/>
              </a:rPr>
              <a:t>.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67055" y="1348740"/>
          <a:ext cx="11046460" cy="4888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0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49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1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63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428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Aptos"/>
                        </a:rPr>
                        <a:t>Etapa do trabalho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Aptos"/>
                        </a:rPr>
                        <a:t>Ferramenta utilizada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Aptos"/>
                        </a:rPr>
                        <a:t>Prompt-chave ou instrução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Aptos"/>
                        </a:rPr>
                        <a:t>Como o resultado foi usado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Aptos"/>
                        </a:rPr>
                        <a:t>Aprendizado ou limite identificado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850" b="1" i="0" dirty="0">
                          <a:solidFill>
                            <a:srgbClr val="0F4C81"/>
                          </a:solidFill>
                          <a:latin typeface="Aptos"/>
                        </a:rPr>
                        <a:t>Pesquisa e </a:t>
                      </a:r>
                      <a:r>
                        <a:rPr sz="850" b="1" i="0" dirty="0" err="1">
                          <a:solidFill>
                            <a:srgbClr val="0F4C81"/>
                          </a:solidFill>
                          <a:latin typeface="Aptos"/>
                        </a:rPr>
                        <a:t>leitura</a:t>
                      </a:r>
                      <a:r>
                        <a:rPr sz="850" b="1" i="0" dirty="0">
                          <a:solidFill>
                            <a:srgbClr val="0F4C81"/>
                          </a:solidFill>
                          <a:latin typeface="Aptos"/>
                        </a:rPr>
                        <a:t> de </a:t>
                      </a:r>
                      <a:r>
                        <a:rPr sz="850" b="1" i="0" dirty="0" err="1">
                          <a:solidFill>
                            <a:srgbClr val="0F4C81"/>
                          </a:solidFill>
                          <a:latin typeface="Aptos"/>
                        </a:rPr>
                        <a:t>fontes</a:t>
                      </a:r>
                      <a:endParaRPr sz="850" b="1" i="0" dirty="0">
                        <a:solidFill>
                          <a:srgbClr val="0F4C81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Gemini</a:t>
                      </a:r>
                      <a:r>
                        <a:rPr lang="pt-BR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e Chat GPT</a:t>
                      </a:r>
                      <a:endParaRPr sz="800" b="0" i="1" dirty="0">
                        <a:solidFill>
                          <a:srgbClr val="4D4D4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1. Quais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são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os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concorrentes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da Michelob Ultra no mercado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brasileiro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de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cervejas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com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álcool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e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menor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teor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calórico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? Como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essas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marcas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disputam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o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consumidor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que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aprecia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cerveja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e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valoriza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uma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rotina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</a:t>
                      </a:r>
                      <a:r>
                        <a:rPr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ativa</a:t>
                      </a:r>
                      <a:r>
                        <a:rPr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?</a:t>
                      </a:r>
                      <a:endParaRPr lang="pt-BR" sz="800" b="0" i="1" dirty="0">
                        <a:solidFill>
                          <a:srgbClr val="4D4D4D"/>
                        </a:solidFill>
                        <a:latin typeface="Aptos"/>
                      </a:endParaRPr>
                    </a:p>
                    <a:p>
                      <a:pPr algn="l"/>
                      <a:endParaRPr lang="pt-BR" sz="800" b="0" i="1" dirty="0">
                        <a:solidFill>
                          <a:srgbClr val="4D4D4D"/>
                        </a:solidFill>
                        <a:latin typeface="Aptos"/>
                      </a:endParaRPr>
                    </a:p>
                    <a:p>
                      <a:pPr algn="l"/>
                      <a:r>
                        <a:rPr lang="pt-BR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2. Ao trabalhar em um projeto de marketing digital em que o foco é a ampliação de mercado para a cerveja </a:t>
                      </a:r>
                      <a:r>
                        <a:rPr lang="pt-BR"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Michelob</a:t>
                      </a:r>
                      <a:r>
                        <a:rPr lang="pt-BR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Ultra para além do foco inicial de clientes ligados à atividade esportiva, quais empresas podem ser usadas como benchmark para este case? Prefira empresas do ramo de cervejas ou bebidas alcóolicas.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1. A lista com as </a:t>
                      </a:r>
                      <a:r>
                        <a:rPr lang="pt-BR"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carcterísiticas</a:t>
                      </a:r>
                      <a:r>
                        <a:rPr lang="pt-BR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foi analisada, revisada e validada e foi necessário fazer algumas iterações para revisar o resultado, solicitando fontes para averiguação e para consulta posterior.</a:t>
                      </a:r>
                    </a:p>
                    <a:p>
                      <a:pPr algn="l"/>
                      <a:endParaRPr lang="pt-BR" sz="800" b="0" i="1" dirty="0">
                        <a:solidFill>
                          <a:srgbClr val="4D4D4D"/>
                        </a:solidFill>
                        <a:latin typeface="Aptos"/>
                      </a:endParaRPr>
                    </a:p>
                    <a:p>
                      <a:pPr algn="l"/>
                      <a:r>
                        <a:rPr lang="pt-BR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2. Várias iterações foram efetuadas até que identificássemos cases reais com dados sólidos e que realmente tivessem a nos ensinar algo dentro do que pretendemos.</a:t>
                      </a:r>
                      <a:endParaRPr sz="800" b="0" i="1" dirty="0">
                        <a:solidFill>
                          <a:srgbClr val="4D4D4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Sempre exigir as fontes e revisar o seu conteúdo. Necessidade de refinar o foco e o alcance das buscas e usar as técnicas de Encadeamento de Prompts  e Orquestração de Múltiplos Modelos usando  para trazer enfoques diferentes e aumentar o repertório das buscas, podendo assim compilar um resultado mais denso e consistente com o esperado.</a:t>
                      </a:r>
                      <a:endParaRPr sz="800" b="0" i="1" dirty="0">
                        <a:solidFill>
                          <a:srgbClr val="4D4D4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850" b="1" i="0" dirty="0" err="1">
                          <a:solidFill>
                            <a:srgbClr val="0F4C81"/>
                          </a:solidFill>
                          <a:latin typeface="Aptos"/>
                        </a:rPr>
                        <a:t>Organização</a:t>
                      </a:r>
                      <a:r>
                        <a:rPr sz="850" b="1" i="0" dirty="0">
                          <a:solidFill>
                            <a:srgbClr val="0F4C81"/>
                          </a:solidFill>
                          <a:latin typeface="Aptos"/>
                        </a:rPr>
                        <a:t> de </a:t>
                      </a:r>
                      <a:r>
                        <a:rPr sz="850" b="1" i="0" dirty="0" err="1">
                          <a:solidFill>
                            <a:srgbClr val="0F4C81"/>
                          </a:solidFill>
                          <a:latin typeface="Aptos"/>
                        </a:rPr>
                        <a:t>transcrições</a:t>
                      </a:r>
                      <a:endParaRPr sz="850" b="1" i="0" dirty="0">
                        <a:solidFill>
                          <a:srgbClr val="0F4C81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Chat GPT/Codex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en-US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Organize o conteúdo das transcrições das reuniões do grupo, identificando os principais temas discutidos, decisões tomadas, ideias propostas e pontos pendentes, sem alterar o sentido original das falas.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en-US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As transcrições foram organizadas e utilizadas para recuperar decisões tomadas durante as reuniões, consolidar as ideias discutidas pelo grupo e identificar pontos que ainda precisavam ser definidos.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en-US" sz="800" b="0" i="1">
                          <a:solidFill>
                            <a:srgbClr val="4D4D4D"/>
                          </a:solidFill>
                          <a:latin typeface="Aptos"/>
                        </a:rPr>
                        <a:t>A IA facilitou a organização de um grande volume de informações e a recuperação dos principais pontos discutidos. Entretanto, foi necessária a revisão do grupo para validar o contexto das falas e garantir que nenhuma decisão fosse interpretada de forma incorreta.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0F4C81"/>
                          </a:solidFill>
                          <a:latin typeface="Aptos"/>
                        </a:rPr>
                        <a:t>Análise do problema e da solução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Chat GPT/Codex</a:t>
                      </a:r>
                      <a:endParaRPr sz="800" b="0" i="1" dirty="0">
                        <a:solidFill>
                          <a:srgbClr val="4D4D4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en-US" sz="800" b="0" i="1">
                          <a:solidFill>
                            <a:srgbClr val="4D4D4D"/>
                          </a:solidFill>
                          <a:latin typeface="Aptos"/>
                        </a:rPr>
                        <a:t>Com base no conteúdo desenvolvido pelo grupo, analise a coerência entre o problema identificado, o público-alvo, a proposta de valor e a solução apresentada para Michelob Ultra. Identifique possíveis inconsistências e pontos que precisam ser aprofundados, sem alterar as premissas definidas pelo grupo.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en-US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A análise foi utilizada para revisar a coerência entre as diferentes partes do projeto e apoiar o refinamento do problema, da proposta de valor e da solução antes da consolidação do material final.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en-US" sz="800" b="0" i="1">
                          <a:solidFill>
                            <a:srgbClr val="4D4D4D"/>
                          </a:solidFill>
                          <a:latin typeface="Aptos"/>
                        </a:rPr>
                        <a:t>A IA ajudou a identificar inconsistências e conexões entre diferentes partes do projeto, mas as sugestões precisaram ser avaliadas pelo grupo, pois algumas poderiam alterar premissas ou direcionamentos previamente definidos. A decisão final permaneceu com os integrantes.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0F4C81"/>
                          </a:solidFill>
                          <a:latin typeface="Aptos"/>
                        </a:rPr>
                        <a:t>Redação e revisão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Miro  para criar o conteúdo de forma centralizada. </a:t>
                      </a:r>
                    </a:p>
                    <a:p>
                      <a:pPr algn="l"/>
                      <a:r>
                        <a:rPr lang="pt-BR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Chat GPT para extrair o texto das imagens dos boards do Miro.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Extraia das imagens em anexo todos os textos, separe em itens e consolide em um arquivo .</a:t>
                      </a:r>
                      <a:r>
                        <a:rPr lang="pt-BR"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md</a:t>
                      </a:r>
                      <a:endParaRPr lang="pt-BR" sz="800" b="0" i="1" dirty="0">
                        <a:solidFill>
                          <a:srgbClr val="4D4D4D"/>
                        </a:solidFill>
                        <a:latin typeface="Aptos"/>
                      </a:endParaRPr>
                    </a:p>
                    <a:p>
                      <a:pPr algn="l"/>
                      <a:r>
                        <a:rPr lang="pt-BR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sem alterações do texto </a:t>
                      </a:r>
                      <a:r>
                        <a:rPr lang="pt-BR"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orginal</a:t>
                      </a:r>
                      <a:endParaRPr lang="pt-BR" sz="800" b="0" i="1" dirty="0">
                        <a:solidFill>
                          <a:srgbClr val="4D4D4D"/>
                        </a:solidFill>
                        <a:latin typeface="Aptos"/>
                      </a:endParaRPr>
                    </a:p>
                    <a:p>
                      <a:pPr algn="l"/>
                      <a:endParaRPr lang="pt-BR" sz="800" b="0" i="1" dirty="0">
                        <a:solidFill>
                          <a:srgbClr val="4D4D4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en-US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O conteúdo foi revisado em conjunto por meio de tela compartilhada, permitindo que todos os integrantes contribuíssem com sugestões e ajustes no texto. Também foram revisados aspectos gramaticais e de concordância.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en-US" sz="800" b="0" i="1">
                          <a:solidFill>
                            <a:srgbClr val="4D4D4D"/>
                          </a:solidFill>
                          <a:latin typeface="Aptos"/>
                        </a:rPr>
                        <a:t>A IA agilizou a organização e revisão do conteúdo, porém exigiu validação humana para garantir fidelidade ao material original e evitar alterações de sentido ou inclusão de informações não definidas pelo grupo.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0F4C81"/>
                          </a:solidFill>
                          <a:latin typeface="Aptos"/>
                        </a:rPr>
                        <a:t>Apoio à apresentação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Chat GPT, Notebook LLM</a:t>
                      </a:r>
                    </a:p>
                    <a:p>
                      <a:pPr algn="l"/>
                      <a:endParaRPr sz="800" b="0" i="1" dirty="0">
                        <a:solidFill>
                          <a:srgbClr val="4D4D4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A partir do texto de cada item presente no arquivo trabalhoConsolidado.md crie uma apresentação seguindo o padrão visual estabelecido no </a:t>
                      </a:r>
                      <a:r>
                        <a:rPr lang="pt-BR"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ppt</a:t>
                      </a:r>
                      <a:r>
                        <a:rPr lang="pt-BR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</a:t>
                      </a:r>
                      <a:r>
                        <a:rPr lang="pt-BR" sz="800" b="0" i="1" dirty="0" err="1">
                          <a:solidFill>
                            <a:srgbClr val="4D4D4D"/>
                          </a:solidFill>
                          <a:latin typeface="Aptos"/>
                        </a:rPr>
                        <a:t>template</a:t>
                      </a:r>
                      <a:r>
                        <a:rPr lang="pt-BR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 </a:t>
                      </a:r>
                      <a:endParaRPr sz="800" b="0" i="1" dirty="0">
                        <a:solidFill>
                          <a:srgbClr val="4D4D4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en-US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A apresentação foi compartilhada em reunião com todos os integrantes, permitindo o alinhamento da formatação e a revisão conjunta da disposição das imagens e dos textos selecionados.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en-US" sz="800" b="0" i="1" dirty="0">
                          <a:solidFill>
                            <a:srgbClr val="4D4D4D"/>
                          </a:solidFill>
                          <a:latin typeface="Aptos"/>
                        </a:rPr>
                        <a:t>Durante o projeto, identificamos que o Notebook LLM apresentou maior nível de detalhamento na criação do esboço inicial da apresentação. O ChatGPT foi utilizado como ferramenta principal para elaboração e refinamento de boa parte dos textos e apoio à estruturação do conteúdo.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69*459"/>
  <p:tag name="TABLE_ENDDRAG_RECT" val="44*106*869*45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1031</TotalTime>
  <Words>6293</Words>
  <Application>Microsoft Office PowerPoint</Application>
  <PresentationFormat>Widescreen</PresentationFormat>
  <Paragraphs>349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Georgia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André Moreira</cp:lastModifiedBy>
  <cp:revision>65</cp:revision>
  <dcterms:created xsi:type="dcterms:W3CDTF">2026-09-22T01:05:37Z</dcterms:created>
  <dcterms:modified xsi:type="dcterms:W3CDTF">2026-09-22T18:20:13Z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9AC8402316166FD3D4A1B16AE054E2A2_42</vt:lpwstr>
  </property>
  <property fmtid="{D5CDD505-2E9C-101B-9397-08002B2CF9AE}" pid="3" name="KSOProductBuildVer">
    <vt:lpwstr>1033-12.1.28492.28492</vt:lpwstr>
  </property>
</Properties>
</file>