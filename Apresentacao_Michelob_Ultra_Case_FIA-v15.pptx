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309D8-9251-4C9C-A0D1-9D14BF80F782}" v="11" dt="2026-09-21T20:52:19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39" autoAdjust="0"/>
    <p:restoredTop sz="75000" autoAdjust="0"/>
  </p:normalViewPr>
  <p:slideViewPr>
    <p:cSldViewPr snapToGrid="0" snapToObjects="1">
      <p:cViewPr varScale="1">
        <p:scale>
          <a:sx n="83" d="100"/>
          <a:sy n="83" d="100"/>
        </p:scale>
        <p:origin x="4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09-21T20:41:36.270" v="123" actId="20577"/>
      <pc:docMkLst>
        <pc:docMk/>
      </pc:docMkLst>
      <pc:sldChg chg="modSp mod">
        <pc:chgData name="André Moreira" userId="a074d5cff11e4feb" providerId="LiveId" clId="{A3AE0FC4-E642-4DAF-99C2-2E02E3CB77AA}" dt="2026-09-21T20:41:36.270" v="123" actId="20577"/>
        <pc:sldMkLst>
          <pc:docMk/>
          <pc:sldMk cId="0" sldId="256"/>
        </pc:sldMkLst>
        <pc:spChg chg="mod">
          <ac:chgData name="André Moreira" userId="a074d5cff11e4feb" providerId="LiveId" clId="{A3AE0FC4-E642-4DAF-99C2-2E02E3CB77AA}" dt="2026-09-21T20:41:36.270" v="123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09-21T20:27:10.520" v="63" actId="20577"/>
        <pc:sldMkLst>
          <pc:docMk/>
          <pc:sldMk cId="0" sldId="265"/>
        </pc:sldMkLst>
        <pc:graphicFrameChg chg="modGraphic">
          <ac:chgData name="André Moreira" userId="a074d5cff11e4feb" providerId="LiveId" clId="{A3AE0FC4-E642-4DAF-99C2-2E02E3CB77AA}" dt="2026-09-21T20:27:10.520" v="63" actId="20577"/>
          <ac:graphicFrameMkLst>
            <pc:docMk/>
            <pc:sldMk cId="0" sldId="265"/>
            <ac:graphicFrameMk id="3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0min30s.</a:t>
            </a:r>
          </a:p>
          <a:p>
            <a:endParaRPr/>
          </a:p>
          <a:p>
            <a:r>
              <a:t>Boa noite. Nosso case trata da ampliação da base de consumidores da Michelob Ultra no Brasil.</a:t>
            </a:r>
          </a:p>
          <a:p>
            <a:endParaRPr/>
          </a:p>
          <a:p>
            <a:r>
              <a:t>Não propomos mudar o produto. Propomos um piloto de marketing digital para transformar atributos já existentes — leveza, baixo teor de carboidratos e sabor — em motivos de escolha para mais adultos e mais situações de socialização.</a:t>
            </a:r>
          </a:p>
          <a:p>
            <a:endParaRPr/>
          </a:p>
          <a:p>
            <a:r>
              <a:t>A pergunta que orienta a apresentação é: como ampliar a base sem perder a identidade que a marca já construiu?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A Michelob Ultra pertence ao portfólio global da AB InBev e já possui uma proposta premium associada à leveza. Sua identidade foi construída em torno de esporte, bem-estar e vida ativa.</a:t>
            </a:r>
          </a:p>
          <a:p>
            <a:endParaRPr/>
          </a:p>
          <a:p>
            <a:r>
              <a:t>Essa credencial é um ativo, mas pode limitar a identificação de adultos que não se definem pelo desempenho físico. Eles também valorizam escolhas mais leves, mas querem encontrá-las em almoços, happy hours, churrascos, festivais e outros momentos sociais.</a:t>
            </a:r>
          </a:p>
          <a:p>
            <a:endParaRPr/>
          </a:p>
          <a:p>
            <a:r>
              <a:t>Por isso, o desafio não é abandonar o esporte nem reposicionar a marca como outra coisa. É usar o esporte como credencial complementar e ampliar a relevância da Michelob Ultra em contextos cotidianos de convivência.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 contexto de mercado mostra uma mudança mais ampla do que o nicho esportivo. A NielsenIQ aponta que 86% dos consumidores brasileiros já incorporaram algum hábito mais saudável à rotina. Ao mesmo tempo, cervejas de baixa caloria cresceram em volume e as ocasiões fora de casa aumentaram.</a:t>
            </a:r>
          </a:p>
          <a:p>
            <a:endParaRPr/>
          </a:p>
          <a:p>
            <a:r>
              <a:t>Esses dados não autorizam tratar bebida alcoólica como saudável. Eles indicam que equilíbrio, controle calórico e socialização passaram a coexistir na decisão de consumo.</a:t>
            </a:r>
          </a:p>
          <a:p>
            <a:endParaRPr/>
          </a:p>
          <a:p>
            <a:r>
              <a:t>A oportunidade para a Michelob Ultra é levar uma credencial que ela já possui a um público maior, em situações nas quais a pessoa quer socializar sem se sentir pesada ou afastada de sua rotina.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 problema de negócio nasce dessa mudança comportamental. Parte dos consumidores pode perceber cervejas tradicionais como mais pesadas para a rotina, enquanto opções sem álcool ainda enfrentam barreiras de sabor e de ocasião social.</a:t>
            </a:r>
          </a:p>
          <a:p>
            <a:endParaRPr/>
          </a:p>
          <a:p>
            <a:r>
              <a:t>Para a Michelob Ultra, o ponto central é que a associação predominante ao esporte pode reduzir a identificação de adultos que buscam leveza, mas não se reconhecem em corrida, pós-treino ou metas físicas.</a:t>
            </a:r>
          </a:p>
          <a:p>
            <a:endParaRPr/>
          </a:p>
          <a:p>
            <a:r>
              <a:t>Os limitadores que tratamos como hipóteses do case são: conhecimento limitado do posicionamento Ultra Light Premium, estigma de que cerveja leve é aguada e resistência de bares e cardápios a abrir espaço para a marca.</a:t>
            </a:r>
          </a:p>
          <a:p>
            <a:endParaRPr/>
          </a:p>
          <a:p>
            <a:r>
              <a:t>A tese é ampliar a base e as ocasiões sem descaracterizar a Michelob Ultra. Almoços, happy hours, churrascos, festivais e futebol são pontos de contato adicionais; não substituem as situações em que a marca já é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A estratégia tem duas frentes. A primeira é provar sabor e leveza: a degustação guiada responde diretamente ao estigma de cerveja aguada. A segunda é ampliar identificação: o esporte continua como credencial, mas deixa de ser requisito para que alguém se veja na marca.</a:t>
            </a:r>
          </a:p>
          <a:p>
            <a:endParaRPr/>
          </a:p>
          <a:p>
            <a:r>
              <a:t>O plano tático segue quatro ondas. Primeiro, degustação. Segundo, disponibilidade e visibilidade nos canais de venda. Terceiro, comunicação por ocasiões sociais. Quarto, relacionamento: conteúdo digital, QR code, cupom rastreável e CRM no Zé Delivery formam o piloto de aquisição e recompra.</a:t>
            </a:r>
          </a:p>
          <a:p>
            <a:endParaRPr/>
          </a:p>
          <a:p>
            <a:r>
              <a:t>A pesquisa da FGV orienta essa escolha. Ela mostra a relevância do baixo teor de carboidratos para a percepção de saudabilidade e indica que esporte não deve ser o argumento central de aquisição. A degustação é necessária para responder à barreira de sabor.</a:t>
            </a:r>
          </a:p>
          <a:p>
            <a:endParaRPr/>
          </a:p>
          <a:p>
            <a:r>
              <a:t>A matriz de 60%, 20% e 20% é uma hipótese inicial de investimento, não uma fotografia do mercado brasileiro. Os títulos clicáveis no slide levam às fontes que sustentam essa priorização.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planejado</a:t>
            </a:r>
            <a:r>
              <a:rPr dirty="0"/>
              <a:t>: 2min15s.</a:t>
            </a:r>
          </a:p>
          <a:p>
            <a:endParaRPr dirty="0"/>
          </a:p>
          <a:p>
            <a:r>
              <a:rPr dirty="0"/>
              <a:t>Este slide define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saberemos</a:t>
            </a:r>
            <a:r>
              <a:rPr dirty="0"/>
              <a:t> se o plano </a:t>
            </a:r>
            <a:r>
              <a:rPr dirty="0" err="1"/>
              <a:t>funciona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estamos</a:t>
            </a:r>
            <a:r>
              <a:rPr dirty="0"/>
              <a:t> </a:t>
            </a:r>
            <a:r>
              <a:rPr dirty="0" err="1"/>
              <a:t>prometendo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realizados</a:t>
            </a:r>
            <a:r>
              <a:rPr dirty="0"/>
              <a:t>; </a:t>
            </a:r>
            <a:r>
              <a:rPr dirty="0" err="1"/>
              <a:t>estamos</a:t>
            </a:r>
            <a:r>
              <a:rPr dirty="0"/>
              <a:t> </a:t>
            </a:r>
            <a:r>
              <a:rPr dirty="0" err="1"/>
              <a:t>definindo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pretendidos</a:t>
            </a:r>
            <a:r>
              <a:rPr dirty="0"/>
              <a:t>,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instrumentos</a:t>
            </a:r>
            <a:r>
              <a:rPr dirty="0"/>
              <a:t> para </a:t>
            </a:r>
            <a:r>
              <a:rPr dirty="0" err="1"/>
              <a:t>acompanhá-los</a:t>
            </a:r>
            <a:r>
              <a:rPr dirty="0"/>
              <a:t>. Cada </a:t>
            </a:r>
            <a:r>
              <a:rPr dirty="0" err="1"/>
              <a:t>indicador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decisão</a:t>
            </a:r>
            <a:r>
              <a:rPr dirty="0"/>
              <a:t> de </a:t>
            </a:r>
            <a:r>
              <a:rPr dirty="0" err="1"/>
              <a:t>continuidade</a:t>
            </a:r>
            <a:r>
              <a:rPr dirty="0"/>
              <a:t>,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do </a:t>
            </a:r>
            <a:r>
              <a:rPr dirty="0" err="1"/>
              <a:t>piloto</a:t>
            </a:r>
            <a:r>
              <a:rPr dirty="0"/>
              <a:t>. O </a:t>
            </a:r>
            <a:r>
              <a:rPr dirty="0" err="1"/>
              <a:t>propósito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perseguir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 </a:t>
            </a:r>
            <a:r>
              <a:rPr dirty="0" err="1"/>
              <a:t>artificiais</a:t>
            </a:r>
            <a:r>
              <a:rPr dirty="0"/>
              <a:t>, mas </a:t>
            </a:r>
            <a:r>
              <a:rPr dirty="0" err="1"/>
              <a:t>reunir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investir</a:t>
            </a:r>
            <a:r>
              <a:rPr dirty="0"/>
              <a:t> em </a:t>
            </a:r>
            <a:r>
              <a:rPr dirty="0" err="1"/>
              <a:t>seguida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ampliar</a:t>
            </a:r>
            <a:r>
              <a:rPr dirty="0"/>
              <a:t> o </a:t>
            </a:r>
            <a:r>
              <a:rPr dirty="0" err="1"/>
              <a:t>conhecimento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 entre </a:t>
            </a:r>
            <a:r>
              <a:rPr dirty="0" err="1"/>
              <a:t>adultos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valorizam</a:t>
            </a:r>
            <a:r>
              <a:rPr dirty="0"/>
              <a:t> </a:t>
            </a:r>
            <a:r>
              <a:rPr dirty="0" err="1"/>
              <a:t>leveza</a:t>
            </a:r>
            <a:r>
              <a:rPr dirty="0"/>
              <a:t> e </a:t>
            </a:r>
            <a:r>
              <a:rPr dirty="0" err="1"/>
              <a:t>socialização</a:t>
            </a:r>
            <a:r>
              <a:rPr dirty="0"/>
              <a:t>. Por </a:t>
            </a:r>
            <a:r>
              <a:rPr dirty="0" err="1"/>
              <a:t>isso</a:t>
            </a:r>
            <a:r>
              <a:rPr dirty="0"/>
              <a:t>, </a:t>
            </a:r>
            <a:r>
              <a:rPr dirty="0" err="1"/>
              <a:t>acompanharemos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, </a:t>
            </a:r>
            <a:r>
              <a:rPr dirty="0" err="1"/>
              <a:t>frequência</a:t>
            </a:r>
            <a:r>
              <a:rPr dirty="0"/>
              <a:t>, </a:t>
            </a:r>
            <a:r>
              <a:rPr dirty="0" err="1"/>
              <a:t>engajamento</a:t>
            </a:r>
            <a:r>
              <a:rPr dirty="0"/>
              <a:t> e, </a:t>
            </a:r>
            <a:r>
              <a:rPr dirty="0" err="1"/>
              <a:t>principalmente</a:t>
            </a:r>
            <a:r>
              <a:rPr dirty="0"/>
              <a:t>, a </a:t>
            </a:r>
            <a:r>
              <a:rPr dirty="0" err="1"/>
              <a:t>mudança</a:t>
            </a:r>
            <a:r>
              <a:rPr dirty="0"/>
              <a:t> de </a:t>
            </a:r>
            <a:r>
              <a:rPr dirty="0" err="1"/>
              <a:t>associação</a:t>
            </a:r>
            <a:r>
              <a:rPr dirty="0"/>
              <a:t> da Michelob Ultra com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ocasiões</a:t>
            </a:r>
            <a:r>
              <a:rPr dirty="0"/>
              <a:t> </a:t>
            </a:r>
            <a:r>
              <a:rPr dirty="0" err="1"/>
              <a:t>além</a:t>
            </a:r>
            <a:r>
              <a:rPr dirty="0"/>
              <a:t> do </a:t>
            </a:r>
            <a:r>
              <a:rPr dirty="0" err="1"/>
              <a:t>esporte</a:t>
            </a:r>
            <a:r>
              <a:rPr dirty="0"/>
              <a:t>. A </a:t>
            </a:r>
            <a:r>
              <a:rPr dirty="0" err="1"/>
              <a:t>pesquisa</a:t>
            </a:r>
            <a:r>
              <a:rPr dirty="0"/>
              <a:t> breve antes e </a:t>
            </a:r>
            <a:r>
              <a:rPr dirty="0" err="1"/>
              <a:t>depois</a:t>
            </a:r>
            <a:r>
              <a:rPr dirty="0"/>
              <a:t> da </a:t>
            </a:r>
            <a:r>
              <a:rPr dirty="0" err="1"/>
              <a:t>campanha</a:t>
            </a:r>
            <a:r>
              <a:rPr dirty="0"/>
              <a:t> </a:t>
            </a:r>
            <a:r>
              <a:rPr dirty="0" err="1"/>
              <a:t>verifica</a:t>
            </a:r>
            <a:r>
              <a:rPr dirty="0"/>
              <a:t> se a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alcançando</a:t>
            </a:r>
            <a:r>
              <a:rPr dirty="0"/>
              <a:t> o novo </a:t>
            </a:r>
            <a:r>
              <a:rPr dirty="0" err="1"/>
              <a:t>público</a:t>
            </a:r>
            <a:r>
              <a:rPr dirty="0"/>
              <a:t> e </a:t>
            </a:r>
            <a:r>
              <a:rPr dirty="0" err="1"/>
              <a:t>mudando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percepção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segundo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conquistar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consumidores</a:t>
            </a:r>
            <a:r>
              <a:rPr dirty="0"/>
              <a:t> e </a:t>
            </a:r>
            <a:r>
              <a:rPr dirty="0" err="1"/>
              <a:t>novas</a:t>
            </a:r>
            <a:r>
              <a:rPr dirty="0"/>
              <a:t> </a:t>
            </a:r>
            <a:r>
              <a:rPr dirty="0" err="1"/>
              <a:t>ocasiões</a:t>
            </a:r>
            <a:r>
              <a:rPr dirty="0"/>
              <a:t>. Aqui, QR codes, </a:t>
            </a:r>
            <a:r>
              <a:rPr dirty="0" err="1"/>
              <a:t>cupons</a:t>
            </a:r>
            <a:r>
              <a:rPr dirty="0"/>
              <a:t> e dados das </a:t>
            </a:r>
            <a:r>
              <a:rPr dirty="0" err="1"/>
              <a:t>plataformas</a:t>
            </a:r>
            <a:r>
              <a:rPr dirty="0"/>
              <a:t> </a:t>
            </a:r>
            <a:r>
              <a:rPr dirty="0" err="1"/>
              <a:t>permitem</a:t>
            </a:r>
            <a:r>
              <a:rPr dirty="0"/>
              <a:t> </a:t>
            </a:r>
            <a:r>
              <a:rPr dirty="0" err="1"/>
              <a:t>ligar</a:t>
            </a:r>
            <a:r>
              <a:rPr dirty="0"/>
              <a:t> a </a:t>
            </a:r>
            <a:r>
              <a:rPr dirty="0" err="1"/>
              <a:t>degustação</a:t>
            </a:r>
            <a:r>
              <a:rPr dirty="0"/>
              <a:t> à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compra</a:t>
            </a:r>
            <a:r>
              <a:rPr dirty="0"/>
              <a:t>,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compradores</a:t>
            </a:r>
            <a:r>
              <a:rPr dirty="0"/>
              <a:t> e </a:t>
            </a:r>
            <a:r>
              <a:rPr dirty="0" err="1"/>
              <a:t>observar</a:t>
            </a:r>
            <a:r>
              <a:rPr dirty="0"/>
              <a:t> a </a:t>
            </a:r>
            <a:r>
              <a:rPr dirty="0" err="1"/>
              <a:t>frequência</a:t>
            </a:r>
            <a:r>
              <a:rPr dirty="0"/>
              <a:t> de </a:t>
            </a:r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ocasiões</a:t>
            </a:r>
            <a:r>
              <a:rPr dirty="0"/>
              <a:t> </a:t>
            </a:r>
            <a:r>
              <a:rPr dirty="0" err="1"/>
              <a:t>priorizadas</a:t>
            </a:r>
            <a:r>
              <a:rPr dirty="0"/>
              <a:t>. Assim, a </a:t>
            </a:r>
            <a:r>
              <a:rPr dirty="0" err="1"/>
              <a:t>experimentação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ser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isolada</a:t>
            </a:r>
            <a:r>
              <a:rPr dirty="0"/>
              <a:t> e </a:t>
            </a:r>
            <a:r>
              <a:rPr dirty="0" err="1"/>
              <a:t>passa</a:t>
            </a:r>
            <a:r>
              <a:rPr dirty="0"/>
              <a:t> a ser o </a:t>
            </a:r>
            <a:r>
              <a:rPr dirty="0" err="1"/>
              <a:t>início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jornada </a:t>
            </a:r>
            <a:r>
              <a:rPr dirty="0" err="1"/>
              <a:t>mensurável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terceiro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disponibilidade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basta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intenção</a:t>
            </a:r>
            <a:r>
              <a:rPr dirty="0"/>
              <a:t> se o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visível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geladeira</a:t>
            </a:r>
            <a:r>
              <a:rPr dirty="0"/>
              <a:t>,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gôndola</a:t>
            </a:r>
            <a:r>
              <a:rPr dirty="0"/>
              <a:t>, no </a:t>
            </a:r>
            <a:r>
              <a:rPr dirty="0" err="1"/>
              <a:t>cardápio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. </a:t>
            </a:r>
            <a:r>
              <a:rPr dirty="0" err="1"/>
              <a:t>Mediremos</a:t>
            </a:r>
            <a:r>
              <a:rPr dirty="0"/>
              <a:t> </a:t>
            </a:r>
            <a:r>
              <a:rPr dirty="0" err="1"/>
              <a:t>cobertura</a:t>
            </a:r>
            <a:r>
              <a:rPr dirty="0"/>
              <a:t>, </a:t>
            </a:r>
            <a:r>
              <a:rPr dirty="0" err="1"/>
              <a:t>presença</a:t>
            </a:r>
            <a:r>
              <a:rPr dirty="0"/>
              <a:t> e </a:t>
            </a:r>
            <a:r>
              <a:rPr dirty="0" err="1"/>
              <a:t>visibilidade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canais</a:t>
            </a:r>
            <a:r>
              <a:rPr dirty="0"/>
              <a:t> </a:t>
            </a:r>
            <a:r>
              <a:rPr dirty="0" err="1"/>
              <a:t>priorizados</a:t>
            </a:r>
            <a:r>
              <a:rPr dirty="0"/>
              <a:t> para </a:t>
            </a:r>
            <a:r>
              <a:rPr dirty="0" err="1"/>
              <a:t>separar</a:t>
            </a:r>
            <a:r>
              <a:rPr dirty="0"/>
              <a:t> um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comunicação</a:t>
            </a:r>
            <a:r>
              <a:rPr dirty="0"/>
              <a:t> de um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acesso</a:t>
            </a:r>
            <a:r>
              <a:rPr dirty="0"/>
              <a:t> à </a:t>
            </a:r>
            <a:r>
              <a:rPr dirty="0" err="1"/>
              <a:t>compra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Por </a:t>
            </a:r>
            <a:r>
              <a:rPr dirty="0" err="1"/>
              <a:t>fim</a:t>
            </a:r>
            <a:r>
              <a:rPr dirty="0"/>
              <a:t>, </a:t>
            </a:r>
            <a:r>
              <a:rPr dirty="0" err="1"/>
              <a:t>crescimento</a:t>
            </a:r>
            <a:r>
              <a:rPr dirty="0"/>
              <a:t> </a:t>
            </a:r>
            <a:r>
              <a:rPr dirty="0" err="1"/>
              <a:t>sustentável</a:t>
            </a:r>
            <a:r>
              <a:rPr dirty="0"/>
              <a:t>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transformar</a:t>
            </a:r>
            <a:r>
              <a:rPr dirty="0"/>
              <a:t> </a:t>
            </a:r>
            <a:r>
              <a:rPr dirty="0" err="1"/>
              <a:t>experimentação</a:t>
            </a:r>
            <a:r>
              <a:rPr dirty="0"/>
              <a:t> em </a:t>
            </a:r>
            <a:r>
              <a:rPr dirty="0" err="1"/>
              <a:t>recompra</a:t>
            </a:r>
            <a:r>
              <a:rPr dirty="0"/>
              <a:t> e </a:t>
            </a:r>
            <a:r>
              <a:rPr dirty="0" err="1"/>
              <a:t>vendas</a:t>
            </a:r>
            <a:r>
              <a:rPr dirty="0"/>
              <a:t> </a:t>
            </a:r>
            <a:r>
              <a:rPr dirty="0" err="1"/>
              <a:t>incrementais</a:t>
            </a:r>
            <a:r>
              <a:rPr dirty="0"/>
              <a:t>. A </a:t>
            </a:r>
            <a:r>
              <a:rPr dirty="0" err="1"/>
              <a:t>faixa</a:t>
            </a:r>
            <a:r>
              <a:rPr dirty="0"/>
              <a:t> de </a:t>
            </a:r>
            <a:r>
              <a:rPr dirty="0" err="1"/>
              <a:t>fechamento</a:t>
            </a:r>
            <a:r>
              <a:rPr dirty="0"/>
              <a:t> resume o </a:t>
            </a:r>
            <a:r>
              <a:rPr dirty="0" err="1"/>
              <a:t>método</a:t>
            </a:r>
            <a:r>
              <a:rPr dirty="0"/>
              <a:t>: registrar a </a:t>
            </a:r>
            <a:r>
              <a:rPr dirty="0" err="1"/>
              <a:t>linha</a:t>
            </a:r>
            <a:r>
              <a:rPr dirty="0"/>
              <a:t> de base antes das </a:t>
            </a:r>
            <a:r>
              <a:rPr dirty="0" err="1"/>
              <a:t>ações</a:t>
            </a:r>
            <a:r>
              <a:rPr dirty="0"/>
              <a:t>, </a:t>
            </a:r>
            <a:r>
              <a:rPr dirty="0" err="1"/>
              <a:t>ativar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região</a:t>
            </a:r>
            <a:r>
              <a:rPr dirty="0"/>
              <a:t> e canal,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escalar</a:t>
            </a:r>
            <a:r>
              <a:rPr dirty="0"/>
              <a:t> </a:t>
            </a:r>
            <a:r>
              <a:rPr dirty="0" err="1"/>
              <a:t>somente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aquisição</a:t>
            </a:r>
            <a:r>
              <a:rPr dirty="0"/>
              <a:t> e </a:t>
            </a:r>
            <a:r>
              <a:rPr dirty="0" err="1"/>
              <a:t>recompra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Os concorrentes selecionados disputam a preferência de consumidores que desejam uma cerveja com álcool e menor teor calórico para ocasiões sociais comuns.</a:t>
            </a:r>
          </a:p>
          <a:p>
            <a:endParaRPr/>
          </a:p>
          <a:p>
            <a:r>
              <a:t>A Amstel Ultra traz atributos próximos e se beneficia da familiaridade de uma marca já consolidada no portfólio Heineken. A pressão para Michelob é explicar por que sua experiência premium merece preferência.</a:t>
            </a:r>
          </a:p>
          <a:p>
            <a:endParaRPr/>
          </a:p>
          <a:p>
            <a:r>
              <a:t>A Heineken Ultimate atende o consumidor habitual da marca que busca menor teor alcoólico e calórico. A resposta da Michelob não é copiar a concorrente. É reforçar uma identidade própria de leveza, sabor e relevância em novas ocasiões sociais.</a:t>
            </a:r>
          </a:p>
          <a:p>
            <a:endParaRPr/>
          </a:p>
          <a:p>
            <a:r>
              <a:t>Portanto, a competição não é apenas por preço ou calorias. É por reconhecimento, disponibilidade e significado de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planejado</a:t>
            </a:r>
            <a:r>
              <a:rPr dirty="0"/>
              <a:t>: 2min00s.</a:t>
            </a:r>
          </a:p>
          <a:p>
            <a:endParaRPr dirty="0"/>
          </a:p>
          <a:p>
            <a:r>
              <a:rPr dirty="0" err="1"/>
              <a:t>Os</a:t>
            </a:r>
            <a:r>
              <a:rPr dirty="0"/>
              <a:t> benchmarks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servem</a:t>
            </a:r>
            <a:r>
              <a:rPr dirty="0"/>
              <a:t> para </a:t>
            </a:r>
            <a:r>
              <a:rPr dirty="0" err="1"/>
              <a:t>copiar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; </a:t>
            </a:r>
            <a:r>
              <a:rPr dirty="0" err="1"/>
              <a:t>servem</a:t>
            </a:r>
            <a:r>
              <a:rPr dirty="0"/>
              <a:t> para </a:t>
            </a:r>
            <a:r>
              <a:rPr dirty="0" err="1"/>
              <a:t>trazer</a:t>
            </a:r>
            <a:r>
              <a:rPr dirty="0"/>
              <a:t> </a:t>
            </a:r>
            <a:r>
              <a:rPr dirty="0" err="1"/>
              <a:t>aprendizados</a:t>
            </a:r>
            <a:r>
              <a:rPr dirty="0"/>
              <a:t> </a:t>
            </a:r>
            <a:r>
              <a:rPr dirty="0" err="1"/>
              <a:t>aplicáveis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</a:t>
            </a:r>
            <a:r>
              <a:rPr dirty="0" err="1"/>
              <a:t>Oatly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enfrentar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barreira</a:t>
            </a:r>
            <a:r>
              <a:rPr dirty="0"/>
              <a:t> de paladar com testes e </a:t>
            </a:r>
            <a:r>
              <a:rPr dirty="0" err="1"/>
              <a:t>prova</a:t>
            </a:r>
            <a:r>
              <a:rPr dirty="0"/>
              <a:t> de </a:t>
            </a:r>
            <a:r>
              <a:rPr dirty="0" err="1"/>
              <a:t>produto</a:t>
            </a:r>
            <a:r>
              <a:rPr dirty="0"/>
              <a:t>. Para Michelob, a </a:t>
            </a:r>
            <a:r>
              <a:rPr dirty="0" err="1"/>
              <a:t>aplicação</a:t>
            </a:r>
            <a:r>
              <a:rPr dirty="0"/>
              <a:t> é </a:t>
            </a:r>
            <a:r>
              <a:rPr dirty="0" err="1"/>
              <a:t>fazer</a:t>
            </a:r>
            <a:r>
              <a:rPr dirty="0"/>
              <a:t> da </a:t>
            </a:r>
            <a:r>
              <a:rPr dirty="0" err="1"/>
              <a:t>degustação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estigma</a:t>
            </a:r>
            <a:r>
              <a:rPr dirty="0"/>
              <a:t> de </a:t>
            </a:r>
            <a:r>
              <a:rPr dirty="0" err="1"/>
              <a:t>cerveja</a:t>
            </a:r>
            <a:r>
              <a:rPr dirty="0"/>
              <a:t> </a:t>
            </a:r>
            <a:r>
              <a:rPr dirty="0" err="1"/>
              <a:t>aguada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Guinness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ampliar</a:t>
            </a:r>
            <a:r>
              <a:rPr dirty="0"/>
              <a:t> a base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identidade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, </a:t>
            </a:r>
            <a:r>
              <a:rPr dirty="0" err="1"/>
              <a:t>combinando</a:t>
            </a:r>
            <a:r>
              <a:rPr dirty="0"/>
              <a:t> </a:t>
            </a:r>
            <a:r>
              <a:rPr dirty="0" err="1"/>
              <a:t>comunicação</a:t>
            </a:r>
            <a:r>
              <a:rPr dirty="0"/>
              <a:t>, </a:t>
            </a:r>
            <a:r>
              <a:rPr dirty="0" err="1"/>
              <a:t>presença</a:t>
            </a:r>
            <a:r>
              <a:rPr dirty="0"/>
              <a:t> em bares e </a:t>
            </a:r>
            <a:r>
              <a:rPr dirty="0" err="1"/>
              <a:t>recrutamento</a:t>
            </a:r>
            <a:r>
              <a:rPr dirty="0"/>
              <a:t> de </a:t>
            </a:r>
            <a:r>
              <a:rPr dirty="0" err="1"/>
              <a:t>públicos</a:t>
            </a:r>
            <a:r>
              <a:rPr dirty="0"/>
              <a:t> antes </a:t>
            </a:r>
            <a:r>
              <a:rPr dirty="0" err="1"/>
              <a:t>subatendidos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White Claw </a:t>
            </a:r>
            <a:r>
              <a:rPr dirty="0" err="1"/>
              <a:t>reforça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as </a:t>
            </a:r>
            <a:r>
              <a:rPr dirty="0" err="1"/>
              <a:t>necessidades</a:t>
            </a:r>
            <a:r>
              <a:rPr dirty="0"/>
              <a:t> </a:t>
            </a:r>
            <a:r>
              <a:rPr dirty="0" err="1"/>
              <a:t>variam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a </a:t>
            </a:r>
            <a:r>
              <a:rPr dirty="0" err="1"/>
              <a:t>semana</a:t>
            </a:r>
            <a:r>
              <a:rPr dirty="0"/>
              <a:t>. O </a:t>
            </a:r>
            <a:r>
              <a:rPr dirty="0" err="1"/>
              <a:t>aprendizado</a:t>
            </a:r>
            <a:r>
              <a:rPr dirty="0"/>
              <a:t> para a Michelob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lançar</a:t>
            </a:r>
            <a:r>
              <a:rPr dirty="0"/>
              <a:t> </a:t>
            </a: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; é </a:t>
            </a:r>
            <a:r>
              <a:rPr dirty="0" err="1"/>
              <a:t>organizar</a:t>
            </a:r>
            <a:r>
              <a:rPr dirty="0"/>
              <a:t> a </a:t>
            </a:r>
            <a:r>
              <a:rPr dirty="0" err="1"/>
              <a:t>comunicação</a:t>
            </a:r>
            <a:r>
              <a:rPr dirty="0"/>
              <a:t>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de </a:t>
            </a:r>
            <a:r>
              <a:rPr dirty="0" err="1"/>
              <a:t>contato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ocasião</a:t>
            </a:r>
            <a:r>
              <a:rPr dirty="0"/>
              <a:t>, </a:t>
            </a:r>
            <a:r>
              <a:rPr dirty="0" err="1"/>
              <a:t>preservando</a:t>
            </a:r>
            <a:r>
              <a:rPr dirty="0"/>
              <a:t>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 e </a:t>
            </a:r>
            <a:r>
              <a:rPr dirty="0" err="1"/>
              <a:t>proposta</a:t>
            </a:r>
            <a:r>
              <a:rPr dirty="0"/>
              <a:t>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O Canvas traduz a estratégia em recomendações de negócio. Nos parceiros, priorizamos canais de venda, bares, restaurantes, eventos, plataformas de entrega e criadores de conteúdo. Nas atividades, destacamos degustação, comunicação por ocasião e presença nos canais.</a:t>
            </a:r>
          </a:p>
          <a:p>
            <a:endParaRPr/>
          </a:p>
          <a:p>
            <a:r>
              <a:t>A proposta de valor permanece uma cerveja premium leve e refrescante, com baixas calorias e baixo teor de carboidratos, agora conectada a mais situações de convivência.</a:t>
            </a:r>
          </a:p>
          <a:p>
            <a:endParaRPr/>
          </a:p>
          <a:p>
            <a:r>
              <a:t>Os relacionamentos e canais tornam o piloto executável: ponto de venda, CRM, cupons, Zé Delivery, iFood, bares, restaurantes e eventos.</a:t>
            </a:r>
          </a:p>
          <a:p>
            <a:endParaRPr/>
          </a:p>
          <a:p>
            <a:r>
              <a:t>A segmentação de investimento é inicial e será validada no piloto. Millennials recebem a maior parcela pela combinação de socialização e canais digitais; Geração Z é estratégica para eventos e experiências; Geração X combina interesse em controle calórico com necessidade de prova de sabor.</a:t>
            </a:r>
          </a:p>
          <a:p>
            <a:endParaRPr/>
          </a:p>
          <a:p>
            <a:r>
              <a:t>A lógica financeira é gerar vendas incrementais, recorrência e maior frequência de compra nos canais e ocasiões priorizados.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0min45s.</a:t>
            </a:r>
          </a:p>
          <a:p>
            <a:endParaRPr/>
          </a:p>
          <a:p>
            <a:r>
              <a:t>Este anexo registra o uso de inteligência artificial no trabalho, conforme solicitado pelo professor.</a:t>
            </a:r>
          </a:p>
          <a:p>
            <a:endParaRPr/>
          </a:p>
          <a:p>
            <a:r>
              <a:t>Antes da entrega final, o grupo deve preencher a tabela somente com as ferramentas, instruções e resultados que utilizou de fato. O objetivo é dar transparência ao processo, mostrando tanto os usos quanto os limites identificados.</a:t>
            </a:r>
          </a:p>
          <a:p>
            <a:endParaRPr/>
          </a:p>
          <a:p>
            <a:r>
              <a:t>Encerramos reforçando que a proposta é um piloto mensurável para ampliar a base da Michelob Ultra, preservando a identidade da marca e aprendendo antes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erencias.fgv.br/clav/article/download/598/354/144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dnews.com.br/post/ze-delivery-oferece-ate-40-off-no-mes-da-cerveja" TargetMode="External"/><Relationship Id="rId4" Type="http://schemas.openxmlformats.org/officeDocument/2006/relationships/hyperlink" Target="https://rascasse.com/explore/us/michelob-ultra-14949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heinekenbrasil.com.br/nossas-marcas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alor.globo.com/conteudo-de-marca/heineken/noticia/2026/07/14/heinekenr-lanca-versao-com-menor-teor-alcoolico-e-caloria-primeiro-no-brasil.ghtml" TargetMode="External"/><Relationship Id="rId5" Type="http://schemas.openxmlformats.org/officeDocument/2006/relationships/hyperlink" Target="https://www.heinekenbrasil.com.br/heineken-ultimate" TargetMode="External"/><Relationship Id="rId4" Type="http://schemas.openxmlformats.org/officeDocument/2006/relationships/hyperlink" Target="https://express.heineken.com.br/collections/amstel-cerveja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hyperlink" Target="https://www.oatly.com/sustainability/influence-food-system-change" TargetMode="External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ussupport.whiteclaw.com/en/support/solutions/articles/36000314438-how-much-alcohol-is-in-white-claw-hard-seltzer-surge-" TargetMode="External"/><Relationship Id="rId4" Type="http://schemas.openxmlformats.org/officeDocument/2006/relationships/hyperlink" Target="https://www.diageo.com/en/news-and-media/stories/2023/world-class-brand-building-the-year-guinness-became-great-britain-s-favourite-pin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— Piloto de aquisição e recompra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</a:t>
            </a:r>
            <a:r>
              <a:rPr lang="pt-BR" dirty="0"/>
              <a:t>Digital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</a:t>
            </a:r>
            <a:r>
              <a:rPr lang="pt-BR" dirty="0"/>
              <a:t>—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cerveja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</a:t>
            </a:r>
            <a:r>
              <a:rPr lang="pt-BR" sz="900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sz="900" dirty="0" err="1"/>
              <a:t>Michelob</a:t>
            </a:r>
            <a:r>
              <a:rPr lang="pt-BR" sz="900" dirty="0"/>
              <a:t> Ultra como cerveja premium leve.</a:t>
            </a:r>
            <a:br>
              <a:rPr sz="900" dirty="0"/>
            </a:br>
            <a:r>
              <a:rPr sz="900" dirty="0"/>
              <a:t>•</a:t>
            </a:r>
            <a:r>
              <a:rPr lang="pt-BR" sz="900" dirty="0"/>
              <a:t> Ampliar a identificação com a marca: usar o esporte como credencial complementar e construir presença para adultos que buscam leveza em sua vida social, sem depender de desempenho físico.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1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2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3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4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Fonte: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lang="pt-BR"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olidFill>
                  <a:srgbClr val="1B2A4A"/>
                </a:solidFill>
                <a:latin typeface="Calibri"/>
              </a:rPr>
              <a:t>Fontes usadas para avaliar a distribuição inicial de investimento a validar no piloto: 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sz="900" u="sng" dirty="0">
                <a:solidFill>
                  <a:srgbClr val="0F4C81"/>
                </a:solidFill>
                <a:latin typeface="Aptos"/>
                <a:hlinkClick r:id="rId4"/>
              </a:rPr>
              <a:t>Michelob ULTRA Target Market: 2.2M People in United States (2026) — Age, Gender &amp; Regions- Rascasse Audience Intelligence</a:t>
            </a:r>
            <a:r>
              <a:rPr sz="900" dirty="0">
                <a:solidFill>
                  <a:srgbClr val="4D4D4D"/>
                </a:solidFill>
                <a:latin typeface="Aptos"/>
              </a:rPr>
              <a:t>; 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Zé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Delivery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oferece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até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40% off no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mês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da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cerveja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—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Adnews</a:t>
            </a:r>
            <a:r>
              <a:rPr sz="900" dirty="0">
                <a:solidFill>
                  <a:srgbClr val="4D4D4D"/>
                </a:solidFill>
                <a:latin typeface="Aptos"/>
              </a:rPr>
              <a:t>;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Chave: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>
              <a:rPr dirty="0"/>
            </a:br>
            <a:r>
              <a:rPr sz="1050" dirty="0"/>
              <a:t>• Atributos: Cerveja com álcool, menor teor calórico,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Força Comercial: Marca do portfólio do Grupo Heineken; a versão Ultra reforça uma proposta de cerveja leve,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Grupo Heineken Brasil: </a:t>
            </a:r>
            <a:r>
              <a:rPr lang="pt-BR" sz="1050" dirty="0">
                <a:hlinkClick r:id="rId3"/>
              </a:rPr>
              <a:t>Marcas do grupo Heineken</a:t>
            </a:r>
            <a:br>
              <a:rPr dirty="0"/>
            </a:br>
            <a:r>
              <a:rPr sz="1050" dirty="0"/>
              <a:t>  - Heineken Express: </a:t>
            </a:r>
            <a:r>
              <a:rPr lang="pt-BR" sz="1050" dirty="0" err="1">
                <a:hlinkClick r:id="rId4"/>
              </a:rPr>
              <a:t>Amstel</a:t>
            </a:r>
            <a:r>
              <a:rPr lang="pt-BR" sz="1050" dirty="0">
                <a:hlinkClick r:id="rId4"/>
              </a:rPr>
              <a:t> Cervejas</a:t>
            </a:r>
            <a:endParaRPr sz="1050" dirty="0"/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>
              <a:rPr dirty="0"/>
            </a:br>
            <a:br>
              <a:rPr dirty="0"/>
            </a:br>
            <a:r>
              <a:rPr sz="1050" dirty="0"/>
              <a:t>• Proposta: Opção com menos calorias dentro de uma marca global já estabelecida (lançada no Brasil em maio/2026).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Retenção do consumidor habitual de Heineken que busca redução calórica.</a:t>
            </a:r>
            <a:br>
              <a:rPr dirty="0"/>
            </a:br>
            <a:br>
              <a:rPr dirty="0"/>
            </a:br>
            <a:r>
              <a:rPr sz="1050" dirty="0"/>
              <a:t>• Resposta Michelob: Focar em identidade própria de leveza, sabor superior e ativação de estilo de vida.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Produto oficial: </a:t>
            </a:r>
            <a:r>
              <a:rPr lang="pt-BR" sz="1050" dirty="0">
                <a:hlinkClick r:id="rId5"/>
              </a:rPr>
              <a:t>Heineken® </a:t>
            </a:r>
            <a:r>
              <a:rPr lang="pt-BR" sz="1050" dirty="0" err="1">
                <a:hlinkClick r:id="rId5"/>
              </a:rPr>
              <a:t>Ultimate</a:t>
            </a:r>
            <a:br>
              <a:rPr dirty="0"/>
            </a:br>
            <a:r>
              <a:rPr sz="1050" dirty="0"/>
              <a:t>  - Lançamento: </a:t>
            </a:r>
            <a:r>
              <a:rPr lang="pt-BR" sz="1050" dirty="0">
                <a:hlinkClick r:id="rId6"/>
              </a:rPr>
              <a:t>Heineken® lança versão com menor teor alcóolico e caloria primeiro no Brasil</a:t>
            </a:r>
            <a:endParaRPr sz="1050" dirty="0"/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Assumir a leveza como atributo de marca (sem tentar imitar cerveja encorpada).</a:t>
            </a:r>
            <a:br>
              <a:rPr dirty="0"/>
            </a:br>
            <a:r>
              <a:rPr sz="900" dirty="0"/>
              <a:t>  2. Construir desejo antes da comparação técnica via conteúdo nativo.</a:t>
            </a:r>
            <a:br>
              <a:rPr dirty="0"/>
            </a:br>
            <a:r>
              <a:rPr sz="900" dirty="0"/>
              <a:t>  3. Converter dúvida em prova de produto através de degustação gelada guiada.</a:t>
            </a:r>
            <a:br>
              <a:rPr dirty="0"/>
            </a:br>
            <a:br>
              <a:rPr dirty="0"/>
            </a:br>
            <a:r>
              <a:rPr sz="900" dirty="0"/>
              <a:t>• Fontes:</a:t>
            </a:r>
            <a:br>
              <a:rPr dirty="0"/>
            </a:br>
            <a:r>
              <a:rPr sz="900" dirty="0"/>
              <a:t>  - Teste cego Oatly: </a:t>
            </a:r>
            <a:r>
              <a:rPr lang="en-US" sz="900" dirty="0">
                <a:hlinkClick r:id="rId3"/>
              </a:rPr>
              <a:t>Caroline Reid, Senior Director of Sustainability at </a:t>
            </a:r>
            <a:r>
              <a:rPr lang="en-US" sz="900" dirty="0" err="1">
                <a:hlinkClick r:id="rId3"/>
              </a:rPr>
              <a:t>Oatly</a:t>
            </a:r>
            <a:r>
              <a:rPr lang="en-US" sz="900" dirty="0">
                <a:hlinkClick r:id="rId3"/>
              </a:rPr>
              <a:t>, reflects on how we &amp; others can influence food system transformation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Recrutar públicos subatendidos preservando a identidade de marca.</a:t>
            </a:r>
            <a:br>
              <a:rPr dirty="0"/>
            </a:br>
            <a:r>
              <a:rPr sz="900" dirty="0"/>
              <a:t>  2. Trabalhar simultaneamente comunicação e presença/visibilidade no trade.</a:t>
            </a:r>
            <a:br>
              <a:rPr dirty="0"/>
            </a:br>
            <a:r>
              <a:rPr sz="900" dirty="0"/>
              <a:t>  3. Expandir o calendário de consumo para novas ocasiões diurnas e sociais.</a:t>
            </a:r>
            <a:br>
              <a:rPr dirty="0"/>
            </a:br>
            <a:br>
              <a:rPr dirty="0"/>
            </a:br>
            <a:r>
              <a:rPr sz="900" dirty="0"/>
              <a:t>• Fonte: Diageo — </a:t>
            </a:r>
            <a:r>
              <a:rPr lang="en-US" sz="900" dirty="0">
                <a:hlinkClick r:id="rId4"/>
              </a:rPr>
              <a:t>World-class brand building: The year Guinness became Great Britain’s </a:t>
            </a:r>
            <a:r>
              <a:rPr lang="en-US" sz="900" dirty="0" err="1">
                <a:hlinkClick r:id="rId4"/>
              </a:rPr>
              <a:t>favourite</a:t>
            </a:r>
            <a:r>
              <a:rPr lang="en-US" sz="900" dirty="0">
                <a:hlinkClick r:id="rId4"/>
              </a:rPr>
              <a:t> pint</a:t>
            </a:r>
            <a:endParaRPr sz="900"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>
              <a:rPr dirty="0"/>
            </a:br>
            <a:br>
              <a:rPr dirty="0"/>
            </a:br>
            <a:r>
              <a:rPr lang="pt-BR" sz="900" dirty="0"/>
              <a:t>• Fonte: White Claw Support — </a:t>
            </a:r>
            <a:r>
              <a:rPr lang="pt-BR" sz="900" dirty="0">
                <a:hlinkClick r:id="rId5"/>
              </a:rPr>
              <a:t>https://ussupport.whiteclaw.com/en/support/solutions/articles/36000314438-how-much-alcohol-is-in-white-claw-hard-seltzer-surge-</a:t>
            </a:r>
            <a:endParaRPr lang="pt-BR" sz="900" dirty="0"/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exclusivamente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com ferramentas,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instruções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resultados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utilizados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de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fato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pelo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grupo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Não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inserir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conteúdo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presumido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477520"/>
              </p:ext>
            </p:extLst>
          </p:nvPr>
        </p:nvGraphicFramePr>
        <p:xfrm>
          <a:off x="566928" y="1536192"/>
          <a:ext cx="10698480" cy="5023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Etapa do trabalho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Ferramenta utilizada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Prompt-chave ou instrução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Como o resultado foi usado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Aprendizado ou limite identificado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Pesquisa 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leitura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fontes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Gemini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Chat GPT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Quais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são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concorrentes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da Michelob Ultra no mercado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brasileiro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com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álcool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menor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calórico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 Como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essas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marcas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disputam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consumidor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que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aprecia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valoriza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uma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rotina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ativa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Ao trabalhar em um projeto de marketing digital em que o foco é a ampliação de mercado para a cerveja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Michelob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Ultra para além do foco inicial de clientes ligados à atividade esportiva, quais empresas podem ser usadas como benchmark para este case? Prefira empresas do ramo de cervejas ou bebidas alcóolicas.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A lista com as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carcterísiticas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foi analisada, revisada e validada e foi necessário fazer algumas iterações para revisar o resultado, solicitando fontes para averiguação e para consulta posterior.</a:t>
                      </a: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Várias iterações foram efetuadas até que identificássemos cases reais com dados sólidos e que realmente tivessem a nos ensinar algo dentro do que pretendemos.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Sempre exigir as fontes e revisar o seu conteúdo. Necessidade de refinar o foco e o alcance das buscas e usar as técnicas de Encadeamento de Prompts  e Orquestração de Múltiplos Modelos usando  para trazer enfoques diferentes e aumentar o repertório das buscas, podendo assim compilar um resultado mais denso e consistente com o esperado.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Organização de transcrições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[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preencher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Análise do problema e da solução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[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preencher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Redação e revisão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Miro  para criar o conteúdo de forma centralizada e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multi-usuário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de forma a facilitar a interação da equipe. </a:t>
                      </a: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 para pegar imagens dos boards do Miro e extrair os textos lá redigidos.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Extraia das imagens em anexo todos os textos, separe em itens e consolide em um arquivo .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md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 alterações do texto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orginal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Apoio à apresentação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</a:t>
                      </a:r>
                    </a:p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A partir do texto de cada item presente no arquivo trabalhoConsolidado.md crie uma apresentação seguindo o padrão visual estabelecido no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ppt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template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[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preencher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5335</Words>
  <Application>Microsoft Office PowerPoint</Application>
  <PresentationFormat>Widescreen</PresentationFormat>
  <Paragraphs>297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5</cp:revision>
  <dcterms:created xsi:type="dcterms:W3CDTF">2013-01-27T09:14:16Z</dcterms:created>
  <dcterms:modified xsi:type="dcterms:W3CDTF">2026-09-21T20:53:34Z</dcterms:modified>
  <cp:category/>
</cp:coreProperties>
</file>