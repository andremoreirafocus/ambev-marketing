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F8FDBB-F290-4FEB-AEDB-04B885996D60}" v="3" dt="2026-09-21T19:18:18.5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521" autoAdjust="0"/>
  </p:normalViewPr>
  <p:slideViewPr>
    <p:cSldViewPr snapToGrid="0" snapToObjects="1">
      <p:cViewPr varScale="1">
        <p:scale>
          <a:sx n="106" d="100"/>
          <a:sy n="106" d="100"/>
        </p:scale>
        <p:origin x="237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 Moreira" userId="a074d5cff11e4feb" providerId="LiveId" clId="{A3AE0FC4-E642-4DAF-99C2-2E02E3CB77AA}"/>
    <pc:docChg chg="undo custSel modSld">
      <pc:chgData name="André Moreira" userId="a074d5cff11e4feb" providerId="LiveId" clId="{A3AE0FC4-E642-4DAF-99C2-2E02E3CB77AA}" dt="2026-09-21T19:19:13.970" v="12" actId="14100"/>
      <pc:docMkLst>
        <pc:docMk/>
      </pc:docMkLst>
      <pc:sldChg chg="modSp mod">
        <pc:chgData name="André Moreira" userId="a074d5cff11e4feb" providerId="LiveId" clId="{A3AE0FC4-E642-4DAF-99C2-2E02E3CB77AA}" dt="2026-09-21T19:19:13.970" v="12" actId="14100"/>
        <pc:sldMkLst>
          <pc:docMk/>
          <pc:sldMk cId="0" sldId="265"/>
        </pc:sldMkLst>
        <pc:spChg chg="mod">
          <ac:chgData name="André Moreira" userId="a074d5cff11e4feb" providerId="LiveId" clId="{A3AE0FC4-E642-4DAF-99C2-2E02E3CB77AA}" dt="2026-09-21T19:15:32.120" v="5" actId="2057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André Moreira" userId="a074d5cff11e4feb" providerId="LiveId" clId="{A3AE0FC4-E642-4DAF-99C2-2E02E3CB77AA}" dt="2026-09-21T19:18:18.567" v="10"/>
          <ac:spMkLst>
            <pc:docMk/>
            <pc:sldMk cId="0" sldId="265"/>
            <ac:spMk id="12" creationId="{00000000-0000-0000-0000-000000000000}"/>
          </ac:spMkLst>
        </pc:spChg>
        <pc:spChg chg="mod">
          <ac:chgData name="André Moreira" userId="a074d5cff11e4feb" providerId="LiveId" clId="{A3AE0FC4-E642-4DAF-99C2-2E02E3CB77AA}" dt="2026-09-21T19:19:13.970" v="12" actId="14100"/>
          <ac:spMkLst>
            <pc:docMk/>
            <pc:sldMk cId="0" sldId="265"/>
            <ac:spMk id="1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FCD5F-022D-4992-89DF-5D29DCC293B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936FB-1BDE-4FB2-B255-FD9883BE12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0663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0min30s.</a:t>
            </a:r>
          </a:p>
          <a:p>
            <a:endParaRPr/>
          </a:p>
          <a:p>
            <a:r>
              <a:t>Boa noite. Nosso case trata da ampliação da base de consumidores da Michelob Ultra no Brasil.</a:t>
            </a:r>
          </a:p>
          <a:p>
            <a:endParaRPr/>
          </a:p>
          <a:p>
            <a:r>
              <a:t>Não propomos mudar o produto. Propomos um piloto de marketing digital para transformar atributos já existentes — leveza, baixo teor de carboidratos e sabor — em motivos de escolha para mais adultos e mais situações de socialização.</a:t>
            </a:r>
          </a:p>
          <a:p>
            <a:endParaRPr/>
          </a:p>
          <a:p>
            <a:r>
              <a:t>A pergunta que orienta a apresentação é: como ampliar a base sem perder a identidade que a marca já construiu?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1min45s.</a:t>
            </a:r>
          </a:p>
          <a:p>
            <a:endParaRPr/>
          </a:p>
          <a:p>
            <a:r>
              <a:t>A Michelob Ultra pertence ao portfólio global da AB InBev e já possui uma proposta premium associada à leveza. Sua identidade foi construída em torno de esporte, bem-estar e vida ativa.</a:t>
            </a:r>
          </a:p>
          <a:p>
            <a:endParaRPr/>
          </a:p>
          <a:p>
            <a:r>
              <a:t>Essa credencial é um ativo, mas pode limitar a identificação de adultos que não se definem pelo desempenho físico. Eles também valorizam escolhas mais leves, mas querem encontrá-las em almoços, happy hours, churrascos, festivais e outros momentos sociais.</a:t>
            </a:r>
          </a:p>
          <a:p>
            <a:endParaRPr/>
          </a:p>
          <a:p>
            <a:r>
              <a:t>Por isso, o desafio não é abandonar o esporte nem reposicionar a marca como outra coisa. É usar o esporte como credencial complementar e ampliar a relevância da Michelob Ultra em contextos cotidianos de convivência.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1min45s.</a:t>
            </a:r>
          </a:p>
          <a:p>
            <a:endParaRPr/>
          </a:p>
          <a:p>
            <a:r>
              <a:t>O contexto de mercado mostra uma mudança mais ampla do que o nicho esportivo. A NielsenIQ aponta que 86% dos consumidores brasileiros já incorporaram algum hábito mais saudável à rotina. Ao mesmo tempo, cervejas de baixa caloria cresceram em volume e as ocasiões fora de casa aumentaram.</a:t>
            </a:r>
          </a:p>
          <a:p>
            <a:endParaRPr/>
          </a:p>
          <a:p>
            <a:r>
              <a:t>Esses dados não autorizam tratar bebida alcoólica como saudável. Eles indicam que equilíbrio, controle calórico e socialização passaram a coexistir na decisão de consumo.</a:t>
            </a:r>
          </a:p>
          <a:p>
            <a:endParaRPr/>
          </a:p>
          <a:p>
            <a:r>
              <a:t>A oportunidade para a Michelob Ultra é levar uma credencial que ela já possui a um público maior, em situações nas quais a pessoa quer socializar sem se sentir pesada ou afastada de sua rotina.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2min00s.</a:t>
            </a:r>
          </a:p>
          <a:p>
            <a:endParaRPr/>
          </a:p>
          <a:p>
            <a:r>
              <a:t>O problema de negócio nasce dessa mudança comportamental. Parte dos consumidores pode perceber cervejas tradicionais como mais pesadas para a rotina, enquanto opções sem álcool ainda enfrentam barreiras de sabor e de ocasião social.</a:t>
            </a:r>
          </a:p>
          <a:p>
            <a:endParaRPr/>
          </a:p>
          <a:p>
            <a:r>
              <a:t>Para a Michelob Ultra, o ponto central é que a associação predominante ao esporte pode reduzir a identificação de adultos que buscam leveza, mas não se reconhecem em corrida, pós-treino ou metas físicas.</a:t>
            </a:r>
          </a:p>
          <a:p>
            <a:endParaRPr/>
          </a:p>
          <a:p>
            <a:r>
              <a:t>Os limitadores que tratamos como hipóteses do case são: conhecimento limitado do posicionamento Ultra Light Premium, estigma de que cerveja leve é aguada e resistência de bares e cardápios a abrir espaço para a marca.</a:t>
            </a:r>
          </a:p>
          <a:p>
            <a:endParaRPr/>
          </a:p>
          <a:p>
            <a:r>
              <a:t>A tese é ampliar a base e as ocasiões sem descaracterizar a Michelob Ultra. Almoços, happy hours, churrascos, festivais e futebol são pontos de contato adicionais; não substituem as situações em que a marca já é relevante.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planejado: 2min30s.</a:t>
            </a:r>
          </a:p>
          <a:p>
            <a:endParaRPr/>
          </a:p>
          <a:p>
            <a:r>
              <a:t>A estratégia tem duas frentes. A primeira é provar sabor e leveza: a degustação guiada responde diretamente ao estigma de cerveja aguada. A segunda é ampliar identificação: o esporte continua como credencial, mas deixa de ser requisito para que alguém se veja na marca.</a:t>
            </a:r>
          </a:p>
          <a:p>
            <a:endParaRPr/>
          </a:p>
          <a:p>
            <a:r>
              <a:t>O plano tático segue quatro ondas. Primeiro, degustação. Segundo, disponibilidade e visibilidade nos canais de venda. Terceiro, comunicação por ocasiões sociais. Quarto, relacionamento: conteúdo digital, QR code, cupom rastreável e CRM no Zé Delivery formam o piloto de aquisição e recompra.</a:t>
            </a:r>
          </a:p>
          <a:p>
            <a:endParaRPr/>
          </a:p>
          <a:p>
            <a:r>
              <a:t>A pesquisa da FGV orienta essa escolha. Ela mostra a relevância do baixo teor de carboidratos para a percepção de saudabilidade e indica que esporte não deve ser o argumento central de aquisição. A degustação é necessária para responder à barreira de sabor.</a:t>
            </a:r>
          </a:p>
          <a:p>
            <a:endParaRPr/>
          </a:p>
          <a:p>
            <a:r>
              <a:t>A matriz de 60%, 20% e 20% é uma hipótese inicial de investimento, não uma fotografia do mercado brasileiro. Os títulos clicáveis no slide levam às fontes que sustentam essa priorização.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936FB-1BDE-4FB2-B255-FD9883BE121A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9733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2min15s.</a:t>
            </a:r>
          </a:p>
          <a:p>
            <a:endParaRPr/>
          </a:p>
          <a:p>
            <a:r>
              <a:t>Este slide define como saberemos se o plano funciona. Não estamos prometendo resultados realizados; estamos definindo resultados pretendidos, indicadores e instrumentos para acompanhá-los. Cada indicador precisa orientar uma decisão de continuidade, ajuste ou escala do piloto. O propósito não é perseguir números artificiais, mas reunir evidência suficiente para decidir onde investir em seguida.</a:t>
            </a:r>
          </a:p>
          <a:p>
            <a:endParaRPr/>
          </a:p>
          <a:p>
            <a:r>
              <a:t>O primeiro resultado é ampliar o conhecimento da marca entre adultos que valorizam leveza e socialização. Por isso, acompanharemos alcance, frequência, engajamento e, principalmente, a mudança de associação da Michelob Ultra com sabor e ocasiões além do esporte. A pesquisa breve antes e depois da campanha verifica se a comunicação está alcançando o novo público e mudando essa percepção.</a:t>
            </a:r>
          </a:p>
          <a:p>
            <a:endParaRPr/>
          </a:p>
          <a:p>
            <a:r>
              <a:t>O segundo resultado é conquistar novos consumidores e novas ocasiões. Aqui, QR codes, cupons e dados das plataformas permitem ligar a degustação à primeira compra, identificar novos compradores e observar a frequência de compra nas ocasiões priorizadas. Assim, a experimentação deixa de ser uma métrica isolada e passa a ser o início de uma jornada mensurável.</a:t>
            </a:r>
          </a:p>
          <a:p>
            <a:endParaRPr/>
          </a:p>
          <a:p>
            <a:r>
              <a:t>O terceiro resultado é disponibilidade. Não basta gerar intenção se o produto não estiver visível na geladeira, na gôndola, no cardápio ou na entrega. Mediremos cobertura, presença e visibilidade nos canais priorizados para separar um problema de comunicação de um problema de acesso à compra.</a:t>
            </a:r>
          </a:p>
          <a:p>
            <a:endParaRPr/>
          </a:p>
          <a:p>
            <a:r>
              <a:t>Por fim, crescimento sustentável significa transformar experimentação em recompra e vendas incrementais. A faixa de fechamento resume o método: registrar a linha de base antes das ações, ativar por região e canal, comparar os indicadores e escalar somente o que gerar aquisição e recompra.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1min45s.</a:t>
            </a:r>
          </a:p>
          <a:p>
            <a:endParaRPr/>
          </a:p>
          <a:p>
            <a:r>
              <a:t>Os concorrentes selecionados disputam a preferência de consumidores que desejam uma cerveja com álcool e menor teor calórico para ocasiões sociais comuns.</a:t>
            </a:r>
          </a:p>
          <a:p>
            <a:endParaRPr/>
          </a:p>
          <a:p>
            <a:r>
              <a:t>A Amstel Ultra traz atributos próximos e se beneficia da familiaridade de uma marca já consolidada no portfólio Heineken. A pressão para Michelob é explicar por que sua experiência premium merece preferência.</a:t>
            </a:r>
          </a:p>
          <a:p>
            <a:endParaRPr/>
          </a:p>
          <a:p>
            <a:r>
              <a:t>A Heineken Ultimate atende o consumidor habitual da marca que busca menor teor alcoólico e calórico. A resposta da Michelob não é copiar a concorrente. É reforçar uma identidade própria de leveza, sabor e relevância em novas ocasiões sociais.</a:t>
            </a:r>
          </a:p>
          <a:p>
            <a:endParaRPr/>
          </a:p>
          <a:p>
            <a:r>
              <a:t>Portanto, a competição não é apenas por preço ou calorias. É por reconhecimento, disponibilidade e significado de marca.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2min00s.</a:t>
            </a:r>
          </a:p>
          <a:p>
            <a:endParaRPr/>
          </a:p>
          <a:p>
            <a:r>
              <a:t>Os benchmarks não servem para copiar produtos; servem para trazer aprendizados aplicáveis ao nosso problema.</a:t>
            </a:r>
          </a:p>
          <a:p>
            <a:endParaRPr/>
          </a:p>
          <a:p>
            <a:r>
              <a:t>A Oatly mostra como enfrentar uma barreira de paladar com testes e prova de produto. Para Michelob, a aplicação é fazer da degustação a resposta concreta ao estigma de cerveja aguada.</a:t>
            </a:r>
          </a:p>
          <a:p>
            <a:endParaRPr/>
          </a:p>
          <a:p>
            <a:r>
              <a:t>A Guinness mostra que é possível ampliar a base sem abandonar a identidade da marca, combinando comunicação, presença em bares e recrutamento de públicos antes subatendidos.</a:t>
            </a:r>
          </a:p>
          <a:p>
            <a:endParaRPr/>
          </a:p>
          <a:p>
            <a:r>
              <a:t>A White Claw reforça que as necessidades variam durante a semana. O aprendizado para a Michelob não é lançar versões adicionais; é organizar a comunicação e os pontos de contato por ocasião, preservando o mesmo produto e proposta de valor.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planejado: 2min30s.</a:t>
            </a:r>
          </a:p>
          <a:p>
            <a:endParaRPr/>
          </a:p>
          <a:p>
            <a:r>
              <a:t>O Canvas traduz a estratégia em recomendações de negócio. Nos parceiros, priorizamos canais de venda, bares, restaurantes, eventos, plataformas de entrega e criadores de conteúdo. Nas atividades, destacamos degustação, comunicação por ocasião e presença nos canais.</a:t>
            </a:r>
          </a:p>
          <a:p>
            <a:endParaRPr/>
          </a:p>
          <a:p>
            <a:r>
              <a:t>A proposta de valor permanece uma cerveja premium leve e refrescante, com baixas calorias e baixo teor de carboidratos, agora conectada a mais situações de convivência.</a:t>
            </a:r>
          </a:p>
          <a:p>
            <a:endParaRPr/>
          </a:p>
          <a:p>
            <a:r>
              <a:t>Os relacionamentos e canais tornam o piloto executável: ponto de venda, CRM, cupons, Zé Delivery, iFood, bares, restaurantes e eventos.</a:t>
            </a:r>
          </a:p>
          <a:p>
            <a:endParaRPr/>
          </a:p>
          <a:p>
            <a:r>
              <a:t>A segmentação de investimento é inicial e será validada no piloto. Millennials recebem a maior parcela pela combinação de socialização e canais digitais; Geração Z é estratégica para eventos e experiências; Geração X combina interesse em controle calórico com necessidade de prova de sabor.</a:t>
            </a:r>
          </a:p>
          <a:p>
            <a:endParaRPr/>
          </a:p>
          <a:p>
            <a:r>
              <a:t>A lógica financeira é gerar vendas incrementais, recorrência e maior frequência de compra nos canais e ocasiões priorizados.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936FB-1BDE-4FB2-B255-FD9883BE121A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2818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0min45s.</a:t>
            </a:r>
          </a:p>
          <a:p>
            <a:endParaRPr/>
          </a:p>
          <a:p>
            <a:r>
              <a:t>Este anexo registra o uso de inteligência artificial no trabalho, conforme solicitado pelo professor.</a:t>
            </a:r>
          </a:p>
          <a:p>
            <a:endParaRPr/>
          </a:p>
          <a:p>
            <a:r>
              <a:t>Antes da entrega final, o grupo deve preencher a tabela somente com as ferramentas, instruções e resultados que utilizou de fato. O objetivo é dar transparência ao processo, mostrando tanto os usos quanto os limites identificados.</a:t>
            </a:r>
          </a:p>
          <a:p>
            <a:endParaRPr/>
          </a:p>
          <a:p>
            <a:r>
              <a:t>Encerramos reforçando que a proposta é um piloto mensurável para ampliar a base da Michelob Ultra, preservando a identidade da marca e aprendendo antes de escalar.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erencias.fgv.br/clav/article/download/598/354/1443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dnews.com.br/post/ze-delivery-oferece-ate-40-off-no-mes-da-cerveja" TargetMode="External"/><Relationship Id="rId4" Type="http://schemas.openxmlformats.org/officeDocument/2006/relationships/hyperlink" Target="https://rascasse.com/explore/us/michelob-ultra-149491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APRESENTAÇÃO DO CASE — MICHELOB ULTRA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201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4C81"/>
                </a:solidFill>
                <a:latin typeface="Georgia"/>
              </a:defRPr>
            </a:pPr>
            <a:r>
              <a:rPr dirty="0"/>
              <a:t>Plano de Marketing Digital — Piloto de aquisição e recompra</a:t>
            </a:r>
          </a:p>
          <a:p>
            <a:pPr>
              <a:spcBef>
                <a:spcPts val="1400"/>
              </a:spcBef>
              <a:defRPr sz="1800">
                <a:solidFill>
                  <a:srgbClr val="1B2A4A"/>
                </a:solidFill>
                <a:latin typeface="Calibri"/>
              </a:defRPr>
            </a:pPr>
            <a:r>
              <a:rPr dirty="0"/>
              <a:t>PROJETO PRÁTICO — MBA FIA LABDATA</a:t>
            </a:r>
            <a:br>
              <a:rPr dirty="0"/>
            </a:br>
            <a:r>
              <a:rPr dirty="0" err="1"/>
              <a:t>Curso</a:t>
            </a:r>
            <a:r>
              <a:rPr dirty="0"/>
              <a:t> de Marketing e </a:t>
            </a:r>
            <a:r>
              <a:rPr dirty="0" err="1"/>
              <a:t>Inteligência</a:t>
            </a:r>
            <a:r>
              <a:rPr dirty="0"/>
              <a:t> de </a:t>
            </a:r>
            <a:r>
              <a:rPr dirty="0" err="1"/>
              <a:t>Negócios</a:t>
            </a:r>
            <a:endParaRPr dirty="0"/>
          </a:p>
          <a:p>
            <a:pPr>
              <a:spcBef>
                <a:spcPts val="3000"/>
              </a:spcBef>
              <a:defRPr sz="1400">
                <a:solidFill>
                  <a:srgbClr val="5A6578"/>
                </a:solidFill>
                <a:latin typeface="Calibri"/>
              </a:defRPr>
            </a:pPr>
            <a:r>
              <a:rPr dirty="0"/>
              <a:t>Empresa / Marca: AB InBev — Michelob Ultra</a:t>
            </a:r>
            <a:br>
              <a:rPr dirty="0"/>
            </a:br>
            <a:r>
              <a:rPr dirty="0"/>
              <a:t>Tema: </a:t>
            </a:r>
            <a:r>
              <a:rPr lang="pt-BR" dirty="0"/>
              <a:t>Ampliação da base de consumidores da </a:t>
            </a:r>
            <a:r>
              <a:rPr lang="pt-BR" dirty="0" err="1"/>
              <a:t>Michelob</a:t>
            </a:r>
            <a:r>
              <a:rPr lang="pt-BR" dirty="0"/>
              <a:t> Ultra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APRESENTAÇÃO DA MARCA E DO NEGÓCIO (PÁGINA 84)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MICHELOB ULTRA — LEVEZA QUE ACOMPANHA O SEU RITMO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t>MARCA E NEGÓCIO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t>A Michelob é uma marca de cerveja criada nos Estados Unidos e pertencente ao portfólio global da AB InBev.</a:t>
            </a:r>
            <a:br/>
            <a:br/>
            <a:r>
              <a:t>Com a Michelob Ultra, a marca passou a explorar uma proposta diferenciada dentro do mercado de cervejas, combinando uma experiência premium com atributos de leveza e baixo teor de carboidratos.</a:t>
            </a:r>
            <a:br/>
            <a:br/>
            <a:r>
              <a:t>A Michelob Ultra construiu sua identidade em torno de um estilo de vida ativo e equilibrado, aproximando a cerveja de territórios como esporte, bem-estar, socialização e experiências ao ar livre.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9822B"/>
                </a:solidFill>
                <a:latin typeface="Georgia"/>
              </a:defRPr>
            </a:pPr>
            <a:r>
              <a:rPr dirty="0"/>
              <a:t>O DESAFIO DO CASE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O ponto de partida é a oportunidade de ampliar a base atual da </a:t>
            </a:r>
            <a:r>
              <a:rPr lang="pt-BR" dirty="0" err="1"/>
              <a:t>Michelob</a:t>
            </a:r>
            <a:r>
              <a:rPr lang="pt-BR" dirty="0"/>
              <a:t> Ultra no mercado brasileiro. 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marca, hoje fortemente associada a um estilo de vida ativo e equilibrado, deve ganhar relevância entre adultos que não se definem pelo esporte, mas valorizam escolhas mais leves na rotina e na vida social.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O desafio central consiste em superar o estigma histórico de que “cerveja leve é aguada”, educar o mercado quanto ao posicionamento Ultra Light Premium e evitar que a comunicação limite a </a:t>
            </a:r>
            <a:r>
              <a:rPr lang="pt-BR" dirty="0" err="1"/>
              <a:t>Michelob</a:t>
            </a:r>
            <a:r>
              <a:rPr lang="pt-BR" dirty="0"/>
              <a:t> Ultra ao universo esportivo.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br>
              <a:rPr dirty="0"/>
            </a:b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rPr dirty="0"/>
              <a:t>DIRECIONAMENTO DO PROJETO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Ampliar a base de consumidores da </a:t>
            </a:r>
            <a:r>
              <a:rPr lang="pt-BR" dirty="0" err="1"/>
              <a:t>Michelob</a:t>
            </a:r>
            <a:r>
              <a:rPr lang="pt-BR" dirty="0"/>
              <a:t> Ultra, levando suas credenciais de leveza e sabor para diferentes contextos de socialização.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Consolidar a </a:t>
            </a:r>
            <a:r>
              <a:rPr lang="pt-BR" dirty="0" err="1"/>
              <a:t>Michelob</a:t>
            </a:r>
            <a:r>
              <a:rPr lang="pt-BR" dirty="0"/>
              <a:t> Ultra como referência da categoria Ultra Light Premium no Brasil.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Aproximar a marca de adultos que buscam escolhas mais leves, mesmo sem relação frequente com práticas esportivas.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Construir relevância em ocasiões sociais cotidianas, como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 e futebol.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Manter o esporte como credencial da marca, sem transformá-lo em requisito de identificação ou consumo.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CONTEXTO DE MERCADO — MICHELOB ULTRA (PÁGINA 85)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Um consumidor mais atento ao equilíbrio, sem abrir mão da socialização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D9822B"/>
                </a:solidFill>
                <a:latin typeface="Georgia"/>
              </a:defRPr>
            </a:pPr>
            <a:r>
              <a:t>86%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BUSCAM HÁBITOS MAIS SAUDÁVEIS</a:t>
            </a:r>
            <a:br/>
            <a:r>
              <a:t>86% dos consumidores brasileiros (Estudo Estilos de Vida 2024 / NielsenIQ) já incorporaram ao menos um hábito mais saudável à rotina.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0F4C81"/>
                </a:solidFill>
                <a:latin typeface="Georgia"/>
              </a:defRPr>
            </a:pPr>
            <a:r>
              <a:t>+40%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CRESCIMENTO EM VOLUME</a:t>
            </a:r>
            <a:br/>
            <a:r>
              <a:t>As cervejas de baixa caloria cresceram 40% em volume no Brasil, demonstrando forte espaço para escolhas com maior controle calórico.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D9822B"/>
                </a:solidFill>
                <a:latin typeface="Georgia"/>
              </a:defRPr>
            </a:pPr>
            <a:r>
              <a:t>+20%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OCASIÕES FORA DE CASA</a:t>
            </a:r>
            <a:br/>
            <a:r>
              <a:t>As ocasiões de consumo fora do lar cresceram 20% (&gt;41,4M ocasiões). 63% dos brasileiros consomem cerveja fora de casa (Worldpanel 2025).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728655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rPr dirty="0"/>
              <a:t>A OPORTUNIDADE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Esses movimentos revelam uma oportunidade para </a:t>
            </a:r>
            <a:r>
              <a:rPr lang="pt-BR" dirty="0" err="1"/>
              <a:t>Michelob</a:t>
            </a:r>
            <a:r>
              <a:rPr lang="pt-BR" dirty="0"/>
              <a:t> Ultra: a busca por escolhas mais leves e por equilíbrio na rotina alcança consumidores além do público que já se identifica com esporte e vida ativa.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Com seus atributos de leveza e baixo teor de carboidratos, a </a:t>
            </a:r>
            <a:r>
              <a:rPr lang="pt-BR" dirty="0" err="1"/>
              <a:t>Michelob</a:t>
            </a:r>
            <a:r>
              <a:rPr lang="pt-BR" dirty="0"/>
              <a:t> Ultra pode ampliar sua base ao se tornar mais presente em situações sociais cotidianas, sem exigir que o consumidor se reconheça em códigos de desempenho físico.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oportunidade está em levar uma credencial já existente da marca a um público mais amplo e a diferentes contextos de socialização.</a:t>
            </a:r>
          </a:p>
          <a:p>
            <a:pPr>
              <a:spcBef>
                <a:spcPts val="1000"/>
              </a:spcBef>
              <a:defRPr sz="1000">
                <a:solidFill>
                  <a:srgbClr val="5A6578"/>
                </a:solidFill>
                <a:latin typeface="Calibri"/>
              </a:defRPr>
            </a:pPr>
            <a:r>
              <a:rPr dirty="0"/>
              <a:t>Fontes: </a:t>
            </a:r>
            <a:r>
              <a:rPr dirty="0" err="1"/>
              <a:t>NielsenIQ</a:t>
            </a:r>
            <a:r>
              <a:rPr dirty="0"/>
              <a:t> — </a:t>
            </a:r>
            <a:r>
              <a:rPr dirty="0" err="1"/>
              <a:t>Estilos</a:t>
            </a:r>
            <a:r>
              <a:rPr dirty="0"/>
              <a:t> de Vida 2024; McKinsey — Cinco </a:t>
            </a:r>
            <a:r>
              <a:rPr dirty="0" err="1"/>
              <a:t>tendências</a:t>
            </a:r>
            <a:r>
              <a:rPr dirty="0"/>
              <a:t> do </a:t>
            </a:r>
            <a:r>
              <a:rPr dirty="0" err="1"/>
              <a:t>consumidor</a:t>
            </a:r>
            <a:r>
              <a:rPr dirty="0"/>
              <a:t> </a:t>
            </a:r>
            <a:r>
              <a:rPr dirty="0" err="1"/>
              <a:t>brasileiro</a:t>
            </a:r>
            <a:r>
              <a:rPr dirty="0"/>
              <a:t> em 2025; Worldpanel by Numerator — Brand Footprint </a:t>
            </a:r>
            <a:r>
              <a:rPr dirty="0" err="1"/>
              <a:t>Brasil</a:t>
            </a:r>
            <a:r>
              <a:rPr dirty="0"/>
              <a:t> 2025.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PROBLEMA DE NEGÓCIO (PÁGINA 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Mudança Comportamental, Dilema da Indústria e Limitadores de Negócio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dirty="0"/>
              <a:t>CONTEXTO E TESE DO CASE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MUDANÇA COMPORTAMENTAL: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Mudança</a:t>
            </a:r>
            <a:r>
              <a:rPr dirty="0"/>
              <a:t> secular de </a:t>
            </a:r>
            <a:r>
              <a:rPr dirty="0" err="1"/>
              <a:t>hábitos</a:t>
            </a:r>
            <a:r>
              <a:rPr dirty="0"/>
              <a:t>; </a:t>
            </a:r>
            <a:r>
              <a:rPr dirty="0" err="1"/>
              <a:t>ascensão</a:t>
            </a:r>
            <a:r>
              <a:rPr dirty="0"/>
              <a:t> da </a:t>
            </a:r>
            <a:r>
              <a:rPr dirty="0" err="1"/>
              <a:t>tendência</a:t>
            </a:r>
            <a:r>
              <a:rPr dirty="0"/>
              <a:t> de </a:t>
            </a:r>
            <a:r>
              <a:rPr dirty="0" err="1"/>
              <a:t>autocuidado</a:t>
            </a:r>
            <a:r>
              <a:rPr dirty="0"/>
              <a:t>, </a:t>
            </a:r>
            <a:r>
              <a:rPr dirty="0" err="1"/>
              <a:t>bem-estar</a:t>
            </a:r>
            <a:r>
              <a:rPr dirty="0"/>
              <a:t> e </a:t>
            </a:r>
            <a:r>
              <a:rPr dirty="0" err="1"/>
              <a:t>moderação</a:t>
            </a:r>
            <a:r>
              <a:rPr dirty="0"/>
              <a:t> no </a:t>
            </a:r>
            <a:r>
              <a:rPr dirty="0" err="1"/>
              <a:t>consumo</a:t>
            </a:r>
            <a:r>
              <a:rPr dirty="0"/>
              <a:t> </a:t>
            </a:r>
            <a:r>
              <a:rPr dirty="0" err="1"/>
              <a:t>alcóolico</a:t>
            </a:r>
            <a:r>
              <a:rPr dirty="0"/>
              <a:t>,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abandonar</a:t>
            </a:r>
            <a:r>
              <a:rPr dirty="0"/>
              <a:t> a </a:t>
            </a:r>
            <a:r>
              <a:rPr dirty="0" err="1"/>
              <a:t>socialização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O DILEMA DA INDÚSTRIA: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Parte dos consumidores pode perceber cervejas tradicionais como mais pesadas ou menos compatíveis com a rotina; opções sem álcool ainda podem enfrentar barreiras de sabor e de ocasião social. A oportunidade é oferecer uma alternativa com álcool e menor teor calórico para quem busca leveza sem abrir mão da socialização.</a:t>
            </a:r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A TESE DO CASE (</a:t>
            </a:r>
            <a:r>
              <a:rPr lang="pt-BR" dirty="0"/>
              <a:t>AMPLIAR A BASE</a:t>
            </a:r>
            <a:r>
              <a:rPr dirty="0"/>
              <a:t>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A </a:t>
            </a:r>
            <a:r>
              <a:rPr lang="pt-BR" dirty="0" err="1"/>
              <a:t>Michelob</a:t>
            </a:r>
            <a:r>
              <a:rPr lang="pt-BR" dirty="0"/>
              <a:t> Ultra possui atributos coerentes com uma rotina mais equilibrada, mas sua associação predominante ao esporte pode reduzir a identificação de adultos que também buscam leveza na vida social. O desafio é ampliar essa identificação sem descaracterizar a marca.</a:t>
            </a:r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EXPANSÃO </a:t>
            </a:r>
            <a:r>
              <a:rPr lang="pt-BR" dirty="0"/>
              <a:t>DE BASE E OCASIÕES:</a:t>
            </a:r>
            <a:endParaRPr dirty="0"/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A leveza da </a:t>
            </a:r>
            <a:r>
              <a:rPr lang="pt-BR" dirty="0" err="1"/>
              <a:t>Michelob</a:t>
            </a:r>
            <a:r>
              <a:rPr lang="pt-BR" dirty="0"/>
              <a:t> Ultra deve se tornar uma escolha relevante para mais pessoas e em mais contextos de convivência.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 e futebol são pontos de contato com esse novo público, e não substitutos da presença já existente da marca em outras situações.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554480"/>
            <a:ext cx="5175504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dirty="0"/>
              <a:t>PRINCIPAIS LIMITADORES DE NEGÓCIO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lang="pt-BR" dirty="0"/>
              <a:t>• Associação concentrada no desempenho esportivo: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comunicação baseada em pós-treino, corrida e metas físicas pode afastar consumidores que valorizam leveza, mas não se reconhecem nesse repertório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lang="pt-BR" dirty="0"/>
              <a:t>• Conhecimento limitado do posicionamento (hipótese do case):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Parte do público-alvo pode desconhecer a proposta Ultra Light Premium ou confundi-la com uma cerveja tradicional da prateleira.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Estigma</a:t>
            </a:r>
            <a:r>
              <a:rPr dirty="0"/>
              <a:t> Sensorial Histórico: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Memória</a:t>
            </a:r>
            <a:r>
              <a:rPr dirty="0"/>
              <a:t> </a:t>
            </a:r>
            <a:r>
              <a:rPr dirty="0" err="1"/>
              <a:t>afetiva</a:t>
            </a:r>
            <a:r>
              <a:rPr dirty="0"/>
              <a:t> </a:t>
            </a:r>
            <a:r>
              <a:rPr dirty="0" err="1"/>
              <a:t>negativa</a:t>
            </a:r>
            <a:r>
              <a:rPr dirty="0"/>
              <a:t> de </a:t>
            </a:r>
            <a:r>
              <a:rPr dirty="0" err="1"/>
              <a:t>cervejas</a:t>
            </a:r>
            <a:r>
              <a:rPr dirty="0"/>
              <a:t> light (</a:t>
            </a:r>
            <a:r>
              <a:rPr dirty="0" err="1"/>
              <a:t>Aguadas</a:t>
            </a:r>
            <a:r>
              <a:rPr dirty="0"/>
              <a:t>),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exige</a:t>
            </a:r>
            <a:r>
              <a:rPr dirty="0"/>
              <a:t> </a:t>
            </a:r>
            <a:r>
              <a:rPr dirty="0" err="1"/>
              <a:t>ativações</a:t>
            </a:r>
            <a:r>
              <a:rPr dirty="0"/>
              <a:t> </a:t>
            </a:r>
            <a:r>
              <a:rPr dirty="0" err="1"/>
              <a:t>agressivas</a:t>
            </a:r>
            <a:r>
              <a:rPr dirty="0"/>
              <a:t> para </a:t>
            </a:r>
            <a:r>
              <a:rPr dirty="0" err="1"/>
              <a:t>provar</a:t>
            </a:r>
            <a:r>
              <a:rPr dirty="0"/>
              <a:t> </a:t>
            </a:r>
            <a:r>
              <a:rPr dirty="0" err="1"/>
              <a:t>sabor</a:t>
            </a:r>
            <a:r>
              <a:rPr dirty="0"/>
              <a:t> e </a:t>
            </a:r>
            <a:r>
              <a:rPr dirty="0" err="1"/>
              <a:t>corpo</a:t>
            </a:r>
            <a:r>
              <a:rPr dirty="0"/>
              <a:t> puro </a:t>
            </a:r>
            <a:r>
              <a:rPr dirty="0" err="1"/>
              <a:t>malte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Resistência nos bares e cardápios (hipótese do case):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Bares tradicionais podem hesitar em reservar espaço em geladeira, cardápio ou ponto de venda para uma cerveja de menor teor calórico.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Limites regulatórios e de linguagem (CONAR / Anvisa):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A comunicação deve passar por validação regulatória antes da execução e evitar atribuir benefício à saúde ou desempenho físico ao consumo da cerveja.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ESTRATÉGIA DE SOLUÇÃO (PÁGINA 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Estratégia Central, Plano Tático GTM e Matriz de Mídias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dirty="0"/>
              <a:t>1. ESTRATÉGIA CENTRAL DE SOLUÇÃO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</a:t>
            </a:r>
            <a:r>
              <a:rPr lang="pt-BR" sz="900" dirty="0"/>
              <a:t> Provar sabor e leveza: superar o estigma da “cerveja aguada” por meio de degustação guiada e comunicação dos atributos de baixo teor de carboidratos e baixa caloria, apresentando a </a:t>
            </a:r>
            <a:r>
              <a:rPr lang="pt-BR" sz="900" dirty="0" err="1"/>
              <a:t>Michelob</a:t>
            </a:r>
            <a:r>
              <a:rPr lang="pt-BR" sz="900" dirty="0"/>
              <a:t> Ultra como cerveja premium leve.</a:t>
            </a:r>
            <a:br>
              <a:rPr sz="900" dirty="0"/>
            </a:br>
            <a:r>
              <a:rPr sz="900" dirty="0"/>
              <a:t>•</a:t>
            </a:r>
            <a:r>
              <a:rPr lang="pt-BR" sz="900" dirty="0"/>
              <a:t> Ampliar a identificação com a marca: usar o esporte como credencial complementar e construir presença para adultos que buscam leveza em sua vida social, sem depender de desempenho físico.</a:t>
            </a:r>
            <a:endParaRPr sz="900" dirty="0"/>
          </a:p>
        </p:txBody>
      </p:sp>
      <p:sp>
        <p:nvSpPr>
          <p:cNvPr id="6" name="Rounded Rectangle 5"/>
          <p:cNvSpPr/>
          <p:nvPr/>
        </p:nvSpPr>
        <p:spPr>
          <a:xfrm>
            <a:off x="6272784" y="1554480"/>
            <a:ext cx="5175504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lang="pt-BR" dirty="0"/>
              <a:t>2. PLANO TÁTICO DE GTM (EM 4 FASES)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Onda 1 (Degustação): degustação guiada em bares, eventos gastronômicos, festivais e pontos de venda.</a:t>
            </a:r>
            <a:br>
              <a:rPr sz="900" dirty="0"/>
            </a:br>
            <a:r>
              <a:rPr lang="pt-BR" sz="900" dirty="0"/>
              <a:t>• Onda 2 (Disponibilidade e visibilidade nos canais de venda): ponta de gôndola, geladeiras e presença destacada em grandes redes, empórios, bares e restaurantes.</a:t>
            </a:r>
            <a:br>
              <a:rPr sz="900" dirty="0"/>
            </a:br>
            <a:r>
              <a:rPr lang="pt-BR" sz="900" dirty="0"/>
              <a:t>• Onda 3 (Ocasiões): Campanhas voltadas a almoços, happy hours, encontros casuais, churrascos, festivais, futebol e eventos de entretenimento.</a:t>
            </a:r>
            <a:br>
              <a:rPr sz="900" dirty="0"/>
            </a:br>
            <a:r>
              <a:rPr lang="pt-BR" sz="900" dirty="0"/>
              <a:t>• Onda 4 (Relacionamento): piloto de aquisição e recompra com conteúdo digital, QR code de degustação, cupom rastreável e CRM no Zé Delivery, em regiões e canais priorizados.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32200"/>
            <a:ext cx="5175504" cy="276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dirty="0"/>
              <a:t>3. DADOS DE APRENDIZADO &amp; CURIOSIDADES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Pesquisa brasileira da FGV, com 581 respondentes, identificou baixo teor de carboidratos como o atributo mais relevante para a percepção de saudabilidade; orgânico e baixa caloria vieram em seguida.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No mesmo estudo, a afirmação de que um comercial com pessoas praticando exercícios torna uma cerveja mais saudável teve média de 2,95 em uma escala de 1 a 7.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Nos grupos de discussão, o termo “light” gerou desconfiança em parte dos participantes; a leveza precisa ser acompanhada de prova de sabor.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Aprendizado para a estratégia: comunicar atributos concretos do produto e comprovar sabor por degustação; manter o esporte como credencial complementar, não como argumento central de aquisição.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Fonte: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u="sng" dirty="0">
                <a:solidFill>
                  <a:srgbClr val="0F4C81"/>
                </a:solidFill>
                <a:latin typeface="Aptos"/>
                <a:hlinkClick r:id="rId3"/>
              </a:rPr>
              <a:t>Cerveja e Saudabilidade: Como a Percepção de Saudabilidade de uma Cerveja Afeta a Intenção de Compra do Consumidor - FGV</a:t>
            </a:r>
            <a:r>
              <a:rPr lang="pt-BR" sz="900" dirty="0">
                <a:solidFill>
                  <a:srgbClr val="4D4D4D"/>
                </a:solidFill>
                <a:latin typeface="Aptos"/>
              </a:rPr>
              <a:t>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sz="900" dirty="0"/>
          </a:p>
        </p:txBody>
      </p:sp>
      <p:sp>
        <p:nvSpPr>
          <p:cNvPr id="8" name="Rounded Rectangle 7"/>
          <p:cNvSpPr/>
          <p:nvPr/>
        </p:nvSpPr>
        <p:spPr>
          <a:xfrm>
            <a:off x="6272784" y="3632200"/>
            <a:ext cx="5175504" cy="276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dirty="0"/>
              <a:t>4. MATRIZ DE MÍDIAS POR PÚBLICO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</a:t>
            </a:r>
            <a:r>
              <a:rPr lang="pt-BR" sz="900" dirty="0" err="1"/>
              <a:t>Millennials</a:t>
            </a:r>
            <a:r>
              <a:rPr lang="pt-BR" sz="900" dirty="0"/>
              <a:t> — 60% do investimento: Instagram, podcasts, criadores de conteúdo e CRM no Zé Delivery.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Geração Z — 20% do investimento: TikTok, festivais, criadores de conteúdo e ativações em eventos sociais.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Geração X — 20% do investimento: ponto de venda físico, empórios, supermercados, bares e comunicação sobre controle calórico, leveza, sabor e conveniência.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lang="pt-BR" sz="900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>
                <a:solidFill>
                  <a:srgbClr val="1B2A4A"/>
                </a:solidFill>
                <a:latin typeface="Calibri"/>
              </a:rPr>
              <a:t>Fontes usadas para avaliar a distribuição inicial de investimento a validar no piloto: </a:t>
            </a:r>
          </a:p>
          <a:p>
            <a:pPr algn="l">
              <a:spcBef>
                <a:spcPts val="2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sz="900" u="sng" dirty="0">
                <a:solidFill>
                  <a:srgbClr val="0F4C81"/>
                </a:solidFill>
                <a:latin typeface="Aptos"/>
                <a:hlinkClick r:id="rId4"/>
              </a:rPr>
              <a:t>Michelob ULTRA Target Market: 2.2M People in United States (2026) — Age, Gender &amp; Regions- Rascasse Audience Intelligence</a:t>
            </a:r>
            <a:r>
              <a:rPr sz="900" dirty="0">
                <a:solidFill>
                  <a:srgbClr val="4D4D4D"/>
                </a:solidFill>
                <a:latin typeface="Aptos"/>
              </a:rPr>
              <a:t>; </a:t>
            </a:r>
            <a:endParaRPr lang="pt-BR" sz="900" dirty="0">
              <a:solidFill>
                <a:srgbClr val="4D4D4D"/>
              </a:solidFill>
              <a:latin typeface="Aptos"/>
            </a:endParaRPr>
          </a:p>
          <a:p>
            <a:pPr algn="l">
              <a:spcBef>
                <a:spcPts val="2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Zé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Delivery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oferece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até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40% off no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mês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da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cerveja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—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Adnews</a:t>
            </a:r>
            <a:r>
              <a:rPr sz="900" dirty="0">
                <a:solidFill>
                  <a:srgbClr val="4D4D4D"/>
                </a:solidFill>
                <a:latin typeface="Aptos"/>
              </a:rPr>
              <a:t>;</a:t>
            </a:r>
            <a:endParaRPr lang="pt-BR" sz="900" dirty="0">
              <a:solidFill>
                <a:srgbClr val="4D4D4D"/>
              </a:solidFill>
              <a:latin typeface="Aptos"/>
            </a:endParaRPr>
          </a:p>
          <a:p>
            <a:pPr algn="l">
              <a:spcBef>
                <a:spcPts val="2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u="sng" dirty="0">
                <a:solidFill>
                  <a:srgbClr val="0F4C81"/>
                </a:solidFill>
                <a:latin typeface="Aptos"/>
                <a:hlinkClick r:id="rId3"/>
              </a:rPr>
              <a:t>Cerveja e Saudabilidade: Como a Percepção de Saudabilidade de uma Cerveja Afeta a Intenção de Compra do Consumidor - FGV</a:t>
            </a:r>
            <a:r>
              <a:rPr sz="900" dirty="0">
                <a:solidFill>
                  <a:srgbClr val="4D4D4D"/>
                </a:solidFill>
                <a:latin typeface="Aptos"/>
              </a:rPr>
              <a:t>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lang="pt-BR" sz="800" dirty="0">
              <a:solidFill>
                <a:srgbClr val="4D4D4D"/>
              </a:solidFill>
              <a:latin typeface="Aptos"/>
            </a:endParaRP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RESULTADOS PRETENDIDOS (PÁGINA 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Metas de Conquista e Indicadores Chave de Desempenho (KPIs)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7516" y="1455821"/>
            <a:ext cx="5329508" cy="22475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sz="1100" dirty="0"/>
              <a:t>1. AUMENTO DO CONHECIMENTO DA MARCA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A</a:t>
            </a:r>
            <a:r>
              <a:rPr lang="pt-BR" sz="900" dirty="0" err="1"/>
              <a:t>mpliar</a:t>
            </a:r>
            <a:r>
              <a:rPr lang="pt-BR" sz="900" dirty="0"/>
              <a:t> o reconhecimento da </a:t>
            </a:r>
            <a:r>
              <a:rPr lang="pt-BR" sz="900" dirty="0" err="1"/>
              <a:t>Michelob</a:t>
            </a:r>
            <a:r>
              <a:rPr lang="pt-BR" sz="900" dirty="0"/>
              <a:t> Ultra entre adultos que valorizam leveza e socialização, inclusive entre aqueles que não se identificam com o universo esportivo.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Métrica Chave: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Taxa de engajamento nas mídias sociais.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Alcance e frequência da comunicação no novo público.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Evolução do conhecimento e da associação da </a:t>
            </a:r>
            <a:r>
              <a:rPr lang="pt-BR" sz="900" dirty="0" err="1"/>
              <a:t>Michelob</a:t>
            </a:r>
            <a:r>
              <a:rPr lang="pt-BR" sz="900" dirty="0"/>
              <a:t> Ultra a leveza, sabor e situações de socialização além do esporte.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Instrumentos: relatórios das mídias sociais e dos demais canais digitais utilizados; pesquisa breve antes e depois da campanha, divulgada digitalmente e por QR </a:t>
            </a:r>
            <a:r>
              <a:rPr lang="pt-BR" sz="900" dirty="0" err="1"/>
              <a:t>code</a:t>
            </a:r>
            <a:r>
              <a:rPr lang="pt-BR" sz="900" dirty="0"/>
              <a:t> em degustações, bares e eventos.</a:t>
            </a:r>
            <a:br>
              <a:rPr sz="1000" dirty="0"/>
            </a:br>
            <a:endParaRPr sz="1000" dirty="0"/>
          </a:p>
        </p:txBody>
      </p:sp>
      <p:sp>
        <p:nvSpPr>
          <p:cNvPr id="6" name="Rounded Rectangle 5"/>
          <p:cNvSpPr/>
          <p:nvPr/>
        </p:nvSpPr>
        <p:spPr>
          <a:xfrm>
            <a:off x="6272783" y="1455821"/>
            <a:ext cx="5329507" cy="22475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sz="1100" b="1" dirty="0">
                <a:solidFill>
                  <a:srgbClr val="0F4C81"/>
                </a:solidFill>
                <a:latin typeface="Georgia"/>
              </a:rPr>
              <a:t>2. CONQUISTA DE</a:t>
            </a:r>
            <a:r>
              <a:rPr lang="pt-BR" sz="1100" b="1" dirty="0">
                <a:solidFill>
                  <a:srgbClr val="0F4C81"/>
                </a:solidFill>
                <a:latin typeface="Georgia"/>
              </a:rPr>
              <a:t> NOVOS CONSUMIDORES E </a:t>
            </a:r>
            <a:r>
              <a:rPr sz="1100" b="1" dirty="0">
                <a:solidFill>
                  <a:srgbClr val="0F4C81"/>
                </a:solidFill>
                <a:latin typeface="Georgia"/>
              </a:rPr>
              <a:t> NOVAS OCASIÕES DE CONSUMO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Inserir a </a:t>
            </a:r>
            <a:r>
              <a:rPr lang="pt-BR" sz="900" dirty="0" err="1"/>
              <a:t>Michelob</a:t>
            </a:r>
            <a:r>
              <a:rPr lang="pt-BR" sz="900" dirty="0"/>
              <a:t> Ultra em almoços, </a:t>
            </a:r>
            <a:r>
              <a:rPr lang="pt-BR" sz="900" dirty="0" err="1"/>
              <a:t>happy</a:t>
            </a:r>
            <a:r>
              <a:rPr lang="pt-BR" sz="900" dirty="0"/>
              <a:t> hours, encontros casuais, churrascos, festivais e ocasiões ligadas ao futebol, atraindo adultos que buscam uma cerveja premium leve para socializar.</a:t>
            </a:r>
            <a:br>
              <a:rPr sz="900" dirty="0"/>
            </a:br>
            <a:br>
              <a:rPr sz="900" dirty="0"/>
            </a:br>
            <a:r>
              <a:rPr sz="900" dirty="0"/>
              <a:t>• </a:t>
            </a:r>
            <a:r>
              <a:rPr sz="900" dirty="0" err="1"/>
              <a:t>Métricas</a:t>
            </a:r>
            <a:r>
              <a:rPr sz="900" dirty="0"/>
              <a:t> Chave: </a:t>
            </a:r>
            <a:endParaRPr lang="pt-BR" sz="900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Taxa de experimentação nas ativações e nos pontos de venda priorizados.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Participação de novos compradores entre os consumidores identificados nas plataformas de entrega e de relacionamento.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Frequência de compra nas ocasiões priorizadas.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Instrumentos: QR </a:t>
            </a:r>
            <a:r>
              <a:rPr lang="pt-BR" sz="900" dirty="0" err="1"/>
              <a:t>codes</a:t>
            </a:r>
            <a:r>
              <a:rPr lang="pt-BR" sz="900" dirty="0"/>
              <a:t> e cupons distribuídos em degustações e ativações; relatórios de resgate; dados de compra das plataformas de entrega e de relacionamento; pesquisa breve após a 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7515" y="3905448"/>
            <a:ext cx="5329508" cy="22475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sz="1100" b="1" dirty="0">
                <a:solidFill>
                  <a:srgbClr val="0F4C81"/>
                </a:solidFill>
                <a:latin typeface="Georgia"/>
              </a:rPr>
              <a:t>3. AMPLIAÇÃO DA DISPONIBILIDADE E PRESENÇA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Expandir a presença em supermercados, bares, restaurantes, entrega e pontos associados a ocasiões sociais e de convivência, reduzindo as barreiras entre intenção e compra.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Métricas-chave: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Número de pontos de venda, bares, restaurantes e canais de entrega com </a:t>
            </a:r>
            <a:r>
              <a:rPr lang="pt-BR" sz="900" dirty="0" err="1"/>
              <a:t>Michelob</a:t>
            </a:r>
            <a:r>
              <a:rPr lang="pt-BR" sz="900" dirty="0"/>
              <a:t> Ultra disponível, por região.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Percentual dos pontos de venda priorizados que mantêm o produto disponível e visível em geladeira, gôndola ou cardápio.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Cobertura da marca nos canais de entrega selecionados.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Instrumentos: relatórios de distribuidores e varejistas; auditorias periódicas nos pontos de venda; verificação de cardápios e catálogos das plataformas de entrega.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sz="1000" dirty="0"/>
          </a:p>
        </p:txBody>
      </p:sp>
      <p:sp>
        <p:nvSpPr>
          <p:cNvPr id="8" name="Rounded Rectangle 7"/>
          <p:cNvSpPr/>
          <p:nvPr/>
        </p:nvSpPr>
        <p:spPr>
          <a:xfrm>
            <a:off x="6272783" y="3900636"/>
            <a:ext cx="5329506" cy="22523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sz="1100" b="1" dirty="0">
                <a:solidFill>
                  <a:srgbClr val="0F4C81"/>
                </a:solidFill>
                <a:latin typeface="Georgia"/>
              </a:rPr>
              <a:t>4. GERAÇÃO DE CRESCIMENTO SUSTENTÁVEL</a:t>
            </a:r>
            <a:endParaRPr lang="pt-BR" sz="1100" b="1" dirty="0">
              <a:solidFill>
                <a:srgbClr val="0F4C81"/>
              </a:solidFill>
              <a:latin typeface="Georgia"/>
            </a:endParaRP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Atrair novos consumidores, aumentar a frequência de compra e gerar vendas incrementais, transformando a experimentação em compra recorrente.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Métricas-chave: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Volume total de vendas e variação de vendas nas regiões e canais ativados.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Participação de novos compradores.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Taxa de recompra e intervalo médio entre compras.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4. Ciclo de reposição dos distribuidores.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Instrumentos: relatórios de vendas da companhia, distribuidores e varejistas; dados das plataformas de entrega e de relacionamento; comparação dos resultados antes e depois das ações nos canais e regiões ativados.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lang="pt-BR" sz="1000" dirty="0"/>
          </a:p>
        </p:txBody>
      </p:sp>
      <p:sp>
        <p:nvSpPr>
          <p:cNvPr id="9" name="Rounded Rectangle 8"/>
          <p:cNvSpPr/>
          <p:nvPr/>
        </p:nvSpPr>
        <p:spPr>
          <a:xfrm>
            <a:off x="502920" y="6291072"/>
            <a:ext cx="11155680" cy="365760"/>
          </a:xfrm>
          <a:prstGeom prst="roundRect">
            <a:avLst/>
          </a:prstGeom>
          <a:solidFill>
            <a:srgbClr val="0F4C81"/>
          </a:solidFill>
          <a:ln w="15240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O piloto transforma métricas em decisão: medir antes, ativar, comparar e escalar o que gerar aquisição e recompra.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ANÁLISE DE CONCORRENTES (PÁGINA 87)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Mapeamento do Cenário Competitivo Direto e Indireto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66647" y="2194560"/>
            <a:ext cx="47548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51560" rIns="228600" bIns="18288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700" b="1" dirty="0"/>
              <a:t>1. AMSTEL ULTRA</a:t>
            </a:r>
          </a:p>
          <a:p>
            <a:pPr>
              <a:spcBef>
                <a:spcPts val="400"/>
              </a:spcBef>
              <a:defRPr sz="1100">
                <a:solidFill>
                  <a:srgbClr val="1B2A4A"/>
                </a:solidFill>
                <a:latin typeface="Calibri"/>
              </a:defRPr>
            </a:pPr>
            <a:r>
              <a:rPr sz="1050" dirty="0"/>
              <a:t>• Linha de frente: Long neck de 275 ml com 72 kcal e 4% ABV.</a:t>
            </a:r>
            <a:br/>
            <a:r>
              <a:rPr sz="1050" dirty="0"/>
              <a:t>• Atributos: Cerveja com álcool, menor teor calórico, puro malte, low carb e sem glúten.</a:t>
            </a:r>
            <a:br/>
            <a:br/>
            <a:r>
              <a:rPr sz="1050" dirty="0"/>
              <a:t>• Força Comercial: Marca do portfólio do Grupo Heineken; a versão Ultra reforça uma proposta de cerveja leve, puro malte, low carb e sem glúten.</a:t>
            </a:r>
            <a:br/>
            <a:br/>
            <a:r>
              <a:rPr sz="1050" dirty="0"/>
              <a:t>• Pressão sobre Michelob: Disputa familiaridade e valor percebido. Exige explicar por que a experiência Michelob merece preferência diante da porção de 275ml.</a:t>
            </a:r>
            <a:br/>
            <a:br/>
            <a:r>
              <a:rPr sz="1050" dirty="0"/>
              <a:t>• Fontes:</a:t>
            </a:r>
            <a:br/>
            <a:r>
              <a:rPr sz="1050" dirty="0"/>
              <a:t>  - Grupo Heineken Brasil: https://www.heinekenbrasil.com.br/nossas-marcas</a:t>
            </a:r>
            <a:br/>
            <a:r>
              <a:rPr sz="1050" dirty="0"/>
              <a:t>  - Heineken Express: https://express.heineken.com.br/collections/amstel-cervejas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70167" y="2194560"/>
            <a:ext cx="47548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51560" rIns="228600" bIns="18288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D9822B"/>
                </a:solidFill>
                <a:latin typeface="Georgia"/>
              </a:defRPr>
            </a:pPr>
            <a:r>
              <a:rPr sz="1700" b="1" dirty="0"/>
              <a:t>2. HEINEKEN ULTIMATE</a:t>
            </a:r>
          </a:p>
          <a:p>
            <a:pPr>
              <a:spcBef>
                <a:spcPts val="400"/>
              </a:spcBef>
              <a:defRPr sz="1100">
                <a:solidFill>
                  <a:srgbClr val="1B2A4A"/>
                </a:solidFill>
                <a:latin typeface="Calibri"/>
              </a:defRPr>
            </a:pPr>
            <a:r>
              <a:rPr sz="1050" dirty="0"/>
              <a:t>• Linha de frente: Garrafa de 330 ml com 97 kcal, 3,5% ABV e sem glúten (redução de 30% calorias vs regular).</a:t>
            </a:r>
            <a:br/>
            <a:br/>
            <a:r>
              <a:rPr sz="1050" dirty="0"/>
              <a:t>• Proposta: Opção com menos calorias dentro de uma marca global já estabelecida (lançada no Brasil em maio/2026).</a:t>
            </a:r>
            <a:br/>
            <a:br/>
            <a:r>
              <a:rPr sz="1050" dirty="0"/>
              <a:t>• Pressão sobre Michelob: Retenção do consumidor habitual de Heineken que busca redução calórica.</a:t>
            </a:r>
            <a:br/>
            <a:br/>
            <a:r>
              <a:rPr sz="1050" dirty="0"/>
              <a:t>• Resposta Michelob: Focar em identidade própria de leveza, sabor superior e ativação de estilo de vida.</a:t>
            </a:r>
            <a:br/>
            <a:br/>
            <a:r>
              <a:rPr sz="1050" dirty="0"/>
              <a:t>• Fontes:</a:t>
            </a:r>
            <a:br/>
            <a:r>
              <a:rPr sz="1050" dirty="0"/>
              <a:t>  - Produto oficial: https://www.heinekenbrasil.com.br/heineken-ultimate</a:t>
            </a:r>
            <a:br/>
            <a:r>
              <a:rPr sz="1050" dirty="0"/>
              <a:t>  - Lançamento: https://valor.globo.com/conteudo-de-marca/heineken/noticia/2026/07/14/heinekenr-lanca-versao-com-menor-teor-alcoolico-e-caloria-primeiro-no-brasil.ghtml</a:t>
            </a:r>
          </a:p>
        </p:txBody>
      </p:sp>
      <p:pic>
        <p:nvPicPr>
          <p:cNvPr id="7" name="Picture 6" descr="amst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486" y="2387068"/>
            <a:ext cx="847202" cy="777240"/>
          </a:xfrm>
          <a:prstGeom prst="rect">
            <a:avLst/>
          </a:prstGeom>
        </p:spPr>
      </p:pic>
      <p:pic>
        <p:nvPicPr>
          <p:cNvPr id="8" name="Picture 7" descr="heinek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263" y="2375036"/>
            <a:ext cx="932688" cy="77724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8CCC0D12-2D7F-FEC9-F715-C1F6C3247098}"/>
              </a:ext>
            </a:extLst>
          </p:cNvPr>
          <p:cNvSpPr txBox="1"/>
          <p:nvPr/>
        </p:nvSpPr>
        <p:spPr>
          <a:xfrm>
            <a:off x="1066648" y="1483629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Quem disputa a preferência de adultos que buscam uma cerveja com álcool e menor teor calórico para ocasiões sociais comuns, com diferentes níveis de reconhecimento, distribuição e proposta de marca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BENCHMARK &amp; MARCAS INSPIRADORAS (PÁGINA 88)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Aprendizados de Marcas Globais Aplicáveis ao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500" b="1" dirty="0"/>
              <a:t>5.1. OATLY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/>
              <a:t>Quebra de </a:t>
            </a:r>
            <a:r>
              <a:rPr sz="1200" b="1" dirty="0" err="1"/>
              <a:t>Preconceito</a:t>
            </a:r>
            <a:r>
              <a:rPr sz="1200" b="1" dirty="0"/>
              <a:t> e Sabor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Enfrentou a percepção de que bebidas de aveia seriam inferiores ao leite. A marca usou testes cegos de sabor para enfrentar a barreira de experimentação.</a:t>
            </a:r>
            <a:br/>
            <a:br/>
            <a:r>
              <a:rPr sz="900" dirty="0"/>
              <a:t>• Aprendizados Aplicáveis:</a:t>
            </a:r>
            <a:br/>
            <a:r>
              <a:rPr sz="900" dirty="0"/>
              <a:t>  1. Assumir a leveza como atributo de marca (sem tentar imitar cerveja encorpada).</a:t>
            </a:r>
            <a:br/>
            <a:r>
              <a:rPr sz="900" dirty="0"/>
              <a:t>  2. Construir desejo antes da comparação técnica via conteúdo nativo.</a:t>
            </a:r>
            <a:br/>
            <a:r>
              <a:rPr sz="900" dirty="0"/>
              <a:t>  3. Converter dúvida em prova de produto através de degustação gelada guiada.</a:t>
            </a:r>
            <a:br/>
            <a:br/>
            <a:r>
              <a:rPr sz="900" dirty="0"/>
              <a:t>• Fontes:</a:t>
            </a:r>
            <a:br/>
            <a:r>
              <a:rPr sz="900" dirty="0"/>
              <a:t>  - Teste cego Oatly: https://www.oatly.com/sustainability/influence-food-system-change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500" b="1" dirty="0"/>
              <a:t>5.2. GUINNESS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 err="1"/>
              <a:t>Expansão</a:t>
            </a:r>
            <a:r>
              <a:rPr sz="1200" b="1" dirty="0"/>
              <a:t> de Base e On-Trade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Ampliou a base na Grã-Bretanha sem mudar o produto. Atuou fortemente com bares do on-trade, recrutou novos públicos (mulheres e jovens) e expandiu o calendário de consumo.</a:t>
            </a:r>
            <a:br/>
            <a:br/>
            <a:r>
              <a:rPr sz="900" dirty="0"/>
              <a:t>• Aprendizados Aplicáveis:</a:t>
            </a:r>
            <a:br/>
            <a:r>
              <a:rPr sz="900" dirty="0"/>
              <a:t>  1. Recrutar públicos subatendidos preservando a identidade de marca.</a:t>
            </a:r>
            <a:br/>
            <a:r>
              <a:rPr sz="900" dirty="0"/>
              <a:t>  2. Trabalhar simultaneamente comunicação e presença/visibilidade no trade.</a:t>
            </a:r>
            <a:br/>
            <a:r>
              <a:rPr sz="900" dirty="0"/>
              <a:t>  3. Expandir o calendário de consumo para novas ocasiões diurnas e sociais.</a:t>
            </a:r>
            <a:br/>
            <a:br/>
            <a:r>
              <a:rPr sz="900" dirty="0"/>
              <a:t>• Fonte: Diageo — https://www.diageo.com/en/news-and-media/stories/2023/world-class-brand-building-the-year-guinness-became-great-britain-s-favourite-pint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500" b="1" dirty="0"/>
              <a:t>5.3. WHITE CLAW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/>
              <a:t>Escala de </a:t>
            </a:r>
            <a:r>
              <a:rPr sz="1200" b="1" dirty="0" err="1"/>
              <a:t>Álcool</a:t>
            </a:r>
            <a:r>
              <a:rPr sz="1200" b="1" dirty="0"/>
              <a:t> e </a:t>
            </a:r>
            <a:r>
              <a:rPr sz="1200" b="1" dirty="0" err="1"/>
              <a:t>Ocasiões</a:t>
            </a:r>
            <a:endParaRPr sz="1200" b="1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A linha Surge, com 8% ABV, mostra como a marca atende a necessidades distintas em diferentes momentos de consumo.</a:t>
            </a:r>
            <a:br/>
            <a:br/>
            <a:r>
              <a:rPr sz="900" dirty="0"/>
              <a:t>• Aprendizados Aplicáveis:</a:t>
            </a:r>
            <a:br/>
            <a:r>
              <a:rPr sz="900" dirty="0"/>
              <a:t>1. Organizar a comunicação da Michelob Ultra por ocasiões de consumo, como almoço, happy hour, churrasco, festival e futebol.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Adaptar a linguagem e os pontos de contato a cada ocasião, preservando o mesmo produto e sua proposta de valor.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Usar a variedade de momentos sociais para ampliar a identificação com a marca, sem criar versões adicionais ou promessas funcionais.</a:t>
            </a:r>
            <a:br/>
            <a:br/>
            <a:r>
              <a:rPr lang="pt-BR" sz="900" dirty="0"/>
              <a:t>• Fonte: White Claw Support — https://ussupport.whiteclaw.com/en/support/solutions/articles/36000314438-how-much-alcohol-is-in-white-claw-hard-seltzer-surge-</a:t>
            </a:r>
          </a:p>
        </p:txBody>
      </p:sp>
      <p:pic>
        <p:nvPicPr>
          <p:cNvPr id="8" name="Picture 7" descr="oat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961" y="2380824"/>
            <a:ext cx="619532" cy="594360"/>
          </a:xfrm>
          <a:prstGeom prst="rect">
            <a:avLst/>
          </a:prstGeom>
        </p:spPr>
      </p:pic>
      <p:pic>
        <p:nvPicPr>
          <p:cNvPr id="9" name="Picture 8" descr="guinnes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578" y="2525182"/>
            <a:ext cx="1066650" cy="594360"/>
          </a:xfrm>
          <a:prstGeom prst="rect">
            <a:avLst/>
          </a:prstGeom>
        </p:spPr>
      </p:pic>
      <p:pic>
        <p:nvPicPr>
          <p:cNvPr id="10" name="Picture 9" descr="whitecla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700" y="2380803"/>
            <a:ext cx="694758" cy="59436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F87BB30A-87E0-DFA0-EE66-C5ACF8AD24D0}"/>
              </a:ext>
            </a:extLst>
          </p:cNvPr>
          <p:cNvSpPr txBox="1"/>
          <p:nvPr/>
        </p:nvSpPr>
        <p:spPr>
          <a:xfrm>
            <a:off x="1066648" y="1435501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Quais marcas oferecem aprendizados aplicáveis para superar o estigma de sabor, ampliar a base de consumidores e tornar a </a:t>
            </a:r>
            <a:r>
              <a:rPr lang="pt-BR" dirty="0" err="1">
                <a:solidFill>
                  <a:schemeClr val="accent6">
                    <a:lumMod val="75000"/>
                  </a:schemeClr>
                </a:solidFill>
              </a:rPr>
              <a:t>Michelob</a:t>
            </a:r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 Ultra relevante em novos contextos de socialização?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MODELO DE NEGÓCIO (PÁGINA 89)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BASE METODOLÓGICA — BUSINESS MODEL CANVAS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72579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PARCEIROS CHAVE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Canais de venda: supermercados, atacarejos, distribuidores, geladeiras e gôndolas.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2. Bares e restaurantes: estabelecimentos de almoço, </a:t>
            </a:r>
            <a:r>
              <a:rPr lang="pt-BR" dirty="0" err="1"/>
              <a:t>happy</a:t>
            </a:r>
            <a:r>
              <a:rPr lang="pt-BR" dirty="0"/>
              <a:t> hour e convivência social.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3. Entretenimento e eventos: festivais, eventos gastronômicos, futebol e outros pontos de encontro. Eventos esportivos permanecem como parceria complementar.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4. Plataformas: Zé Delivery, iFood e ferramentas de relacionamento com consumidores.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5. Criadores de conteúdo: gastronomia, entretenimento, cultura, esporte e convivência social.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77251" y="1463039"/>
            <a:ext cx="2072579" cy="19421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ATIVIDADES CHAVES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Degustação e prova de sabor em bares, eventos, festivais e pontos de venda.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2. Comunicação por ocasiões sociais em canais digitais, criadores de conteúdo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Visibilidade e disponibilidade nos canais de venda, em supermercados, bares, restaurantes e entrega.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2877251" y="3516908"/>
            <a:ext cx="2072579" cy="18780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RECURSOS CHAVES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sz="850" dirty="0">
                <a:solidFill>
                  <a:srgbClr val="1B2A4A"/>
                </a:solidFill>
                <a:latin typeface="Calibri"/>
              </a:rPr>
              <a:t>1.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Físicos</a:t>
            </a:r>
            <a:r>
              <a:rPr sz="850" dirty="0">
                <a:solidFill>
                  <a:srgbClr val="1B2A4A"/>
                </a:solidFill>
                <a:latin typeface="Calibri"/>
              </a:rPr>
              <a:t>: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Fermentação</a:t>
            </a:r>
            <a:r>
              <a:rPr sz="850" dirty="0">
                <a:solidFill>
                  <a:srgbClr val="1B2A4A"/>
                </a:solidFill>
                <a:latin typeface="Calibri"/>
              </a:rPr>
              <a:t>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estendida</a:t>
            </a:r>
            <a:r>
              <a:rPr sz="850" dirty="0">
                <a:solidFill>
                  <a:srgbClr val="1B2A4A"/>
                </a:solidFill>
                <a:latin typeface="Calibri"/>
              </a:rPr>
              <a:t>,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frota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refrigerada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e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geladeiras</a:t>
            </a:r>
            <a:r>
              <a:rPr sz="850" dirty="0">
                <a:solidFill>
                  <a:srgbClr val="1B2A4A"/>
                </a:solidFill>
                <a:latin typeface="Calibri"/>
              </a:rPr>
              <a:t> PDV.</a:t>
            </a:r>
            <a:br>
              <a:rPr sz="850" dirty="0">
                <a:solidFill>
                  <a:srgbClr val="1B2A4A"/>
                </a:solidFill>
                <a:latin typeface="Calibri"/>
              </a:rPr>
            </a:br>
            <a:r>
              <a:rPr sz="850" dirty="0">
                <a:solidFill>
                  <a:srgbClr val="1B2A4A"/>
                </a:solidFill>
                <a:latin typeface="Calibri"/>
              </a:rPr>
              <a:t>2. IP &amp; Marca: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Fórmula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Ultra Light e Brand Equity global.</a:t>
            </a:r>
            <a:br>
              <a:rPr sz="850" dirty="0">
                <a:solidFill>
                  <a:srgbClr val="1B2A4A"/>
                </a:solidFill>
                <a:latin typeface="Calibri"/>
              </a:rPr>
            </a:br>
            <a:r>
              <a:rPr lang="pt-BR" sz="850" dirty="0">
                <a:solidFill>
                  <a:srgbClr val="1B2A4A"/>
                </a:solidFill>
                <a:latin typeface="Calibri"/>
              </a:rPr>
              <a:t>3. Dados e tecnologia: BEES, Zé Delivery, iFood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sz="850" dirty="0">
                <a:solidFill>
                  <a:srgbClr val="1B2A4A"/>
                </a:solidFill>
                <a:latin typeface="Calibri"/>
              </a:rPr>
              <a:t>4. Talentos: equipe comercial, ativações sociais e relacionamento digital.</a:t>
            </a:r>
            <a:endParaRPr sz="85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2982" y="1463040"/>
            <a:ext cx="2072579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D9822B"/>
                </a:solidFill>
                <a:latin typeface="Georgia"/>
              </a:defRPr>
            </a:pPr>
            <a:r>
              <a:rPr lang="pt-BR" sz="1000" b="1" dirty="0">
                <a:solidFill>
                  <a:srgbClr val="0F4C81"/>
                </a:solidFill>
                <a:latin typeface="Georgia"/>
              </a:rPr>
              <a:t>PROPOSTA</a:t>
            </a:r>
            <a:r>
              <a:rPr lang="pt-BR" dirty="0"/>
              <a:t> </a:t>
            </a:r>
            <a:r>
              <a:rPr lang="pt-BR" sz="1000" b="1" dirty="0">
                <a:solidFill>
                  <a:srgbClr val="0F4C81"/>
                </a:solidFill>
                <a:latin typeface="Georgia"/>
              </a:rPr>
              <a:t>DE</a:t>
            </a:r>
            <a:r>
              <a:rPr lang="pt-BR" dirty="0"/>
              <a:t> </a:t>
            </a:r>
            <a:r>
              <a:rPr lang="pt-BR" sz="1000" b="1" dirty="0">
                <a:solidFill>
                  <a:srgbClr val="0F4C81"/>
                </a:solidFill>
                <a:latin typeface="Georgia"/>
              </a:rPr>
              <a:t>VALOR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Levar a </a:t>
            </a:r>
            <a:r>
              <a:rPr lang="pt-BR" dirty="0" err="1"/>
              <a:t>Michelob</a:t>
            </a:r>
            <a:r>
              <a:rPr lang="pt-BR" dirty="0"/>
              <a:t> Ultra a novas situações de convivência ao oferecer uma cerveja premium leve e refrescante, com baixas calorias e baixo teor de carboidratos.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Uma escolha para adultos que valorizam leveza e atributos nutricionais, sem abrir mão do sabor, em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festivais, futebol e outras ocasiões do cotidiano.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68713" y="1463040"/>
            <a:ext cx="2072579" cy="19421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RELACIONAMENTO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1. Ponto de venda: merchandising e degustação gelada.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2. CRM e benefícios: comunicações, cupons e convites associados a ocasiões sociais e recompra.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Comunidade: relacionamento com consumidores por meio de gastronomia, entretenimento, cultura e esporte.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4. Comunicação: conteúdo sobre leveza, sabor e socialização.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7168713" y="3516908"/>
            <a:ext cx="2072579" cy="18780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CANAIS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Tradicionais: redes, atacarejos, supermercados e bares.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2. Convivência social: restaurantes, espaços gastronômicos, festivais e pontos de encontro.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Entrega: Zé Delivery e iFood, com comunicações adequadas a cada ocasião.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4. Eventos: futebol, festivais, encontros gastronômicos e eventos esportivos.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9314444" y="1463040"/>
            <a:ext cx="2072579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SEGMENTAÇÃO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PRINCIPAL — 60% do investimento inicial | </a:t>
            </a:r>
            <a:r>
              <a:rPr lang="pt-BR" dirty="0" err="1"/>
              <a:t>Millennials</a:t>
            </a:r>
            <a:r>
              <a:rPr lang="pt-BR" dirty="0"/>
              <a:t> (28 a 43 anos): consumidores que buscam uma cerveja premium leve para socializar em almoços, </a:t>
            </a:r>
            <a:r>
              <a:rPr lang="pt-BR" dirty="0" err="1"/>
              <a:t>happy</a:t>
            </a:r>
            <a:r>
              <a:rPr lang="pt-BR" dirty="0"/>
              <a:t> hours, encontros casuais e momentos de entretenimento.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ESTRATÉGICO — 20% do investimento inicial | Geração Z (18 a 27 anos): consumidores que valorizam experiências sociais, festivais, estética de marca e escolhas mais leves.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COMPLEMENTAR — 20% do investimento inicial | Geração X (44 a 59 anos): consumidores que valorizam controle calórico, leveza, conveniência e disponibilidade no ponto de venda, mas precisam perceber que esses atributos não comprometem o sabor.</a:t>
            </a:r>
            <a:endParaRPr dirty="0"/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4D4D4D"/>
                </a:solidFill>
                <a:latin typeface="Aptos"/>
              </a:rPr>
              <a:t>Hipótese de investimento inicial; lógica, limites e fontes de priorização apresentadas no slide 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57520"/>
            <a:ext cx="5291175" cy="10705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ESTRUTURA DE CUSTO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Custos de produção, matérias-primas, logística refrigerada e impostos.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• Investimentos em comunicação, mídia digital e criadores de conteúdo.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Degustações, materiais de ponto de venda, geladeiras e ativações nos canais de venda.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&gt; • Parcerias com bares, restaurantes, eventos, plataformas de entrega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&gt; • Equipe comercial, relacionamento digital e acompanhamento de dados.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095847" y="5532120"/>
            <a:ext cx="5291175" cy="10959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D9822B"/>
                </a:solidFill>
                <a:latin typeface="Georgia"/>
              </a:defRPr>
            </a:pPr>
            <a:r>
              <a:rPr sz="1000" b="1" dirty="0">
                <a:solidFill>
                  <a:srgbClr val="0F4C81"/>
                </a:solidFill>
                <a:latin typeface="Georgia"/>
              </a:rPr>
              <a:t>FONTES</a:t>
            </a:r>
            <a:r>
              <a:rPr dirty="0"/>
              <a:t> </a:t>
            </a:r>
            <a:r>
              <a:rPr sz="1000" b="1" dirty="0">
                <a:solidFill>
                  <a:srgbClr val="0F4C81"/>
                </a:solidFill>
                <a:latin typeface="Georgia"/>
              </a:rPr>
              <a:t>DE</a:t>
            </a:r>
            <a:r>
              <a:rPr dirty="0"/>
              <a:t> </a:t>
            </a:r>
            <a:r>
              <a:rPr sz="1000" b="1" dirty="0">
                <a:solidFill>
                  <a:srgbClr val="0F4C81"/>
                </a:solidFill>
                <a:latin typeface="Georgia"/>
              </a:rPr>
              <a:t>RECEITAS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de </a:t>
            </a:r>
            <a:r>
              <a:rPr lang="pt-BR" dirty="0" err="1"/>
              <a:t>Michelob</a:t>
            </a:r>
            <a:r>
              <a:rPr lang="pt-BR" dirty="0"/>
              <a:t> Ultra nos canais de venda priorizados.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incrementais geradas por novos consumidores.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recorrentes decorrentes do aumento da frequência de compra.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incrementais em novas situações sociais de consumo.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D9822B"/>
                </a:solidFill>
                <a:latin typeface="Aptos"/>
              </a:rPr>
              <a:t>ANEXO — USO DE INTELIGÊNCIA ARTIFICIAL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0F4C81"/>
                </a:solidFill>
                <a:latin typeface="Georgia"/>
              </a:rPr>
              <a:t>Registro de ferramentas, instruções e aprendizados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698480" cy="32004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536192"/>
            <a:ext cx="1645920" cy="384048"/>
          </a:xfrm>
          <a:prstGeom prst="rect">
            <a:avLst/>
          </a:prstGeom>
          <a:solidFill>
            <a:srgbClr val="0F4C81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Etapa do trabalho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2848" y="1536192"/>
            <a:ext cx="1783080" cy="384048"/>
          </a:xfrm>
          <a:prstGeom prst="rect">
            <a:avLst/>
          </a:prstGeom>
          <a:solidFill>
            <a:srgbClr val="0F4C81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Ferramenta utilizada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3995928" y="1536192"/>
            <a:ext cx="2560320" cy="384048"/>
          </a:xfrm>
          <a:prstGeom prst="rect">
            <a:avLst/>
          </a:prstGeom>
          <a:solidFill>
            <a:srgbClr val="0F4C81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Prompt-chave ou instrução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6556248" y="1536192"/>
            <a:ext cx="2697480" cy="384048"/>
          </a:xfrm>
          <a:prstGeom prst="rect">
            <a:avLst/>
          </a:prstGeom>
          <a:solidFill>
            <a:srgbClr val="0F4C81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Como o resultado foi usado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9253728" y="1536192"/>
            <a:ext cx="2011680" cy="384048"/>
          </a:xfrm>
          <a:prstGeom prst="rect">
            <a:avLst/>
          </a:prstGeom>
          <a:solidFill>
            <a:srgbClr val="0F4C81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Aprendizado ou limite identificado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920240"/>
            <a:ext cx="16459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50" b="1" i="0">
                <a:solidFill>
                  <a:srgbClr val="0F4C81"/>
                </a:solidFill>
                <a:latin typeface="Aptos"/>
              </a:rPr>
              <a:t>Pesquisa e leitura de fontes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12848" y="1920240"/>
            <a:ext cx="1783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pt-BR" sz="800" b="0" i="1" dirty="0">
                <a:solidFill>
                  <a:srgbClr val="4D4D4D"/>
                </a:solidFill>
                <a:latin typeface="Aptos"/>
              </a:rPr>
              <a:t>Gemini</a:t>
            </a:r>
            <a:endParaRPr sz="800" b="0" i="1" dirty="0">
              <a:solidFill>
                <a:srgbClr val="4D4D4D"/>
              </a:solidFill>
              <a:latin typeface="Apto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995928" y="1920240"/>
            <a:ext cx="2560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pt-BR" sz="800" i="1" dirty="0">
                <a:solidFill>
                  <a:srgbClr val="4D4D4D"/>
                </a:solidFill>
                <a:latin typeface="Aptos"/>
              </a:rPr>
              <a:t>1. Quais são os concorrentes da </a:t>
            </a:r>
            <a:r>
              <a:rPr lang="pt-BR" sz="800" i="1" dirty="0" err="1">
                <a:solidFill>
                  <a:srgbClr val="4D4D4D"/>
                </a:solidFill>
                <a:latin typeface="Aptos"/>
              </a:rPr>
              <a:t>Michelob</a:t>
            </a:r>
            <a:r>
              <a:rPr lang="pt-BR" sz="800" i="1" dirty="0">
                <a:solidFill>
                  <a:srgbClr val="4D4D4D"/>
                </a:solidFill>
                <a:latin typeface="Aptos"/>
              </a:rPr>
              <a:t> Ultra no mercado brasileiro de cervejas com álcool e menor teor calórico? Como essas marcas disputam o consumidor que aprecia cerveja e valoriza uma rotina ativa?</a:t>
            </a:r>
            <a:endParaRPr sz="800" b="0" i="1" dirty="0">
              <a:solidFill>
                <a:srgbClr val="4D4D4D"/>
              </a:solidFill>
              <a:latin typeface="Apto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56248" y="1920240"/>
            <a:ext cx="2697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 dirty="0">
                <a:solidFill>
                  <a:srgbClr val="4D4D4D"/>
                </a:solidFill>
                <a:latin typeface="Aptos"/>
              </a:rPr>
              <a:t>[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preencher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53728" y="1920240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633472"/>
            <a:ext cx="16459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50" b="1" i="0">
                <a:solidFill>
                  <a:srgbClr val="0F4C81"/>
                </a:solidFill>
                <a:latin typeface="Aptos"/>
              </a:rPr>
              <a:t>Organização de transcrições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12848" y="2633472"/>
            <a:ext cx="1783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95928" y="2633472"/>
            <a:ext cx="2560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6248" y="2633472"/>
            <a:ext cx="2697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53728" y="2633472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346704"/>
            <a:ext cx="16459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50" b="1" i="0">
                <a:solidFill>
                  <a:srgbClr val="0F4C81"/>
                </a:solidFill>
                <a:latin typeface="Aptos"/>
              </a:rPr>
              <a:t>Análise do problema e da solução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12848" y="3346704"/>
            <a:ext cx="1783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95928" y="3346704"/>
            <a:ext cx="2560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6248" y="3346704"/>
            <a:ext cx="2697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53728" y="3346704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059935"/>
            <a:ext cx="16459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50" b="1" i="0">
                <a:solidFill>
                  <a:srgbClr val="0F4C81"/>
                </a:solidFill>
                <a:latin typeface="Aptos"/>
              </a:rPr>
              <a:t>Redação e revisão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12848" y="4059935"/>
            <a:ext cx="1783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95928" y="4059935"/>
            <a:ext cx="2560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6248" y="4059935"/>
            <a:ext cx="2697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53728" y="4059935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73168"/>
            <a:ext cx="16459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50" b="1" i="0">
                <a:solidFill>
                  <a:srgbClr val="0F4C81"/>
                </a:solidFill>
                <a:latin typeface="Aptos"/>
              </a:rPr>
              <a:t>Apoio à apresentação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12848" y="4773168"/>
            <a:ext cx="1783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95928" y="4773168"/>
            <a:ext cx="2560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56248" y="4773168"/>
            <a:ext cx="2697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53728" y="4773168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800" b="0" i="1" dirty="0" err="1">
                <a:solidFill>
                  <a:srgbClr val="4D4D4D"/>
                </a:solidFill>
                <a:latin typeface="Aptos"/>
              </a:rPr>
              <a:t>Preencher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exclusivamente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com ferramentas,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instruções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e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resultados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utilizados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de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fato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pelo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grupo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.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Não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inserir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conteúdo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presumido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5122</Words>
  <Application>Microsoft Office PowerPoint</Application>
  <PresentationFormat>Widescreen</PresentationFormat>
  <Paragraphs>294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André Moreira</cp:lastModifiedBy>
  <cp:revision>4</cp:revision>
  <dcterms:created xsi:type="dcterms:W3CDTF">2013-01-27T09:14:16Z</dcterms:created>
  <dcterms:modified xsi:type="dcterms:W3CDTF">2026-09-21T19:19:23Z</dcterms:modified>
  <cp:category/>
</cp:coreProperties>
</file>