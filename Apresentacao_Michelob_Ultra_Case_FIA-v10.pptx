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BA39DC-B515-40B9-84BC-09EE20EFD189}" v="4" dt="2026-09-20T14:28:21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563" autoAdjust="0"/>
  </p:normalViewPr>
  <p:slideViewPr>
    <p:cSldViewPr snapToGrid="0" snapToObjects="1">
      <p:cViewPr varScale="1">
        <p:scale>
          <a:sx n="80" d="100"/>
          <a:sy n="80" d="100"/>
        </p:scale>
        <p:origin x="126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144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Moreira" userId="a074d5cff11e4feb" providerId="LiveId" clId="{A3AE0FC4-E642-4DAF-99C2-2E02E3CB77AA}"/>
    <pc:docChg chg="modSld">
      <pc:chgData name="André Moreira" userId="a074d5cff11e4feb" providerId="LiveId" clId="{A3AE0FC4-E642-4DAF-99C2-2E02E3CB77AA}" dt="2026-09-20T14:28:22.648" v="68" actId="115"/>
      <pc:docMkLst>
        <pc:docMk/>
      </pc:docMkLst>
      <pc:sldChg chg="modSp mod modNotesTx">
        <pc:chgData name="André Moreira" userId="a074d5cff11e4feb" providerId="LiveId" clId="{A3AE0FC4-E642-4DAF-99C2-2E02E3CB77AA}" dt="2026-09-20T14:28:22.648" v="68" actId="115"/>
        <pc:sldMkLst>
          <pc:docMk/>
          <pc:sldMk cId="0" sldId="260"/>
        </pc:sldMkLst>
        <pc:spChg chg="mod">
          <ac:chgData name="André Moreira" userId="a074d5cff11e4feb" providerId="LiveId" clId="{A3AE0FC4-E642-4DAF-99C2-2E02E3CB77AA}" dt="2026-09-20T14:25:44.769" v="63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André Moreira" userId="a074d5cff11e4feb" providerId="LiveId" clId="{A3AE0FC4-E642-4DAF-99C2-2E02E3CB77AA}" dt="2026-09-20T14:25:51.189" v="65" actId="14100"/>
          <ac:spMkLst>
            <pc:docMk/>
            <pc:sldMk cId="0" sldId="260"/>
            <ac:spMk id="6" creationId="{00000000-0000-0000-0000-000000000000}"/>
          </ac:spMkLst>
        </pc:spChg>
        <pc:spChg chg="mod">
          <ac:chgData name="André Moreira" userId="a074d5cff11e4feb" providerId="LiveId" clId="{A3AE0FC4-E642-4DAF-99C2-2E02E3CB77AA}" dt="2026-09-20T14:25:55.429" v="66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André Moreira" userId="a074d5cff11e4feb" providerId="LiveId" clId="{A3AE0FC4-E642-4DAF-99C2-2E02E3CB77AA}" dt="2026-09-20T14:25:58.168" v="67" actId="14100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André Moreira" userId="a074d5cff11e4feb" providerId="LiveId" clId="{A3AE0FC4-E642-4DAF-99C2-2E02E3CB77AA}" dt="2026-09-20T14:10:16.378" v="31" actId="14100"/>
        <pc:sldMkLst>
          <pc:docMk/>
          <pc:sldMk cId="0" sldId="264"/>
        </pc:sldMkLst>
        <pc:spChg chg="mod">
          <ac:chgData name="André Moreira" userId="a074d5cff11e4feb" providerId="LiveId" clId="{A3AE0FC4-E642-4DAF-99C2-2E02E3CB77AA}" dt="2026-09-20T14:09:29.431" v="14" actId="14100"/>
          <ac:spMkLst>
            <pc:docMk/>
            <pc:sldMk cId="0" sldId="264"/>
            <ac:spMk id="12" creationId="{00000000-0000-0000-0000-000000000000}"/>
          </ac:spMkLst>
        </pc:spChg>
        <pc:spChg chg="mod">
          <ac:chgData name="André Moreira" userId="a074d5cff11e4feb" providerId="LiveId" clId="{A3AE0FC4-E642-4DAF-99C2-2E02E3CB77AA}" dt="2026-09-20T14:10:16.378" v="31" actId="14100"/>
          <ac:spMkLst>
            <pc:docMk/>
            <pc:sldMk cId="0" sldId="264"/>
            <ac:spMk id="1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FCD5F-022D-4992-89DF-5D29DCC293B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936FB-1BDE-4FB2-B255-FD9883BE12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0663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Fontes para segmentação:</a:t>
            </a:r>
          </a:p>
          <a:p>
            <a:r>
              <a:rPr lang="pt-BR" dirty="0"/>
              <a:t>https://rascasse.com/explore/us/michelob-ultra-149491</a:t>
            </a:r>
          </a:p>
          <a:p>
            <a:r>
              <a:rPr lang="pt-BR" dirty="0"/>
              <a:t>https://adnews.com.br/post/ze-delivery-oferece-ate-40-off-no-mes-da-cerveja</a:t>
            </a:r>
          </a:p>
          <a:p>
            <a:r>
              <a:rPr lang="pt-BR" dirty="0"/>
              <a:t>https://conferencias.fgv.br/clav/article/download/598/354/1443 – cerveja e saudabilidade – para a geração X o sabor é o determinante.</a:t>
            </a:r>
          </a:p>
          <a:p>
            <a:endParaRPr lang="pt-BR"/>
          </a:p>
          <a:p>
            <a:endParaRPr lang="pt-BR" u="sng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9733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Fontes para segmentação:</a:t>
            </a:r>
          </a:p>
          <a:p>
            <a:r>
              <a:rPr lang="pt-BR" dirty="0"/>
              <a:t>https://rascasse.com/explore/us/michelob-ultra-149491</a:t>
            </a:r>
          </a:p>
          <a:p>
            <a:r>
              <a:rPr lang="pt-BR" dirty="0"/>
              <a:t>https://adnews.com.br/post/ze-delivery-oferece-ate-40-off-no-mes-da-cerveja</a:t>
            </a:r>
          </a:p>
          <a:p>
            <a:r>
              <a:rPr lang="pt-BR" dirty="0"/>
              <a:t>https://conferencias.fgv.br/clav/article/download/598/354/1443 – cerveja e saudabilidade – para a geração X o sabor é o determinante.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818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APRESENTAÇÃO DO CASE — MICHELOB ULTRA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Plano de Marketing Digital — Piloto de aquisição e recompra</a:t>
            </a:r>
          </a:p>
          <a:p>
            <a:pPr>
              <a:spcBef>
                <a:spcPts val="1400"/>
              </a:spcBef>
              <a:defRPr sz="1800">
                <a:solidFill>
                  <a:srgbClr val="1B2A4A"/>
                </a:solidFill>
                <a:latin typeface="Calibri"/>
              </a:defRPr>
            </a:pPr>
            <a:r>
              <a:rPr dirty="0"/>
              <a:t>PROJETO PRÁTICO — MBA FIA LABDATA</a:t>
            </a:r>
            <a:br>
              <a:rPr dirty="0"/>
            </a:br>
            <a:r>
              <a:rPr dirty="0" err="1"/>
              <a:t>Curso</a:t>
            </a:r>
            <a:r>
              <a:rPr dirty="0"/>
              <a:t> de Marketing e </a:t>
            </a:r>
            <a:r>
              <a:rPr dirty="0" err="1"/>
              <a:t>Inteligência</a:t>
            </a:r>
            <a:r>
              <a:rPr dirty="0"/>
              <a:t> de </a:t>
            </a:r>
            <a:r>
              <a:rPr dirty="0" err="1"/>
              <a:t>Negócios</a:t>
            </a:r>
            <a:endParaRPr dirty="0"/>
          </a:p>
          <a:p>
            <a:pPr>
              <a:spcBef>
                <a:spcPts val="30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dirty="0"/>
              <a:t>Empresa / Marca: AB InBev — Michelob Ultra</a:t>
            </a:r>
            <a:br>
              <a:rPr dirty="0"/>
            </a:br>
            <a:r>
              <a:rPr dirty="0"/>
              <a:t>Tema: </a:t>
            </a:r>
            <a:r>
              <a:rPr lang="pt-BR" dirty="0"/>
              <a:t>Ampliação da base de consumidores da </a:t>
            </a:r>
            <a:r>
              <a:rPr lang="pt-BR" dirty="0" err="1"/>
              <a:t>Michelob</a:t>
            </a:r>
            <a:r>
              <a:rPr lang="pt-BR" dirty="0"/>
              <a:t> Ultra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APRESENTAÇÃO DA MARCA E DO NEGÓCIO (PÁGINA 84)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MICHELOB ULTRA — LEVEZA QUE ACOMPANHA O SEU RITMO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MARCA E NEGÓCIO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t>A Michelob é uma marca de cerveja criada nos Estados Unidos e pertencente ao portfólio global da AB InBev.</a:t>
            </a:r>
            <a:br/>
            <a:br/>
            <a:r>
              <a:t>Com a Michelob Ultra, a marca passou a explorar uma proposta diferenciada dentro do mercado de cervejas, combinando uma experiência premium com atributos de leveza e baixo teor de carboidratos.</a:t>
            </a:r>
            <a:br/>
            <a:br/>
            <a:r>
              <a:t>A Michelob Ultra construiu sua identidade em torno de um estilo de vida ativo e equilibrado, aproximando a cerveja de territórios como esporte, bem-estar, socialização e experiências ao ar livre.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9822B"/>
                </a:solidFill>
                <a:latin typeface="Georgia"/>
              </a:defRPr>
            </a:pPr>
            <a:r>
              <a:rPr dirty="0"/>
              <a:t>O DESAFIO DO CASE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ponto de partida é a oportunidade de ampliar a base atual da </a:t>
            </a:r>
            <a:r>
              <a:rPr lang="pt-BR" dirty="0" err="1"/>
              <a:t>Michelob</a:t>
            </a:r>
            <a:r>
              <a:rPr lang="pt-BR" dirty="0"/>
              <a:t> Ultra no mercado brasileiro. 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marca, hoje fortemente associada a um estilo de vida ativo e equilibrado, deve ganhar relevância entre adultos que não se definem pelo esporte, mas valorizam escolhas mais leves na rotina e na vida social.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desafio central consiste em superar o estigma histórico de que “cerveja leve é aguada”, educar o mercado quanto ao posicionamento Ultra Light Premium e evitar que a comunicação limite a </a:t>
            </a:r>
            <a:r>
              <a:rPr lang="pt-BR" dirty="0" err="1"/>
              <a:t>Michelob</a:t>
            </a:r>
            <a:r>
              <a:rPr lang="pt-BR" dirty="0"/>
              <a:t> Ultra ao universo esportivo.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br>
              <a:rPr dirty="0"/>
            </a:b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rPr dirty="0"/>
              <a:t>DIRECIONAMENTO DO PROJETO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Ampliar a base de consumidores da </a:t>
            </a:r>
            <a:r>
              <a:rPr lang="pt-BR" dirty="0" err="1"/>
              <a:t>Michelob</a:t>
            </a:r>
            <a:r>
              <a:rPr lang="pt-BR" dirty="0"/>
              <a:t> Ultra, levando suas credenciais de leveza e sabor para diferentes contextos de socialização.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Consolidar a </a:t>
            </a:r>
            <a:r>
              <a:rPr lang="pt-BR" dirty="0" err="1"/>
              <a:t>Michelob</a:t>
            </a:r>
            <a:r>
              <a:rPr lang="pt-BR" dirty="0"/>
              <a:t> Ultra como referência da categoria Ultra Light Premium no Brasil.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Aproximar a marca de adultos que buscam escolhas mais leves, mesmo sem relação frequente com práticas esportivas.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Construir relevância em ocasiões sociais cotidianas, como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Manter o esporte como credencial da marca, sem transformá-lo em requisito de identificação ou consumo.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CONTEXTO DE MERCADO — MICHELOB ULTRA (PÁGINA 85)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Um consumidor mais atento ao equilíbrio, sem abrir mão da socialização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/>
              </a:defRPr>
            </a:pPr>
            <a:r>
              <a:t>86%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BUSCAM HÁBITOS MAIS SAUDÁVEIS</a:t>
            </a:r>
            <a:br/>
            <a:r>
              <a:t>86% dos consumidores brasileiros (Estudo Estilos de Vida 2024 / NielsenIQ) já incorporaram ao menos um hábito mais saudável à rotina.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0F4C81"/>
                </a:solidFill>
                <a:latin typeface="Georgia"/>
              </a:defRPr>
            </a:pPr>
            <a:r>
              <a:t>+40%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CRESCIMENTO EM VOLUME</a:t>
            </a:r>
            <a:br/>
            <a:r>
              <a:t>As cervejas de baixa caloria cresceram 40% em volume no Brasil, demonstrando forte espaço para escolhas com maior controle calórico.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/>
              </a:defRPr>
            </a:pPr>
            <a:r>
              <a:t>+20%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OCASIÕES FORA DE CASA</a:t>
            </a:r>
            <a:br/>
            <a:r>
              <a:t>As ocasiões de consumo fora do lar cresceram 20% (&gt;41,4M ocasiões). 63% dos brasileiros consomem cerveja fora de casa (Worldpanel 2025).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rPr dirty="0"/>
              <a:t>A OPORTUNIDADE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Esses movimentos revelam uma oportunidade para </a:t>
            </a:r>
            <a:r>
              <a:rPr lang="pt-BR" dirty="0" err="1"/>
              <a:t>Michelob</a:t>
            </a:r>
            <a:r>
              <a:rPr lang="pt-BR" dirty="0"/>
              <a:t> Ultra: a busca por escolhas mais leves e por equilíbrio na rotina alcança consumidores além do público que já se identifica com esporte e vida ativa.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Com seus atributos de leveza e baixo teor de carboidratos, a </a:t>
            </a:r>
            <a:r>
              <a:rPr lang="pt-BR" dirty="0" err="1"/>
              <a:t>Michelob</a:t>
            </a:r>
            <a:r>
              <a:rPr lang="pt-BR" dirty="0"/>
              <a:t> Ultra pode ampliar sua base ao se tornar mais presente em situações sociais cotidianas, sem exigir que o consumidor se reconheça em códigos de desempenho físico.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oportunidade está em levar uma credencial já existente da marca a um público mais amplo e a diferentes contextos de socialização.</a:t>
            </a:r>
          </a:p>
          <a:p>
            <a:pPr>
              <a:spcBef>
                <a:spcPts val="1000"/>
              </a:spcBef>
              <a:defRPr sz="1000">
                <a:solidFill>
                  <a:srgbClr val="5A6578"/>
                </a:solidFill>
                <a:latin typeface="Calibri"/>
              </a:defRPr>
            </a:pPr>
            <a:r>
              <a:rPr dirty="0"/>
              <a:t>Fontes: </a:t>
            </a:r>
            <a:r>
              <a:rPr dirty="0" err="1"/>
              <a:t>NielsenIQ</a:t>
            </a:r>
            <a:r>
              <a:rPr dirty="0"/>
              <a:t> — </a:t>
            </a:r>
            <a:r>
              <a:rPr dirty="0" err="1"/>
              <a:t>Estilos</a:t>
            </a:r>
            <a:r>
              <a:rPr dirty="0"/>
              <a:t> de Vida 2024; McKinsey — Cinco </a:t>
            </a:r>
            <a:r>
              <a:rPr dirty="0" err="1"/>
              <a:t>tendências</a:t>
            </a:r>
            <a:r>
              <a:rPr dirty="0"/>
              <a:t> do </a:t>
            </a:r>
            <a:r>
              <a:rPr dirty="0" err="1"/>
              <a:t>consumidor</a:t>
            </a:r>
            <a:r>
              <a:rPr dirty="0"/>
              <a:t> </a:t>
            </a:r>
            <a:r>
              <a:rPr dirty="0" err="1"/>
              <a:t>brasileiro</a:t>
            </a:r>
            <a:r>
              <a:rPr dirty="0"/>
              <a:t> em 2025; Worldpanel by Numerator — Brand Footprint </a:t>
            </a:r>
            <a:r>
              <a:rPr dirty="0" err="1"/>
              <a:t>Brasil</a:t>
            </a:r>
            <a:r>
              <a:rPr dirty="0"/>
              <a:t> 2025.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PROBLEMA DE NEGÓCIO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Mudança Comportamental, Dilema da Indústria e Limitadores de Negócio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dirty="0"/>
              <a:t>CONTEXTO E TESE DO CASE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MUDANÇA COMPORTAMENTAL: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Mudança</a:t>
            </a:r>
            <a:r>
              <a:rPr dirty="0"/>
              <a:t> secular de </a:t>
            </a:r>
            <a:r>
              <a:rPr dirty="0" err="1"/>
              <a:t>hábitos</a:t>
            </a:r>
            <a:r>
              <a:rPr dirty="0"/>
              <a:t>; </a:t>
            </a:r>
            <a:r>
              <a:rPr dirty="0" err="1"/>
              <a:t>ascensão</a:t>
            </a:r>
            <a:r>
              <a:rPr dirty="0"/>
              <a:t> da </a:t>
            </a:r>
            <a:r>
              <a:rPr dirty="0" err="1"/>
              <a:t>tendência</a:t>
            </a:r>
            <a:r>
              <a:rPr dirty="0"/>
              <a:t> de </a:t>
            </a:r>
            <a:r>
              <a:rPr dirty="0" err="1"/>
              <a:t>autocuidado</a:t>
            </a:r>
            <a:r>
              <a:rPr dirty="0"/>
              <a:t>, </a:t>
            </a:r>
            <a:r>
              <a:rPr dirty="0" err="1"/>
              <a:t>bem-estar</a:t>
            </a:r>
            <a:r>
              <a:rPr dirty="0"/>
              <a:t> e </a:t>
            </a:r>
            <a:r>
              <a:rPr dirty="0" err="1"/>
              <a:t>moderação</a:t>
            </a:r>
            <a:r>
              <a:rPr dirty="0"/>
              <a:t> no </a:t>
            </a:r>
            <a:r>
              <a:rPr dirty="0" err="1"/>
              <a:t>consumo</a:t>
            </a:r>
            <a:r>
              <a:rPr dirty="0"/>
              <a:t> </a:t>
            </a:r>
            <a:r>
              <a:rPr dirty="0" err="1"/>
              <a:t>alcóolico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abandonar</a:t>
            </a:r>
            <a:r>
              <a:rPr dirty="0"/>
              <a:t> a </a:t>
            </a:r>
            <a:r>
              <a:rPr dirty="0" err="1"/>
              <a:t>socialização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O DILEMA DA INDÚSTRIA: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Parte dos consumidores pode perceber cervejas tradicionais como mais pesadas ou menos compatíveis com a rotina; opções sem álcool ainda podem enfrentar barreiras de sabor e de ocasião social. A oportunidade é oferecer uma alternativa com álcool e menor teor calórico para quem busca leveza sem abrir mão da socialização.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A TESE DO CASE (</a:t>
            </a:r>
            <a:r>
              <a:rPr lang="pt-BR" dirty="0"/>
              <a:t>AMPLIAR A BASE</a:t>
            </a:r>
            <a:r>
              <a:rPr dirty="0"/>
              <a:t>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</a:t>
            </a:r>
            <a:r>
              <a:rPr lang="pt-BR" dirty="0" err="1"/>
              <a:t>Michelob</a:t>
            </a:r>
            <a:r>
              <a:rPr lang="pt-BR" dirty="0"/>
              <a:t> Ultra possui atributos coerentes com uma rotina mais equilibrada, mas sua associação predominante ao esporte pode reduzir a identificação de adultos que também buscam leveza na vida social. O desafio é ampliar essa identificação sem descaracterizar a marca.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EXPANSÃO </a:t>
            </a:r>
            <a:r>
              <a:rPr lang="pt-BR" dirty="0"/>
              <a:t>DE BASE E OCASIÕES:</a:t>
            </a:r>
            <a:endParaRPr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leveza da </a:t>
            </a:r>
            <a:r>
              <a:rPr lang="pt-BR" dirty="0" err="1"/>
              <a:t>Michelob</a:t>
            </a:r>
            <a:r>
              <a:rPr lang="pt-BR" dirty="0"/>
              <a:t> Ultra deve se tornar uma escolha relevante para mais pessoas e em mais contextos de convivência.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 são pontos de contato com esse novo público, e não substitutos da presença já existente da marca em outras situações.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PRINCIPAIS LIMITADORES DE NEGÓCIO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Associação concentrada no desempenho esportivo: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comunicação baseada em pós-treino, corrida e metas físicas pode afastar consumidores que valorizam leveza, mas não se reconhecem nesse repertório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Conhecimento limitado do posicionamento (hipótese do case):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Parte do público-alvo pode desconhecer a proposta Ultra Light Premium ou confundi-la com uma cerveja tradicional da prateleira.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Estigma</a:t>
            </a:r>
            <a:r>
              <a:rPr dirty="0"/>
              <a:t> Sensorial Histórico: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Memória</a:t>
            </a:r>
            <a:r>
              <a:rPr dirty="0"/>
              <a:t> </a:t>
            </a:r>
            <a:r>
              <a:rPr dirty="0" err="1"/>
              <a:t>afetiva</a:t>
            </a:r>
            <a:r>
              <a:rPr dirty="0"/>
              <a:t> </a:t>
            </a:r>
            <a:r>
              <a:rPr dirty="0" err="1"/>
              <a:t>negativa</a:t>
            </a:r>
            <a:r>
              <a:rPr dirty="0"/>
              <a:t> de </a:t>
            </a:r>
            <a:r>
              <a:rPr dirty="0" err="1"/>
              <a:t>cervejas</a:t>
            </a:r>
            <a:r>
              <a:rPr dirty="0"/>
              <a:t> light (</a:t>
            </a:r>
            <a:r>
              <a:rPr dirty="0" err="1"/>
              <a:t>Aguadas</a:t>
            </a:r>
            <a:r>
              <a:rPr dirty="0"/>
              <a:t>),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ativações</a:t>
            </a:r>
            <a:r>
              <a:rPr dirty="0"/>
              <a:t> </a:t>
            </a:r>
            <a:r>
              <a:rPr dirty="0" err="1"/>
              <a:t>agressivas</a:t>
            </a:r>
            <a:r>
              <a:rPr dirty="0"/>
              <a:t> para </a:t>
            </a:r>
            <a:r>
              <a:rPr dirty="0" err="1"/>
              <a:t>provar</a:t>
            </a:r>
            <a:r>
              <a:rPr dirty="0"/>
              <a:t> </a:t>
            </a:r>
            <a:r>
              <a:rPr dirty="0" err="1"/>
              <a:t>sabor</a:t>
            </a:r>
            <a:r>
              <a:rPr dirty="0"/>
              <a:t> e </a:t>
            </a:r>
            <a:r>
              <a:rPr dirty="0" err="1"/>
              <a:t>corpo</a:t>
            </a:r>
            <a:r>
              <a:rPr dirty="0"/>
              <a:t> puro </a:t>
            </a:r>
            <a:r>
              <a:rPr dirty="0" err="1"/>
              <a:t>malte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Resistência nos bares e cardápios (hipótese do case):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Bares tradicionais podem hesitar em reservar espaço em geladeira, cardápio ou ponto de venda para uma cerveja de menor teor calórico.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Limites regulatórios e de linguagem (CONAR / Anvisa):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A comunicação deve passar por validação regulatória antes da execução e evitar atribuir benefício à saúde ou desempenho físico ao consumo da cerveja.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ESTRATÉGIA DE SOLUÇÃO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Estratégia Central, Plano Tático GTM e Matriz de Mídias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dirty="0"/>
              <a:t>1. ESTRATÉGIA CENTRAL DE SOLUÇÃO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•</a:t>
            </a:r>
            <a:r>
              <a:rPr lang="pt-BR" dirty="0"/>
              <a:t> Provar sabor e leveza: superar o estigma da “cerveja aguada” por meio de degustação guiada e comunicação dos atributos de baixo teor de carboidratos e baixa caloria, apresentando a </a:t>
            </a:r>
            <a:r>
              <a:rPr lang="pt-BR" dirty="0" err="1"/>
              <a:t>Michelob</a:t>
            </a:r>
            <a:r>
              <a:rPr lang="pt-BR" dirty="0"/>
              <a:t> Ultra como cerveja premium leve.</a:t>
            </a:r>
            <a:br>
              <a:rPr dirty="0"/>
            </a:br>
            <a:r>
              <a:rPr dirty="0"/>
              <a:t>•</a:t>
            </a:r>
            <a:r>
              <a:rPr lang="pt-BR" dirty="0"/>
              <a:t> Ampliar a identificação com a marca: usar o esporte como credencial complementar e construir presença para adultos que buscam leveza em sua vida social, sem depender de desempenho físico.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272784" y="1554480"/>
            <a:ext cx="517550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lang="pt-BR" dirty="0"/>
              <a:t>2. PLANO TÁTICO DE GTM (EM 4 FASES)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Onda 1 (Degustação): degustação guiada em bares, eventos gastronômicos, festivais e pontos de venda.</a:t>
            </a:r>
            <a:br/>
            <a:r>
              <a:rPr lang="pt-BR" dirty="0"/>
              <a:t>• Onda 2 (Disponibilidade e visibilidade nos canais de venda): ponta de gôndola, geladeiras e presença destacada em grandes redes, empórios, bares e restaurantes.</a:t>
            </a:r>
            <a:br/>
            <a:r>
              <a:rPr lang="pt-BR" dirty="0"/>
              <a:t>• Onda 3 (Ocasiões): Campanhas voltadas a almoços, happy hours, encontros casuais, churrascos, festivais, futebol e eventos de entretenimento.</a:t>
            </a:r>
            <a:br/>
            <a:r>
              <a:rPr lang="pt-BR" dirty="0"/>
              <a:t>• Onda 4 (Relacionamento): piloto de aquisição e recompra com conteúdo digital, QR code de degustação, cupom rastreável e CRM no Zé Delivery, em regiões e canais priorizados.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32200"/>
            <a:ext cx="5175504" cy="276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dirty="0"/>
              <a:t>3. DADOS DE APRENDIZADO &amp; CURIOSIDADES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Pesquisa brasileira da FGV, com 581 respondentes, identificou baixo teor de carboidratos como o atributo mais relevante para a percepção de saudabilidade; orgânico e baixa caloria vieram em seguida.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No mesmo estudo, a afirmação de que um comercial com pessoas praticando exercícios torna uma cerveja mais saudável teve média de 2,95 em uma escala de 1 a 7.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Nos grupos de discussão, o termo “light” gerou desconfiança em parte dos participantes; a leveza precisa ser acompanhada de prova de sabor.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Aprendizado para a estratégia: comunicar atributos concretos do produto e comprovar sabor por degustação; manter o esporte como credencial complementar, não como argumento central de aquisição.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Fonte: FGV — “Cerveja e Saudabilidade: Como a percepção de saudabilidade de uma cerveja afeta a intenção de compra do consumidor”.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72784" y="3632200"/>
            <a:ext cx="5175504" cy="276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dirty="0"/>
              <a:t>4. MATRIZ DE MÍDIAS POR PÚBLICO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</a:t>
            </a:r>
            <a:r>
              <a:rPr lang="pt-BR" dirty="0" err="1"/>
              <a:t>Millennials</a:t>
            </a:r>
            <a:r>
              <a:rPr lang="pt-BR" dirty="0"/>
              <a:t> — 60% do investimento: Instagram, podcasts, criadores de conteúdo e CRM no Zé Delivery.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Geração Z — 20% do investimento: TikTok, festivais, criadores de conteúdo e ativações em eventos sociais.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Geração X — 20% do investimento: ponto de venda físico, empórios, supermercados, bares e comunicação sobre controle calórico, leveza, sabor e conveniência.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291072" y="6428232"/>
            <a:ext cx="4956048" cy="3657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620" b="0" i="0">
                <a:solidFill>
                  <a:srgbClr val="4D4D4D"/>
                </a:solidFill>
                <a:latin typeface="Aptos"/>
              </a:rPr>
              <a:t>Distribuição inicial de investimento a validar no piloto. Fontes: Rascasse, Adnews e FGV.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RESULTADOS PRETENDIDOS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Metas de Conquista e Indicadores Chave de Desempenho (KPIs)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7516" y="1455821"/>
            <a:ext cx="5329508" cy="250256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sz="1100" dirty="0"/>
              <a:t>1. AUMENTO DO CONHECIMENTO DA MARCA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1000" dirty="0"/>
              <a:t>A</a:t>
            </a:r>
            <a:r>
              <a:rPr lang="pt-BR" sz="1000" dirty="0" err="1"/>
              <a:t>mpliar</a:t>
            </a:r>
            <a:r>
              <a:rPr lang="pt-BR" sz="1000" dirty="0"/>
              <a:t> o reconhecimento da </a:t>
            </a:r>
            <a:r>
              <a:rPr lang="pt-BR" sz="1000" dirty="0" err="1"/>
              <a:t>Michelob</a:t>
            </a:r>
            <a:r>
              <a:rPr lang="pt-BR" sz="1000" dirty="0"/>
              <a:t> Ultra entre adultos que valorizam leveza e socialização, inclusive entre aqueles que não se identificam com o universo esportivo.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• Métrica Chave: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1. Taxa de engajamento nas mídias sociais.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2. Alcance e frequência da comunicação no novo público.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3. Evolução do conhecimento e da associação da </a:t>
            </a:r>
            <a:r>
              <a:rPr lang="pt-BR" sz="1000" dirty="0" err="1"/>
              <a:t>Michelob</a:t>
            </a:r>
            <a:r>
              <a:rPr lang="pt-BR" sz="1000" dirty="0"/>
              <a:t> Ultra a leveza, sabor e situações de socialização além do esporte.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Instrumentos: relatórios das mídias sociais e dos demais canais digitais utilizados; pesquisa breve antes e depois da campanha, divulgada digitalmente e por QR </a:t>
            </a:r>
            <a:r>
              <a:rPr lang="pt-BR" sz="1000" dirty="0" err="1"/>
              <a:t>code</a:t>
            </a:r>
            <a:r>
              <a:rPr lang="pt-BR" sz="1000" dirty="0"/>
              <a:t> em degustações, bares e eventos.</a:t>
            </a:r>
            <a:br>
              <a:rPr dirty="0"/>
            </a:b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272783" y="1455821"/>
            <a:ext cx="5329507" cy="250256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2. CONQUISTA DE</a:t>
            </a:r>
            <a:r>
              <a:rPr lang="pt-BR" sz="1100" b="1" dirty="0">
                <a:solidFill>
                  <a:srgbClr val="0F4C81"/>
                </a:solidFill>
                <a:latin typeface="Georgia"/>
              </a:rPr>
              <a:t> NOVOS CONSUMIDORES E </a:t>
            </a:r>
            <a:r>
              <a:rPr sz="1100" b="1" dirty="0">
                <a:solidFill>
                  <a:srgbClr val="0F4C81"/>
                </a:solidFill>
                <a:latin typeface="Georgia"/>
              </a:rPr>
              <a:t> NOVAS OCASIÕES DE CONSUMO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Inserir a </a:t>
            </a:r>
            <a:r>
              <a:rPr lang="pt-BR" sz="1000" dirty="0" err="1"/>
              <a:t>Michelob</a:t>
            </a:r>
            <a:r>
              <a:rPr lang="pt-BR" sz="1000" dirty="0"/>
              <a:t> Ultra em almoços, </a:t>
            </a:r>
            <a:r>
              <a:rPr lang="pt-BR" sz="1000" dirty="0" err="1"/>
              <a:t>happy</a:t>
            </a:r>
            <a:r>
              <a:rPr lang="pt-BR" sz="1000" dirty="0"/>
              <a:t> hours, encontros casuais, churrascos, festivais e ocasiões ligadas ao futebol, atraindo adultos que buscam uma cerveja premium leve para socializar.</a:t>
            </a:r>
            <a:br>
              <a:rPr sz="1000" dirty="0"/>
            </a:br>
            <a:br>
              <a:rPr sz="1000" dirty="0"/>
            </a:br>
            <a:r>
              <a:rPr sz="1000" dirty="0"/>
              <a:t>• </a:t>
            </a:r>
            <a:r>
              <a:rPr sz="1000" dirty="0" err="1"/>
              <a:t>Métricas</a:t>
            </a:r>
            <a:r>
              <a:rPr sz="1000" dirty="0"/>
              <a:t> Chave: </a:t>
            </a:r>
            <a:endParaRPr lang="pt-BR" sz="1000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1. Taxa de experimentação nas ativações e nos pontos de venda priorizados.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2. Participação de novos compradores entre os consumidores identificados nas plataformas de entrega e de relacionamento.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3. Frequência de compra nas ocasiões priorizadas.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• Instrumentos: QR </a:t>
            </a:r>
            <a:r>
              <a:rPr lang="pt-BR" sz="1000" dirty="0" err="1"/>
              <a:t>codes</a:t>
            </a:r>
            <a:r>
              <a:rPr lang="pt-BR" sz="1000" dirty="0"/>
              <a:t> e cupons distribuídos em degustações e ativações; relatórios de resgate; dados de compra das plataformas de entrega e de relacionamento; pesquisa breve após a 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7516" y="4088329"/>
            <a:ext cx="5329508" cy="23846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3. AMPLIAÇÃO DA DISPONIBILIDADE E PRESENÇA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Expandir a presença em supermercados, bares, restaurantes, entrega e pontos associados a ocasiões sociais e de convivência, reduzindo as barreiras entre intenção e compra.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• Métricas-chave: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1. Número de pontos de venda, bares, restaurantes e canais de entrega com </a:t>
            </a:r>
            <a:r>
              <a:rPr lang="pt-BR" sz="1000" dirty="0" err="1"/>
              <a:t>Michelob</a:t>
            </a:r>
            <a:r>
              <a:rPr lang="pt-BR" sz="1000" dirty="0"/>
              <a:t> Ultra disponível, por região.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2. Percentual dos pontos de venda priorizados que mantêm o produto disponível e visível em geladeira, gôndola ou cardápio.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3. Cobertura da marca nos canais de entrega selecionados.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• Instrumentos: relatórios de distribuidores e varejistas; auditorias periódicas nos pontos de venda; verificação de cardápios e catálogos das plataformas de entrega.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sz="1000" dirty="0"/>
          </a:p>
        </p:txBody>
      </p:sp>
      <p:sp>
        <p:nvSpPr>
          <p:cNvPr id="8" name="Rounded Rectangle 7"/>
          <p:cNvSpPr/>
          <p:nvPr/>
        </p:nvSpPr>
        <p:spPr>
          <a:xfrm>
            <a:off x="6284978" y="4112393"/>
            <a:ext cx="5329506" cy="23846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4. GERAÇÃO DE CRESCIMENTO SUSTENTÁVEL</a:t>
            </a:r>
            <a:endParaRPr lang="pt-BR" sz="1100" b="1" dirty="0">
              <a:solidFill>
                <a:srgbClr val="0F4C81"/>
              </a:solidFill>
              <a:latin typeface="Georgia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Atrair novos consumidores, aumentar a frequência de compra e gerar vendas incrementais, transformando a experimentação em compra recorrente.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• Métricas-chave: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1. Volume total de vendas e variação de vendas nas regiões e canais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2. Participação de novos compradores.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3. Taxa de recompra e intervalo médio entre compras.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4. Ciclo de reposição dos distribuidores.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• Instrumentos: relatórios de vendas da companhia, distribuidores e varejistas; dados das plataformas de entrega e de relacionamento; comparação dos resultados antes e depois das ações nos canais e regiões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100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650" b="0" i="0">
                <a:solidFill>
                  <a:srgbClr val="4D4D4D"/>
                </a:solidFill>
                <a:latin typeface="Aptos"/>
              </a:rPr>
              <a:t>Regra de avaliação do piloto: registrar a linha de base por região e canal antes das ações; ao final do período definido, comparar os mesmos indicadores com a linha de base e, quando houver dados, com áreas não ativadas.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ANÁLISE DE CONCORRENTES (PÁGINA 87)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Mapeamento do Cenário Competitivo Direto e Indireto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664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700" b="1" dirty="0"/>
              <a:t>1. AMSTEL ULTRA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Linha de frente: Long neck de 275 ml com 72 kcal e 4% ABV.</a:t>
            </a:r>
            <a:br/>
            <a:r>
              <a:rPr sz="1050" dirty="0"/>
              <a:t>• Atributos: Cerveja com álcool, menor teor calórico, puro malte, low carb e sem glúten.</a:t>
            </a:r>
            <a:br/>
            <a:r>
              <a:rPr sz="1050" dirty="0"/>
              <a:t/>
            </a:r>
            <a:br/>
            <a:r>
              <a:rPr sz="1050" dirty="0"/>
              <a:t>• Força Comercial: Marca do portfólio do Grupo Heineken; a versão Ultra reforça uma proposta de cerveja leve, puro malte, low carb e sem glúten.</a:t>
            </a:r>
            <a:br/>
            <a:r>
              <a:rPr sz="1050" dirty="0"/>
              <a:t/>
            </a:r>
            <a:br/>
            <a:r>
              <a:rPr sz="1050" dirty="0"/>
              <a:t>• Pressão sobre Michelob: Disputa familiaridade e valor percebido. Exige explicar por que a experiência Michelob merece preferência diante da porção de 275ml.</a:t>
            </a:r>
            <a:br/>
            <a:r>
              <a:rPr sz="1050" dirty="0"/>
              <a:t/>
            </a:r>
            <a:br/>
            <a:r>
              <a:rPr sz="1050" dirty="0"/>
              <a:t>• Fontes:</a:t>
            </a:r>
            <a:br/>
            <a:r>
              <a:rPr sz="1050" dirty="0"/>
              <a:t>  - Grupo Heineken Brasil: https://www.heinekenbrasil.com.br/nossas-marcas</a:t>
            </a:r>
            <a:br/>
            <a:r>
              <a:rPr sz="1050" dirty="0"/>
              <a:t>  - Heineken Express: https://express.heineken.com.br/collections/amstel-cervejas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7016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D9822B"/>
                </a:solidFill>
                <a:latin typeface="Georgia"/>
              </a:defRPr>
            </a:pPr>
            <a:r>
              <a:rPr sz="1700" b="1" dirty="0"/>
              <a:t>2. HEINEKEN ULTIMATE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Linha de frente: Garrafa de 330 ml com 97 kcal, 3,5% ABV e sem glúten (redução de 30% calorias vs regular).</a:t>
            </a:r>
            <a:br/>
            <a:r>
              <a:rPr sz="1050" dirty="0"/>
              <a:t/>
            </a:r>
            <a:br/>
            <a:r>
              <a:rPr sz="1050" dirty="0"/>
              <a:t>• Proposta: Opção com menos calorias dentro de uma marca global já estabelecida (lançada no Brasil em maio/2026).</a:t>
            </a:r>
            <a:br/>
            <a:r>
              <a:rPr sz="1050" dirty="0"/>
              <a:t/>
            </a:r>
            <a:br/>
            <a:r>
              <a:rPr sz="1050" dirty="0"/>
              <a:t>• Pressão sobre Michelob: Retenção do consumidor habitual de Heineken que busca redução calórica.</a:t>
            </a:r>
            <a:br/>
            <a:r>
              <a:rPr sz="1050" dirty="0"/>
              <a:t/>
            </a:r>
            <a:br/>
            <a:r>
              <a:rPr sz="1050" dirty="0"/>
              <a:t>• Resposta Michelob: Focar em identidade própria de leveza, sabor superior e ativação de estilo de vida.</a:t>
            </a:r>
            <a:br/>
            <a:r>
              <a:rPr sz="1050" dirty="0"/>
              <a:t/>
            </a:r>
            <a:br/>
            <a:r>
              <a:rPr sz="1050" dirty="0"/>
              <a:t>• Fontes:</a:t>
            </a:r>
            <a:br/>
            <a:r>
              <a:rPr sz="1050" dirty="0"/>
              <a:t>  - Produto oficial: https://www.heinekenbrasil.com.br/heineken-ultimate</a:t>
            </a:r>
            <a:br/>
            <a:r>
              <a:rPr sz="1050" dirty="0"/>
              <a:t>  - Lançamento: https://valor.globo.com/conteudo-de-marca/heineken/noticia/2026/07/14/heinekenr-lanca-versao-com-menor-teor-alcoolico-e-caloria-primeiro-no-brasil.ghtml</a:t>
            </a:r>
          </a:p>
        </p:txBody>
      </p:sp>
      <p:pic>
        <p:nvPicPr>
          <p:cNvPr id="7" name="Picture 6" descr="ams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486" y="2387068"/>
            <a:ext cx="847202" cy="777240"/>
          </a:xfrm>
          <a:prstGeom prst="rect">
            <a:avLst/>
          </a:prstGeom>
        </p:spPr>
      </p:pic>
      <p:pic>
        <p:nvPicPr>
          <p:cNvPr id="8" name="Picture 7" descr="heinek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263" y="2375036"/>
            <a:ext cx="932688" cy="77724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8CCC0D12-2D7F-FEC9-F715-C1F6C3247098}"/>
              </a:ext>
            </a:extLst>
          </p:cNvPr>
          <p:cNvSpPr txBox="1"/>
          <p:nvPr/>
        </p:nvSpPr>
        <p:spPr>
          <a:xfrm>
            <a:off x="1066648" y="1483629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Quem disputa a preferência de adultos que buscam uma cerveja com álcool e menor teor calórico para ocasiões sociais comuns, com diferentes níveis de reconhecimento, distribuição e proposta de marca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BENCHMARK &amp; MARCAS INSPIRADORAS (PÁGINA 88)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Aprendizados de Marcas Globais Aplicáveis ao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5.1. OATLY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Quebra de </a:t>
            </a:r>
            <a:r>
              <a:rPr sz="1200" b="1" dirty="0" err="1"/>
              <a:t>Preconceito</a:t>
            </a:r>
            <a:r>
              <a:rPr sz="1200" b="1" dirty="0"/>
              <a:t> e Sabor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Enfrentou a percepção de que bebidas de aveia seriam inferiores ao leite. A marca usou testes cegos de sabor para enfrentar a barreira de experimentação.</a:t>
            </a:r>
            <a:br/>
            <a:r>
              <a:rPr sz="900" dirty="0"/>
              <a:t/>
            </a:r>
            <a:br/>
            <a:r>
              <a:rPr sz="900" dirty="0"/>
              <a:t>• Aprendizados Aplicáveis:</a:t>
            </a:r>
            <a:br/>
            <a:r>
              <a:rPr sz="900" dirty="0"/>
              <a:t>  1. Assumir a leveza como atributo de marca (sem tentar imitar cerveja encorpada).</a:t>
            </a:r>
            <a:br/>
            <a:r>
              <a:rPr sz="900" dirty="0"/>
              <a:t>  2. Construir desejo antes da comparação técnica via conteúdo nativo.</a:t>
            </a:r>
            <a:br/>
            <a:r>
              <a:rPr sz="900" dirty="0"/>
              <a:t>  3. Converter dúvida em prova de produto através de degustação gelada guiada.</a:t>
            </a:r>
            <a:br/>
            <a:r>
              <a:rPr sz="900" dirty="0"/>
              <a:t/>
            </a:r>
            <a:br/>
            <a:r>
              <a:rPr sz="900" dirty="0"/>
              <a:t>• Fontes:</a:t>
            </a:r>
            <a:br/>
            <a:r>
              <a:rPr sz="900" dirty="0"/>
              <a:t>  - Teste cego Oatly: https://www.oatly.com/sustainability/influence-food-system-change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5.2. GUINNESS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 err="1"/>
              <a:t>Expansão</a:t>
            </a:r>
            <a:r>
              <a:rPr sz="1200" b="1" dirty="0"/>
              <a:t> de Base e On-Trade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Ampliou a base na Grã-Bretanha sem mudar o produto. Atuou fortemente com bares do on-trade, recrutou novos públicos (mulheres e jovens) e expandiu o calendário de consumo.</a:t>
            </a:r>
            <a:br/>
            <a:r>
              <a:rPr sz="900" dirty="0"/>
              <a:t/>
            </a:r>
            <a:br/>
            <a:r>
              <a:rPr sz="900" dirty="0"/>
              <a:t>• Aprendizados Aplicáveis:</a:t>
            </a:r>
            <a:br/>
            <a:r>
              <a:rPr sz="900" dirty="0"/>
              <a:t>  1. Recrutar públicos subatendidos preservando a identidade de marca.</a:t>
            </a:r>
            <a:br/>
            <a:r>
              <a:rPr sz="900" dirty="0"/>
              <a:t>  2. Trabalhar simultaneamente comunicação e presença/visibilidade no trade.</a:t>
            </a:r>
            <a:br/>
            <a:r>
              <a:rPr sz="900" dirty="0"/>
              <a:t>  3. Expandir o calendário de consumo para novas ocasiões diurnas e sociais.</a:t>
            </a:r>
            <a:br/>
            <a:r>
              <a:rPr sz="900" dirty="0"/>
              <a:t/>
            </a:r>
            <a:br/>
            <a:r>
              <a:rPr sz="900" dirty="0"/>
              <a:t>• Fonte: Diageo — https://www.diageo.com/en/news-and-media/stories/2023/world-class-brand-building-the-year-guinness-became-great-britain-s-favourite-pint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5.3. WHITE CLAW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Escala de </a:t>
            </a:r>
            <a:r>
              <a:rPr sz="1200" b="1" dirty="0" err="1"/>
              <a:t>Álcool</a:t>
            </a:r>
            <a:r>
              <a:rPr sz="1200" b="1" dirty="0"/>
              <a:t> e </a:t>
            </a:r>
            <a:r>
              <a:rPr sz="1200" b="1" dirty="0" err="1"/>
              <a:t>Ocasiões</a:t>
            </a:r>
            <a:endParaRPr sz="1200" b="1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A linha Surge, com 8% ABV, mostra como a marca atende a necessidades distintas em diferentes momentos de consumo.</a:t>
            </a:r>
            <a:br/>
            <a:r>
              <a:rPr sz="900" dirty="0"/>
              <a:t/>
            </a:r>
            <a:br/>
            <a:r>
              <a:rPr sz="900" dirty="0"/>
              <a:t>• Aprendizados Aplicáveis:</a:t>
            </a:r>
            <a:br/>
            <a:r>
              <a:rPr sz="900" dirty="0"/>
              <a:t>1. Organizar a comunicação da Michelob Ultra por ocasiões de consumo, como almoço, happy hour, churrasco, festival e futebol.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Adaptar a linguagem e os pontos de contato a cada ocasião, preservando o mesmo produto e sua proposta de valor.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Usar a variedade de momentos sociais para ampliar a identificação com a marca, sem criar versões adicionais ou promessas funcionais.</a:t>
            </a:r>
            <a:br/>
            <a:r>
              <a:rPr lang="pt-BR" sz="900" dirty="0"/>
              <a:t/>
            </a:r>
            <a:br/>
            <a:r>
              <a:rPr lang="pt-BR" sz="900" dirty="0"/>
              <a:t>• Fonte: White Claw Support — https://ussupport.whiteclaw.com/en/support/solutions/articles/36000314438-how-much-alcohol-is-in-white-claw-hard-seltzer-surge-</a:t>
            </a:r>
          </a:p>
        </p:txBody>
      </p:sp>
      <p:pic>
        <p:nvPicPr>
          <p:cNvPr id="8" name="Picture 7" descr="oat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61" y="2380824"/>
            <a:ext cx="619532" cy="594360"/>
          </a:xfrm>
          <a:prstGeom prst="rect">
            <a:avLst/>
          </a:prstGeom>
        </p:spPr>
      </p:pic>
      <p:pic>
        <p:nvPicPr>
          <p:cNvPr id="9" name="Picture 8" descr="guinn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578" y="2525182"/>
            <a:ext cx="1066650" cy="594360"/>
          </a:xfrm>
          <a:prstGeom prst="rect">
            <a:avLst/>
          </a:prstGeom>
        </p:spPr>
      </p:pic>
      <p:pic>
        <p:nvPicPr>
          <p:cNvPr id="10" name="Picture 9" descr="whitecla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700" y="2380803"/>
            <a:ext cx="694758" cy="59436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87BB30A-87E0-DFA0-EE66-C5ACF8AD24D0}"/>
              </a:ext>
            </a:extLst>
          </p:cNvPr>
          <p:cNvSpPr txBox="1"/>
          <p:nvPr/>
        </p:nvSpPr>
        <p:spPr>
          <a:xfrm>
            <a:off x="1066648" y="1435501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Quais marcas oferecem aprendizados aplicáveis para superar o estigma de sabor, ampliar a base de consumidores e tornar a </a:t>
            </a:r>
            <a:r>
              <a:rPr lang="pt-BR" dirty="0" err="1">
                <a:solidFill>
                  <a:schemeClr val="accent6">
                    <a:lumMod val="75000"/>
                  </a:schemeClr>
                </a:solidFill>
              </a:rPr>
              <a:t>Michelob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 Ultra relevante em novos contextos de socialização?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MODELO DE NEGÓCIO (PÁGINA 89)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BASE METODOLÓGICA — BUSINESS MODEL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PARCEIROS CHAVE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Canais de venda: supermercados, atacarejos, distribuidores, geladeiras e gôndolas.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Bares e restaurantes: estabelecimentos de almoço, </a:t>
            </a:r>
            <a:r>
              <a:rPr lang="pt-BR" dirty="0" err="1"/>
              <a:t>happy</a:t>
            </a:r>
            <a:r>
              <a:rPr lang="pt-BR" dirty="0"/>
              <a:t> hour e convivência social.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3. Entretenimento e eventos: festivais, eventos gastronômicos, futebol e outros pontos de encontro. Eventos esportivos permanecem como parceria complementar.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4. Plataformas: Zé Delivery, iFood e ferramentas de relacionamento com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5. Criadores de conteúdo: gastronomia, entretenimento, cultura, esporte e convivência social.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77251" y="1463039"/>
            <a:ext cx="2072579" cy="19421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ATIVIDADES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Degustação e prova de sabor em bares, eventos, festivais e pontos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Comunicação por ocasiões sociais em canais digitais, criadores de conteúdo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Visibilidade e disponibilidade nos canais de venda, em supermercados, bares, restaurantes e entrega.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877251" y="3516908"/>
            <a:ext cx="2072579" cy="18780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RECURSOS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sz="850" dirty="0">
                <a:solidFill>
                  <a:srgbClr val="1B2A4A"/>
                </a:solidFill>
                <a:latin typeface="Calibri"/>
              </a:rPr>
              <a:t>1.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Físicos</a:t>
            </a:r>
            <a:r>
              <a:rPr sz="850" dirty="0">
                <a:solidFill>
                  <a:srgbClr val="1B2A4A"/>
                </a:solidFill>
                <a:latin typeface="Calibri"/>
              </a:rPr>
              <a:t>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Fermentação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estendida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,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frota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refrigerada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e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geladeiras</a:t>
            </a:r>
            <a:r>
              <a:rPr sz="850" dirty="0">
                <a:solidFill>
                  <a:srgbClr val="1B2A4A"/>
                </a:solidFill>
                <a:latin typeface="Calibri"/>
              </a:rPr>
              <a:t> PDV.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sz="850" dirty="0">
                <a:solidFill>
                  <a:srgbClr val="1B2A4A"/>
                </a:solidFill>
                <a:latin typeface="Calibri"/>
              </a:rPr>
              <a:t>2. IP &amp; Marca: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Fórmula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Ultra Light e Brand Equity global.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lang="pt-BR" sz="850" dirty="0">
                <a:solidFill>
                  <a:srgbClr val="1B2A4A"/>
                </a:solidFill>
                <a:latin typeface="Calibri"/>
              </a:rPr>
              <a:t>3. Dados e tecnologia: BEES, Zé Delivery, iFood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sz="850" dirty="0">
                <a:solidFill>
                  <a:srgbClr val="1B2A4A"/>
                </a:solidFill>
                <a:latin typeface="Calibri"/>
              </a:rPr>
              <a:t>4. Talentos: equipe comercial, ativações sociais e relacionamento digital.</a:t>
            </a:r>
            <a:endParaRPr sz="85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2982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822B"/>
                </a:solidFill>
                <a:latin typeface="Georgia"/>
              </a:defRPr>
            </a:pPr>
            <a:r>
              <a:rPr lang="pt-BR" sz="1000" b="1" dirty="0">
                <a:solidFill>
                  <a:srgbClr val="0F4C81"/>
                </a:solidFill>
                <a:latin typeface="Georgia"/>
              </a:rPr>
              <a:t>PROPOSTA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/>
              </a:rPr>
              <a:t>DE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/>
              </a:rPr>
              <a:t>VALOR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Levar a </a:t>
            </a:r>
            <a:r>
              <a:rPr lang="pt-BR" dirty="0" err="1"/>
              <a:t>Michelob</a:t>
            </a:r>
            <a:r>
              <a:rPr lang="pt-BR" dirty="0"/>
              <a:t> Ultra a novas situações de convivência ao oferecer uma cerveja premium leve e refrescante, com baixas calorias e baixo teor de carboidratos.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Uma escolha para adultos que valorizam leveza e atributos nutricionais, sem abrir mão do sabor, em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festivais, futebol e outras ocasiões do cotidiano.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8713" y="1463040"/>
            <a:ext cx="2072579" cy="19421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RELACIONAMENTO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1. Ponto de venda: merchandising e degustação gelada.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CRM e benefícios: comunicações, cupons e convites associados a ocasiões sociais e recompra.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Comunidade: relacionamento com consumidores por meio de gastronomia, entretenimento, cultura e esporte.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Comunicação: conteúdo sobre leveza, sabor e socialização.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168713" y="3516908"/>
            <a:ext cx="2072579" cy="18780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CANAIS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Tradicionais: redes, atacarejos, supermercados e bares.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Convivência social: restaurantes, espaços gastronômicos, festivais e pontos de encontro.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Entrega: Zé Delivery e iFood, com comunicações adequadas a cada ocasião.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Eventos: futebol, festivais, encontros gastronômicos e eventos esportivos.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9314444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SEGMENTAÇÃO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PRINCIPAL — 60% do investimento inicial | </a:t>
            </a:r>
            <a:r>
              <a:rPr lang="pt-BR" dirty="0" err="1"/>
              <a:t>Millennials</a:t>
            </a:r>
            <a:r>
              <a:rPr lang="pt-BR" dirty="0"/>
              <a:t> (28 a 43 anos): consumidores que buscam uma cerveja premium leve para socializar em almoços, </a:t>
            </a:r>
            <a:r>
              <a:rPr lang="pt-BR" dirty="0" err="1"/>
              <a:t>happy</a:t>
            </a:r>
            <a:r>
              <a:rPr lang="pt-BR" dirty="0"/>
              <a:t> hours, encontros casuais e momentos de entretenimento.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ESTRATÉGICO — 20% do investimento inicial | Geração Z (18 a 27 anos): consumidores que valorizam experiências sociais, festivais, estética de marca e escolhas mais leves.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COMPLEMENTAR — 20% do investimento inicial | Geração X (44 a 59 anos): consumidores que valorizam controle calórico, leveza, conveniência e disponibilidade no ponto de venda, mas precisam perceber que esses atributos não comprometem o sabor.</a:t>
            </a:r>
            <a:endParaRPr dirty="0"/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4D4D4D"/>
                </a:solidFill>
                <a:latin typeface="Aptos"/>
              </a:rPr>
              <a:t>Hipótese de investimento inicial; lógica, limites e fontes de priorização apresentadas no slide 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57520"/>
            <a:ext cx="5291175" cy="10705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ESTRUTURA DE CUSTO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Custos de produção, matérias-primas, logística refrigerada e impostos.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• Investimentos em comunicação, mídia digital e criadores de conteúdo.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Degustações, materiais de ponto de venda, geladeiras e ativações nos canais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&gt; • Parcerias com bares, restaurantes, eventos, plataformas de entrega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&gt; • Equipe comercial, relacionamento digital e acompanhamento de dados.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095847" y="5532120"/>
            <a:ext cx="5291175" cy="10959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822B"/>
                </a:solidFill>
                <a:latin typeface="Georgia"/>
              </a:defRPr>
            </a:pPr>
            <a:r>
              <a:rPr sz="1000" b="1" dirty="0">
                <a:solidFill>
                  <a:srgbClr val="0F4C81"/>
                </a:solidFill>
                <a:latin typeface="Georgia"/>
              </a:rPr>
              <a:t>FONTES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/>
              </a:rPr>
              <a:t>DE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/>
              </a:rPr>
              <a:t>RECEITAS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de </a:t>
            </a:r>
            <a:r>
              <a:rPr lang="pt-BR" dirty="0" err="1"/>
              <a:t>Michelob</a:t>
            </a:r>
            <a:r>
              <a:rPr lang="pt-BR" dirty="0"/>
              <a:t> Ultra nos canais de venda priorizados.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geradas por novos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recorrentes decorrentes do aumento da frequência de 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em novas situações sociais de consumo.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D9822B"/>
                </a:solidFill>
                <a:latin typeface="Aptos"/>
              </a:rPr>
              <a:t>ANEXO — USO DE INTELIGÊNCIA ARTIFICIAL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0F4C81"/>
                </a:solidFill>
                <a:latin typeface="Georgia"/>
              </a:rPr>
              <a:t>Registro de ferramentas, instruções e aprendizados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698480" cy="32004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164592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Etapa do trabalho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536192"/>
            <a:ext cx="178308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Ferramenta utilizada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3995928" y="1536192"/>
            <a:ext cx="256032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Prompt-chave ou instrução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6248" y="1536192"/>
            <a:ext cx="269748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Como o resultado foi usado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9253728" y="1536192"/>
            <a:ext cx="201168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Aprendizado ou limite identificado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Pesquisa e leitura de fontes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2848" y="1920240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95928" y="1920240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6248" y="1920240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53728" y="1920240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633472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Organização de transcrições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12848" y="2633472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95928" y="2633472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6248" y="2633472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53728" y="2633472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46704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Análise do problema e da solução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12848" y="3346704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95928" y="3346704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6248" y="3346704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53728" y="3346704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059935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Redação e revisão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12848" y="4059935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95928" y="4059935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6248" y="4059935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53728" y="4059935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73168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Apoio à apresentação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12848" y="4773168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95928" y="4773168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56248" y="4773168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53728" y="4773168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1">
                <a:solidFill>
                  <a:srgbClr val="4D4D4D"/>
                </a:solidFill>
                <a:latin typeface="Aptos"/>
              </a:rPr>
              <a:t>Preencher exclusivamente com ferramentas, instruções e resultados utilizados de fato pelo grupo. Não inserir conteúdo presumido.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3446</Words>
  <Application>Microsoft Office PowerPoint</Application>
  <PresentationFormat>Widescreen</PresentationFormat>
  <Paragraphs>175</Paragraphs>
  <Slides>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André Moreira</cp:lastModifiedBy>
  <cp:revision>2</cp:revision>
  <dcterms:created xsi:type="dcterms:W3CDTF">2013-01-27T09:14:16Z</dcterms:created>
  <dcterms:modified xsi:type="dcterms:W3CDTF">2026-09-20T14:28:28Z</dcterms:modified>
  <cp:category/>
</cp:coreProperties>
</file>