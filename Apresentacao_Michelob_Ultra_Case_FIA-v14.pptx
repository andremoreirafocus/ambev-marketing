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F8FDBB-F290-4FEB-AEDB-04B885996D60}" v="3" dt="2026-09-21T19:18:18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21" autoAdjust="0"/>
  </p:normalViewPr>
  <p:slideViewPr>
    <p:cSldViewPr snapToGrid="0" snapToObjects="1">
      <p:cViewPr varScale="1">
        <p:scale>
          <a:sx n="106" d="100"/>
          <a:sy n="106" d="100"/>
        </p:scale>
        <p:origin x="23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undo custSel modSld">
      <pc:chgData name="André Moreira" userId="a074d5cff11e4feb" providerId="LiveId" clId="{A3AE0FC4-E642-4DAF-99C2-2E02E3CB77AA}" dt="2026-09-21T19:19:13.970" v="12" actId="14100"/>
      <pc:docMkLst>
        <pc:docMk/>
      </pc:docMkLst>
      <pc:sldChg chg="modSp mod">
        <pc:chgData name="André Moreira" userId="a074d5cff11e4feb" providerId="LiveId" clId="{A3AE0FC4-E642-4DAF-99C2-2E02E3CB77AA}" dt="2026-09-21T19:19:13.970" v="12" actId="14100"/>
        <pc:sldMkLst>
          <pc:docMk/>
          <pc:sldMk cId="0" sldId="265"/>
        </pc:sldMkLst>
        <pc:spChg chg="mod">
          <ac:chgData name="André Moreira" userId="a074d5cff11e4feb" providerId="LiveId" clId="{A3AE0FC4-E642-4DAF-99C2-2E02E3CB77AA}" dt="2026-09-21T19:15:32.120" v="5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9:18:18.567" v="1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9:19:13.970" v="12" actId="14100"/>
          <ac:spMkLst>
            <pc:docMk/>
            <pc:sldMk cId="0" sldId="265"/>
            <ac:spMk id="18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66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0min30s.</a:t>
            </a:r>
          </a:p>
          <a:p>
            <a:endParaRPr/>
          </a:p>
          <a:p>
            <a:r>
              <a:t>Boa noite. Nosso case trata da ampliação da base de consumidores da Michelob Ultra no Brasil.</a:t>
            </a:r>
          </a:p>
          <a:p>
            <a:endParaRPr/>
          </a:p>
          <a:p>
            <a:r>
              <a:t>Não propomos mudar o produto. Propomos um piloto de marketing digital para transformar atributos já existentes — leveza, baixo teor de carboidratos e sabor — em motivos de escolha para mais adultos e mais situações de socialização.</a:t>
            </a:r>
          </a:p>
          <a:p>
            <a:endParaRPr/>
          </a:p>
          <a:p>
            <a:r>
              <a:t>A pergunta que orienta a apresentação é: como ampliar a base sem perder a identidade que a marca já construiu?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A Michelob Ultra pertence ao portfólio global da AB InBev e já possui uma proposta premium associada à leveza. Sua identidade foi construída em torno de esporte, bem-estar e vida ativa.</a:t>
            </a:r>
          </a:p>
          <a:p>
            <a:endParaRPr/>
          </a:p>
          <a:p>
            <a:r>
              <a:t>Essa credencial é um ativo, mas pode limitar a identificação de adultos que não se definem pelo desempenho físico. Eles também valorizam escolhas mais leves, mas querem encontrá-las em almoços, happy hours, churrascos, festivais e outros momentos sociais.</a:t>
            </a:r>
          </a:p>
          <a:p>
            <a:endParaRPr/>
          </a:p>
          <a:p>
            <a:r>
              <a:t>Por isso, o desafio não é abandonar o esporte nem reposicionar a marca como outra coisa. É usar o esporte como credencial complementar e ampliar a relevância da Michelob Ultra em contextos cotidianos de convivência.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O contexto de mercado mostra uma mudança mais ampla do que o nicho esportivo. A NielsenIQ aponta que 86% dos consumidores brasileiros já incorporaram algum hábito mais saudável à rotina. Ao mesmo tempo, cervejas de baixa caloria cresceram em volume e as ocasiões fora de casa aumentaram.</a:t>
            </a:r>
          </a:p>
          <a:p>
            <a:endParaRPr/>
          </a:p>
          <a:p>
            <a:r>
              <a:t>Esses dados não autorizam tratar bebida alcoólica como saudável. Eles indicam que equilíbrio, controle calórico e socialização passaram a coexistir na decisão de consumo.</a:t>
            </a:r>
          </a:p>
          <a:p>
            <a:endParaRPr/>
          </a:p>
          <a:p>
            <a:r>
              <a:t>A oportunidade para a Michelob Ultra é levar uma credencial que ela já possui a um público maior, em situações nas quais a pessoa quer socializar sem se sentir pesada ou afastada de sua rotina.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2min00s.</a:t>
            </a:r>
          </a:p>
          <a:p>
            <a:endParaRPr/>
          </a:p>
          <a:p>
            <a:r>
              <a:t>O problema de negócio nasce dessa mudança comportamental. Parte dos consumidores pode perceber cervejas tradicionais como mais pesadas para a rotina, enquanto opções sem álcool ainda enfrentam barreiras de sabor e de ocasião social.</a:t>
            </a:r>
          </a:p>
          <a:p>
            <a:endParaRPr/>
          </a:p>
          <a:p>
            <a:r>
              <a:t>Para a Michelob Ultra, o ponto central é que a associação predominante ao esporte pode reduzir a identificação de adultos que buscam leveza, mas não se reconhecem em corrida, pós-treino ou metas físicas.</a:t>
            </a:r>
          </a:p>
          <a:p>
            <a:endParaRPr/>
          </a:p>
          <a:p>
            <a:r>
              <a:t>Os limitadores que tratamos como hipóteses do case são: conhecimento limitado do posicionamento Ultra Light Premium, estigma de que cerveja leve é aguada e resistência de bares e cardápios a abrir espaço para a marca.</a:t>
            </a:r>
          </a:p>
          <a:p>
            <a:endParaRPr/>
          </a:p>
          <a:p>
            <a:r>
              <a:t>A tese é ampliar a base e as ocasiões sem descaracterizar a Michelob Ultra. Almoços, happy hours, churrascos, festivais e futebol são pontos de contato adicionais; não substituem as situações em que a marca já é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>
            <a:endParaRPr/>
          </a:p>
          <a:p>
            <a:r>
              <a:t>A estratégia tem duas frentes. A primeira é provar sabor e leveza: a degustação guiada responde diretamente ao estigma de cerveja aguada. A segunda é ampliar identificação: o esporte continua como credencial, mas deixa de ser requisito para que alguém se veja na marca.</a:t>
            </a:r>
          </a:p>
          <a:p>
            <a:endParaRPr/>
          </a:p>
          <a:p>
            <a:r>
              <a:t>O plano tático segue quatro ondas. Primeiro, degustação. Segundo, disponibilidade e visibilidade nos canais de venda. Terceiro, comunicação por ocasiões sociais. Quarto, relacionamento: conteúdo digital, QR code, cupom rastreável e CRM no Zé Delivery formam o piloto de aquisição e recompra.</a:t>
            </a:r>
          </a:p>
          <a:p>
            <a:endParaRPr/>
          </a:p>
          <a:p>
            <a:r>
              <a:t>A pesquisa da FGV orienta essa escolha. Ela mostra a relevância do baixo teor de carboidratos para a percepção de saudabilidade e indica que esporte não deve ser o argumento central de aquisição. A degustação é necessária para responder à barreira de sabor.</a:t>
            </a:r>
          </a:p>
          <a:p>
            <a:endParaRPr/>
          </a:p>
          <a:p>
            <a:r>
              <a:t>A matriz de 60%, 20% e 20% é uma hipótese inicial de investimento, não uma fotografia do mercado brasileiro. Os títulos clicáveis no slide levam às fontes que sustentam essa priorização.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733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2min15s.</a:t>
            </a:r>
          </a:p>
          <a:p>
            <a:endParaRPr/>
          </a:p>
          <a:p>
            <a:r>
              <a:t>Este slide define como saberemos se o plano funciona. Não estamos prometendo resultados realizados; estamos definindo resultados pretendidos, indicadores e instrumentos para acompanhá-los. Cada indicador precisa orientar uma decisão de continuidade, ajuste ou escala do piloto. O propósito não é perseguir números artificiais, mas reunir evidência suficiente para decidir onde investir em seguida.</a:t>
            </a:r>
          </a:p>
          <a:p>
            <a:endParaRPr/>
          </a:p>
          <a:p>
            <a:r>
              <a:t>O primeiro resultado é ampliar o conhecimento da marca entre adultos que valorizam leveza e socialização. Por isso, acompanharemos alcance, frequência, engajamento e, principalmente, a mudança de associação da Michelob Ultra com sabor e ocasiões além do esporte. A pesquisa breve antes e depois da campanha verifica se a comunicação está alcançando o novo público e mudando essa percepção.</a:t>
            </a:r>
          </a:p>
          <a:p>
            <a:endParaRPr/>
          </a:p>
          <a:p>
            <a:r>
              <a:t>O segundo resultado é conquistar novos consumidores e novas ocasiões. Aqui, QR codes, cupons e dados das plataformas permitem ligar a degustação à primeira compra, identificar novos compradores e observar a frequência de compra nas ocasiões priorizadas. Assim, a experimentação deixa de ser uma métrica isolada e passa a ser o início de uma jornada mensurável.</a:t>
            </a:r>
          </a:p>
          <a:p>
            <a:endParaRPr/>
          </a:p>
          <a:p>
            <a:r>
              <a:t>O terceiro resultado é disponibilidade. Não basta gerar intenção se o produto não estiver visível na geladeira, na gôndola, no cardápio ou na entrega. Mediremos cobertura, presença e visibilidade nos canais priorizados para separar um problema de comunicação de um problema de acesso à compra.</a:t>
            </a:r>
          </a:p>
          <a:p>
            <a:endParaRPr/>
          </a:p>
          <a:p>
            <a:r>
              <a:t>Por fim, crescimento sustentável significa transformar experimentação em recompra e vendas incrementais. A faixa de fechamento resume o método: registrar a linha de base antes das ações, ativar por região e canal, comparar os indicadores e escalar somente o que gerar aquisição 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Os concorrentes selecionados disputam a preferência de consumidores que desejam uma cerveja com álcool e menor teor calórico para ocasiões sociais comuns.</a:t>
            </a:r>
          </a:p>
          <a:p>
            <a:endParaRPr/>
          </a:p>
          <a:p>
            <a:r>
              <a:t>A Amstel Ultra traz atributos próximos e se beneficia da familiaridade de uma marca já consolidada no portfólio Heineken. A pressão para Michelob é explicar por que sua experiência premium merece preferência.</a:t>
            </a:r>
          </a:p>
          <a:p>
            <a:endParaRPr/>
          </a:p>
          <a:p>
            <a:r>
              <a:t>A Heineken Ultimate atende o consumidor habitual da marca que busca menor teor alcoólico e calórico. A resposta da Michelob não é copiar a concorrente. É reforçar uma identidade própria de leveza, sabor e relevância em novas ocasiões sociais.</a:t>
            </a:r>
          </a:p>
          <a:p>
            <a:endParaRPr/>
          </a:p>
          <a:p>
            <a:r>
              <a:t>Portanto, a competição não é apenas por preço ou calorias. É por reconhecimento, disponibilidade e significado de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2min00s.</a:t>
            </a:r>
          </a:p>
          <a:p>
            <a:endParaRPr/>
          </a:p>
          <a:p>
            <a:r>
              <a:t>Os benchmarks não servem para copiar produtos; servem para trazer aprendizados aplicáveis ao nosso problema.</a:t>
            </a:r>
          </a:p>
          <a:p>
            <a:endParaRPr/>
          </a:p>
          <a:p>
            <a:r>
              <a:t>A Oatly mostra como enfrentar uma barreira de paladar com testes e prova de produto. Para Michelob, a aplicação é fazer da degustação a resposta concreta ao estigma de cerveja aguada.</a:t>
            </a:r>
          </a:p>
          <a:p>
            <a:endParaRPr/>
          </a:p>
          <a:p>
            <a:r>
              <a:t>A Guinness mostra que é possível ampliar a base sem abandonar a identidade da marca, combinando comunicação, presença em bares e recrutamento de públicos antes subatendidos.</a:t>
            </a:r>
          </a:p>
          <a:p>
            <a:endParaRPr/>
          </a:p>
          <a:p>
            <a:r>
              <a:t>A White Claw reforça que as necessidades variam durante a semana. O aprendizado para a Michelob não é lançar versões adicionais; é organizar a comunicação e os pontos de contato por ocasião, preservando o mesmo produto e proposta de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>
            <a:endParaRPr/>
          </a:p>
          <a:p>
            <a:r>
              <a:t>O Canvas traduz a estratégia em recomendações de negócio. Nos parceiros, priorizamos canais de venda, bares, restaurantes, eventos, plataformas de entrega e criadores de conteúdo. Nas atividades, destacamos degustação, comunicação por ocasião e presença nos canais.</a:t>
            </a:r>
          </a:p>
          <a:p>
            <a:endParaRPr/>
          </a:p>
          <a:p>
            <a:r>
              <a:t>A proposta de valor permanece uma cerveja premium leve e refrescante, com baixas calorias e baixo teor de carboidratos, agora conectada a mais situações de convivência.</a:t>
            </a:r>
          </a:p>
          <a:p>
            <a:endParaRPr/>
          </a:p>
          <a:p>
            <a:r>
              <a:t>Os relacionamentos e canais tornam o piloto executável: ponto de venda, CRM, cupons, Zé Delivery, iFood, bares, restaurantes e eventos.</a:t>
            </a:r>
          </a:p>
          <a:p>
            <a:endParaRPr/>
          </a:p>
          <a:p>
            <a:r>
              <a:t>A segmentação de investimento é inicial e será validada no piloto. Millennials recebem a maior parcela pela combinação de socialização e canais digitais; Geração Z é estratégica para eventos e experiências; Geração X combina interesse em controle calórico com necessidade de prova de sabor.</a:t>
            </a:r>
          </a:p>
          <a:p>
            <a:endParaRPr/>
          </a:p>
          <a:p>
            <a:r>
              <a:t>A lógica financeira é gerar vendas incrementais, recorrência e maior frequência de compra nos canais e ocasiões priorizados.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81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0min45s.</a:t>
            </a:r>
          </a:p>
          <a:p>
            <a:endParaRPr/>
          </a:p>
          <a:p>
            <a:r>
              <a:t>Este anexo registra o uso de inteligência artificial no trabalho, conforme solicitado pelo professor.</a:t>
            </a:r>
          </a:p>
          <a:p>
            <a:endParaRPr/>
          </a:p>
          <a:p>
            <a:r>
              <a:t>Antes da entrega final, o grupo deve preencher a tabela somente com as ferramentas, instruções e resultados que utilizou de fato. O objetivo é dar transparência ao processo, mostrando tanto os usos quanto os limites identificados.</a:t>
            </a:r>
          </a:p>
          <a:p>
            <a:endParaRPr/>
          </a:p>
          <a:p>
            <a:r>
              <a:t>Encerramos reforçando que a proposta é um piloto mensurável para ampliar a base da Michelob Ultra, preservando a identidade da marca e aprendendo antes de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onferencias.fgv.br/clav/article/download/598/354/1443" TargetMode="External"/><Relationship Id="rId4" Type="http://schemas.openxmlformats.org/officeDocument/2006/relationships/hyperlink" Target="https://rascasse.com/explore/us/michelob-ultra-149491" TargetMode="External"/><Relationship Id="rId5" Type="http://schemas.openxmlformats.org/officeDocument/2006/relationships/hyperlink" Target="https://adnews.com.br/post/ze-delivery-oferece-ate-40-off-no-mes-da-cervej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Plano de Marketing Digital — Piloto de aquisição e recompra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e </a:t>
            </a:r>
            <a:r>
              <a:rPr dirty="0" err="1"/>
              <a:t>Inteligência</a:t>
            </a:r>
            <a:r>
              <a:rPr dirty="0"/>
              <a:t> de </a:t>
            </a:r>
            <a:r>
              <a:rPr dirty="0" err="1"/>
              <a:t>Negócios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— Michelob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 (PÁGINA 84)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 (PÁGINA 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Mudança Comportamental, Dilema da Indústria e 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CONTEXTO E TESE DO CASE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Parte dos consumidores pode perceber cervejas tradicionais como mais pesadas ou menos compatíveis com a rotina; opções sem álcool ainda podem enfrentar barreiras de sabor e de ocasião social. A oportunidade é oferecer uma alternativa com álcool e menor teor calórico para quem busca leveza sem abrir mão da socialização.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Associação concentrada no desempenho esportivo: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comunicação baseada em pós-treino, corrida e metas físicas pode afastar consumidores que valorizam leveza, mas não se reconhecem nesse repertório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Conhecimento limitado do posicionamento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Parte do público-alvo pode desconhecer a proposta Ultra Light Premium ou confundi-la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Resistência nos bares e cardápios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Bares tradicionais podem hesitar em reservar espaço em geladeira, cardápio ou ponto de venda para uma cerveja de menor teor calórico.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Limites regulatórios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A comunicação deve passar por validação regulatória antes da execução e evitar atribuir benefício à saúde ou desempenho físico ao consumo da cerveja.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Estratégia Central, 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1. ESTRATÉGIA CENTRAL DE SOLUÇÃO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</a:t>
            </a:r>
            <a:r>
              <a:rPr lang="pt-BR" sz="900" dirty="0"/>
              <a:t> Provar sabor e leveza: superar o estigma da “cerveja aguada” por meio de degustação guiada e comunicação dos atributos de baixo teor de carboidratos e baixa caloria, apresentando a </a:t>
            </a:r>
            <a:r>
              <a:rPr lang="pt-BR" sz="900" dirty="0" err="1"/>
              <a:t>Michelob</a:t>
            </a:r>
            <a:r>
              <a:rPr lang="pt-BR" sz="900" dirty="0"/>
              <a:t> Ultra como cerveja premium leve.</a:t>
            </a:r>
            <a:br>
              <a:rPr sz="900" dirty="0"/>
            </a:br>
            <a:r>
              <a:rPr sz="900" dirty="0"/>
              <a:t>•</a:t>
            </a:r>
            <a:r>
              <a:rPr lang="pt-BR" sz="900" dirty="0"/>
              <a:t> Ampliar a identificação com a marca: usar o esporte como credencial complementar e construir presença para adultos que buscam leveza em sua vida social, sem depender de desempenho físico.</a:t>
            </a:r>
            <a:endParaRPr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lang="pt-BR" dirty="0"/>
              <a:t>2. PLANO TÁTICO DE GTM (EM 4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Onda 1 (Degustação): degustação guiada em bares, eventos gastronômicos, festivais e pontos de venda.</a:t>
            </a:r>
            <a:br>
              <a:rPr sz="900" dirty="0"/>
            </a:br>
            <a:r>
              <a:rPr lang="pt-BR" sz="900" dirty="0"/>
              <a:t>• Onda 2 (Disponibilidade e visibilidade nos canais de venda): ponta de gôndola, geladeiras e presença destacada em grandes redes, empórios, bares e restaurantes.</a:t>
            </a:r>
            <a:br>
              <a:rPr sz="900" dirty="0"/>
            </a:br>
            <a:r>
              <a:rPr lang="pt-BR" sz="900" dirty="0"/>
              <a:t>• Onda 3 (Ocasiões): Campanhas voltadas a almoços, happy hours, encontros casuais, churrascos, festivais, futebol e eventos de entretenimento.</a:t>
            </a:r>
            <a:br>
              <a:rPr sz="900" dirty="0"/>
            </a:br>
            <a:r>
              <a:rPr lang="pt-BR" sz="900" dirty="0"/>
              <a:t>• Onda 4 (Relacionamento): piloto de aquisição e recompra com conteúdo digital, QR code de degustação, cupom rastreável e CRM no Zé Delivery, em regiões e canais priorizados.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Pesquisa brasileira da FGV, com 581 respondentes, identificou baixo teor de carboidratos como o atributo mais relevante para a percepção de saudabilidade; orgânico e baixa caloria vieram em seguida.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 mesmo estudo, a afirmação de que um comercial com pessoas praticando exercícios torna uma cerveja mais saudável teve média de 2,95 em uma escala de 1 a 7.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Fonte: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lang="pt-BR" sz="900" dirty="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4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</a:t>
            </a:r>
            <a:r>
              <a:rPr lang="pt-BR" sz="900" dirty="0" err="1"/>
              <a:t>Millennials</a:t>
            </a:r>
            <a:r>
              <a:rPr lang="pt-BR" sz="900" dirty="0"/>
              <a:t> — 60%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Z — 20%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X — 20% do investimento: ponto de venda físico, empórios, supermercados, bares e comunicação sobre controle calórico, leveza, sabor e conveniência.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>
                <a:solidFill>
                  <a:srgbClr val="1B2A4A"/>
                </a:solidFill>
                <a:latin typeface="Calibri"/>
              </a:rPr>
              <a:t>Fontes usadas para avaliar a distribuição inicial de investimento a validar no piloto: </a:t>
            </a: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sz="900" u="sng" dirty="0">
                <a:solidFill>
                  <a:srgbClr val="0F4C81"/>
                </a:solidFill>
                <a:latin typeface="Aptos"/>
                <a:hlinkClick r:id="rId4"/>
              </a:rPr>
              <a:t>Michelob ULTRA Target Market: 2.2M People in United States (2026) — Age, Gender &amp; Regions- Rascasse Audience Intelligence</a:t>
            </a:r>
            <a:r>
              <a:rPr sz="900" dirty="0">
                <a:solidFill>
                  <a:srgbClr val="4D4D4D"/>
                </a:solidFill>
                <a:latin typeface="Aptos"/>
              </a:rPr>
              <a:t>; 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Zé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Delivery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oferece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até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40% off no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mês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da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cerveja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—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Adnews</a:t>
            </a:r>
            <a:r>
              <a:rPr sz="900" dirty="0">
                <a:solidFill>
                  <a:srgbClr val="4D4D4D"/>
                </a:solidFill>
                <a:latin typeface="Aptos"/>
              </a:rPr>
              <a:t>;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sz="900" dirty="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800" dirty="0">
              <a:solidFill>
                <a:srgbClr val="4D4D4D"/>
              </a:solidFill>
              <a:latin typeface="Aptos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A</a:t>
            </a:r>
            <a:r>
              <a:rPr lang="pt-BR" sz="900" dirty="0" err="1"/>
              <a:t>mpliar</a:t>
            </a:r>
            <a:r>
              <a:rPr lang="pt-BR" sz="900" dirty="0"/>
              <a:t> o reconhecimento da </a:t>
            </a:r>
            <a:r>
              <a:rPr lang="pt-BR" sz="900" dirty="0" err="1"/>
              <a:t>Michelob</a:t>
            </a:r>
            <a:r>
              <a:rPr lang="pt-BR" sz="900" dirty="0"/>
              <a:t> Ultra entre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Evolução do conhecimento e da associação da </a:t>
            </a:r>
            <a:r>
              <a:rPr lang="pt-BR" sz="900" dirty="0" err="1"/>
              <a:t>Michelob</a:t>
            </a:r>
            <a:r>
              <a:rPr lang="pt-BR" sz="9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Instrumentos: relatórios das mídias sociais e dos demais canais digitais utilizados; pesquisa breve antes e depois da campanha, divulgada digitalmente e por QR </a:t>
            </a:r>
            <a:r>
              <a:rPr lang="pt-BR" sz="900" dirty="0" err="1"/>
              <a:t>code</a:t>
            </a:r>
            <a:r>
              <a:rPr lang="pt-BR" sz="900" dirty="0"/>
              <a:t> em degustações, bares e eventos.</a:t>
            </a:r>
            <a:br>
              <a:rPr sz="1000" dirty="0"/>
            </a:b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Inserir a </a:t>
            </a:r>
            <a:r>
              <a:rPr lang="pt-BR" sz="900" dirty="0" err="1"/>
              <a:t>Michelob</a:t>
            </a:r>
            <a:r>
              <a:rPr lang="pt-BR" sz="900" dirty="0"/>
              <a:t> Ultra em almoços, </a:t>
            </a:r>
            <a:r>
              <a:rPr lang="pt-BR" sz="900" dirty="0" err="1"/>
              <a:t>happy</a:t>
            </a:r>
            <a:r>
              <a:rPr lang="pt-BR" sz="900" dirty="0"/>
              <a:t> hours, encontros casuais, churrascos, festivais e ocasiões ligadas ao futebol, atraindo adultos que buscam uma cerveja premium leve para socializar.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Métricas</a:t>
            </a:r>
            <a:r>
              <a:rPr sz="900" dirty="0"/>
              <a:t> Chave: </a:t>
            </a: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QR </a:t>
            </a:r>
            <a:r>
              <a:rPr lang="pt-BR" sz="900" dirty="0" err="1"/>
              <a:t>codes</a:t>
            </a:r>
            <a:r>
              <a:rPr lang="pt-BR" sz="9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5" y="3905448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Número de pontos de venda, bares, restaurantes e canais de entrega com </a:t>
            </a:r>
            <a:r>
              <a:rPr lang="pt-BR" sz="900" dirty="0" err="1"/>
              <a:t>Michelob</a:t>
            </a:r>
            <a:r>
              <a:rPr lang="pt-BR" sz="9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3" y="3900636"/>
            <a:ext cx="5329506" cy="2252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0F4C81"/>
          </a:solidFill>
          <a:ln w="1524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 piloto transforma métricas em decisão: medir antes, ativar, comparar e escalar o que gerar aquisição e recompra.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 (PÁGINA 87)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Long neck de 275 ml com 72 kcal e 4% ABV.</a:t>
            </a:r>
            <a:br/>
            <a:r>
              <a:rPr sz="1050" dirty="0"/>
              <a:t>• Atributos: Cerveja com álcool, menor teor calórico, puro malte, low carb e sem glúten.</a:t>
            </a:r>
            <a:br/>
            <a:br/>
            <a:r>
              <a:rPr sz="1050" dirty="0"/>
              <a:t>• Força Comercial: Marca do portfólio do Grupo Heineken; a versão Ultra reforça uma proposta de cerveja leve, puro malte, low carb e sem glúten.</a:t>
            </a:r>
            <a:br/>
            <a:br/>
            <a:r>
              <a:rPr sz="1050" dirty="0"/>
              <a:t>• Pressão sobre Michelob: Disputa familiaridade e valor percebido. Exige explicar por que a experiência Michelob merece preferência diante da porção de 275ml.</a:t>
            </a:r>
            <a:br/>
            <a:br/>
            <a:r>
              <a:rPr sz="1050" dirty="0"/>
              <a:t>• Fontes:</a:t>
            </a:r>
            <a:br/>
            <a:r>
              <a:rPr sz="1050" dirty="0"/>
              <a:t>  - Grupo Heineken Brasil: https://www.heinekenbrasil.com.br/nossas-marcas</a:t>
            </a:r>
            <a:br/>
            <a:r>
              <a:rPr sz="1050" dirty="0"/>
              <a:t>  - Heineken Express: https://express.heineken.com.br/collections/amstel-cervejas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Garrafa de 330 ml com 97 kcal, 3,5% ABV e sem glúten (redução de 30% calorias vs regular).</a:t>
            </a:r>
            <a:br/>
            <a:br/>
            <a:r>
              <a:rPr sz="1050" dirty="0"/>
              <a:t>• Proposta: Opção com menos calorias dentro de uma marca global já estabelecida (lançada no Brasil em maio/2026).</a:t>
            </a:r>
            <a:br/>
            <a:br/>
            <a:r>
              <a:rPr sz="1050" dirty="0"/>
              <a:t>• Pressão sobre Michelob: Retenção do consumidor habitual de Heineken que busca redução calórica.</a:t>
            </a:r>
            <a:br/>
            <a:br/>
            <a:r>
              <a:rPr sz="1050" dirty="0"/>
              <a:t>• Resposta Michelob: Focar em identidade própria de leveza, sabor superior e ativação de estilo de vida.</a:t>
            </a:r>
            <a:br/>
            <a:br/>
            <a:r>
              <a:rPr sz="1050" dirty="0"/>
              <a:t>• Fontes:</a:t>
            </a:r>
            <a:br/>
            <a:r>
              <a:rPr sz="1050" dirty="0"/>
              <a:t>  - Produto oficial: https://www.heinekenbrasil.com.br/heineken-ultimate</a:t>
            </a:r>
            <a:br/>
            <a:r>
              <a:rPr sz="1050" dirty="0"/>
              <a:t>  - Lançamento: https://valor.globo.com/conteudo-de-marca/heineken/noticia/2026/07/14/heinekenr-lanca-versao-com-menor-teor-alcoolico-e-caloria-primeiro-no-brasil.ghtml</a:t>
            </a:r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CC0D12-2D7F-FEC9-F715-C1F6C3247098}"/>
              </a:ext>
            </a:extLst>
          </p:cNvPr>
          <p:cNvSpPr txBox="1"/>
          <p:nvPr/>
        </p:nvSpPr>
        <p:spPr>
          <a:xfrm>
            <a:off x="1066648" y="1483629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 (PÁGINA 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Enfrentou a percepção de que bebidas de aveia seriam inferiores ao leite. A marca usou testes cegos de sabor para enfrentar a barreira de experimentação.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  1. Assumir a leveza como atributo de marca (sem tentar imitar cerveja encorpada).</a:t>
            </a:r>
            <a:br/>
            <a:r>
              <a:rPr sz="900" dirty="0"/>
              <a:t>  2. Construir desejo antes da comparação técnica via conteúdo nativo.</a:t>
            </a:r>
            <a:br/>
            <a:r>
              <a:rPr sz="900" dirty="0"/>
              <a:t>  3. Converter dúvida em prova de produto através de degustação gelada guiada.</a:t>
            </a:r>
            <a:br/>
            <a:br/>
            <a:r>
              <a:rPr sz="900" dirty="0"/>
              <a:t>• Fontes:</a:t>
            </a:r>
            <a:br/>
            <a:r>
              <a:rPr sz="900" dirty="0"/>
              <a:t>  - Teste cego Oatly: https://www.oatly.com/sustainability/influence-food-system-change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Ampliou a base na Grã-Bretanha sem mudar o produto. Atuou fortemente com bares do on-trade, recrutou novos públicos (mulheres e jovens) e expandiu o calendário de consumo.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  1. Recrutar públicos subatendidos preservando a identidade de marca.</a:t>
            </a:r>
            <a:br/>
            <a:r>
              <a:rPr sz="900" dirty="0"/>
              <a:t>  2. Trabalhar simultaneamente comunicação e presença/visibilidade no trade.</a:t>
            </a:r>
            <a:br/>
            <a:r>
              <a:rPr sz="900" dirty="0"/>
              <a:t>  3. Expandir o calendário de consumo para novas ocasiões diurnas e sociais.</a:t>
            </a:r>
            <a:br/>
            <a:br/>
            <a:r>
              <a:rPr sz="900" dirty="0"/>
              <a:t>• Fonte: Diageo — https://www.diageo.com/en/news-and-media/stories/2023/world-class-brand-building-the-year-guinness-became-great-britain-s-favourite-pint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 linha Surge, com 8% ABV, mostra como a marca atende a necessidades distintas em diferentes momentos de consumo.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1. Organizar a comunicação da Michelob Ultra por ocasiões de consumo, como almoço, happy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/>
            <a:br/>
            <a:r>
              <a:rPr lang="pt-BR" sz="900" dirty="0"/>
              <a:t>• Fonte: White Claw Support — https://ussupport.whiteclaw.com/en/support/solutions/articles/36000314438-how-much-alcohol-is-in-white-claw-hard-seltzer-surge-</a:t>
            </a:r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7BB30A-87E0-DFA0-EE66-C5ACF8AD24D0}"/>
              </a:ext>
            </a:extLst>
          </p:cNvPr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 (PÁGINA 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251" y="1463039"/>
            <a:ext cx="2072579" cy="1942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251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2982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lang="pt-BR" sz="1000" b="1" dirty="0">
                <a:solidFill>
                  <a:srgbClr val="0F4C81"/>
                </a:solidFill>
                <a:latin typeface="Georgia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VALOR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Levar a </a:t>
            </a:r>
            <a:r>
              <a:rPr lang="pt-BR" dirty="0" err="1"/>
              <a:t>Michelob</a:t>
            </a:r>
            <a:r>
              <a:rPr lang="pt-BR" dirty="0"/>
              <a:t> Ultra a novas situações de convivência ao oferecer uma cerveja premium leve e refrescante, com baixas calorias e baixo teor de carboidratos.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Uma escolha para adultos que valorizam leveza e atributos nutricionais, sem abrir mão do sabor, em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festivais, futebol e outras ocasiões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713" y="1463040"/>
            <a:ext cx="2072579" cy="19421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168713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444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60%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20%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4D4D4D"/>
                </a:solidFill>
                <a:latin typeface="Aptos"/>
              </a:rPr>
              <a:t>Hipótese de investimento inicial; lógica, limites e fontes de priorização apresentadas no slide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57520"/>
            <a:ext cx="5291175" cy="10705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5847" y="5532120"/>
            <a:ext cx="5291175" cy="10959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sz="1000" b="1" dirty="0">
                <a:solidFill>
                  <a:srgbClr val="0F4C81"/>
                </a:solidFill>
                <a:latin typeface="Georgia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D9822B"/>
                </a:solidFill>
                <a:latin typeface="Aptos"/>
              </a:rPr>
              <a:t>ANEXO — USO DE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0F4C81"/>
                </a:solidFill>
                <a:latin typeface="Georgia"/>
              </a:rPr>
              <a:t>Registro de ferramentas, instruções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3200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00" b="0" i="1" dirty="0" err="1">
                <a:solidFill>
                  <a:srgbClr val="4D4D4D"/>
                </a:solidFill>
                <a:latin typeface="Aptos"/>
              </a:rPr>
              <a:t>Preencher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exclusivamente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com ferramentas,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instruções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resultados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utilizados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de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fato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pelo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grupo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Não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inserir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conteúdo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presumido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66928" y="1536192"/>
          <a:ext cx="1069848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83080"/>
                <a:gridCol w="2560320"/>
                <a:gridCol w="2697480"/>
                <a:gridCol w="2011680"/>
              </a:tblGrid>
              <a:tr h="384048">
                <a:tc>
                  <a:txBody>
                    <a:bodyPr wrap="square" lIns="50292" rIns="50292" tIns="32004" bIns="32004" anchor="ctr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Etapa do trabalho</a:t>
                      </a:r>
                    </a:p>
                  </a:txBody>
                  <a:tcPr>
                    <a:solidFill>
                      <a:srgbClr val="0F4C81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Ferramenta utilizada</a:t>
                      </a:r>
                    </a:p>
                  </a:txBody>
                  <a:tcPr>
                    <a:solidFill>
                      <a:srgbClr val="0F4C81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Prompt-chave ou instrução</a:t>
                      </a:r>
                    </a:p>
                  </a:txBody>
                  <a:tcPr>
                    <a:solidFill>
                      <a:srgbClr val="0F4C81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Como o resultado foi usado</a:t>
                      </a:r>
                    </a:p>
                  </a:txBody>
                  <a:tcPr>
                    <a:solidFill>
                      <a:srgbClr val="0F4C81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Aprendizado ou limite identificado</a:t>
                      </a:r>
                    </a:p>
                  </a:txBody>
                  <a:tcPr>
                    <a:solidFill>
                      <a:srgbClr val="0F4C81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Pesquisa e leitura de fontes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Gemini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1. Quais são os concorrentes da Michelob Ultra no mercado brasileiro de cervejas com álcool e menor teor calórico? Como essas marcas disputam o consumidor que aprecia cerveja e valoriza uma rotina ativa?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Organização de transcrições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Análise do problema e da solução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Redação e revisão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Apoio à apresentação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  <a:tc>
                  <a:txBody>
                    <a:bodyPr wrap="square" lIns="50292" rIns="50292" tIns="32004" bIns="32004" anchor="ctr"/>
                    <a:lstStyle/>
                    <a:p>
                      <a:pPr algn="l"/>
                      <a:r>
                        <a:rPr sz="800" b="0" i="1">
                          <a:solidFill>
                            <a:srgbClr val="4D4D4D"/>
                          </a:solidFill>
                          <a:latin typeface="Aptos"/>
                        </a:rPr>
                        <a:t>[preencher]</a:t>
                      </a:r>
                    </a:p>
                  </a:txBody>
                  <a:tcPr>
                    <a:solidFill>
                      <a:srgbClr val="FFFFFF"/>
                    </a:solidFill>
                    <a:lnL w="9525" cmpd="sng" cap="flat" algn="ctr">
                      <a:solidFill>
                        <a:srgbClr val="DCD6CD"/>
                      </a:solidFill>
                      <a:prstDash val="solid"/>
                    </a:lnL>
                    <a:lnR w="9525" cmpd="sng" cap="flat" algn="ctr">
                      <a:solidFill>
                        <a:srgbClr val="DCD6CD"/>
                      </a:solidFill>
                      <a:prstDash val="solid"/>
                    </a:lnR>
                    <a:lnT w="9525" cmpd="sng" cap="flat" algn="ctr">
                      <a:solidFill>
                        <a:srgbClr val="DCD6CD"/>
                      </a:solidFill>
                      <a:prstDash val="solid"/>
                    </a:lnT>
                    <a:lnB w="9525" cmpd="sng" cap="flat" algn="ctr">
                      <a:solidFill>
                        <a:srgbClr val="DCD6C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5122</Words>
  <Application>Microsoft Office PowerPoint</Application>
  <PresentationFormat>Widescreen</PresentationFormat>
  <Paragraphs>294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4</cp:revision>
  <dcterms:created xsi:type="dcterms:W3CDTF">2013-01-27T09:14:16Z</dcterms:created>
  <dcterms:modified xsi:type="dcterms:W3CDTF">2026-09-21T19:19:23Z</dcterms:modified>
  <cp:category/>
</cp:coreProperties>
</file>