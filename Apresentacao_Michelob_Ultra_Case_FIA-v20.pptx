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E3126-89B3-49CE-8D1F-596B848B23D9}" v="1" dt="2026-09-24T01:27:21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39" autoAdjust="0"/>
    <p:restoredTop sz="74697" autoAdjust="0"/>
  </p:normalViewPr>
  <p:slideViewPr>
    <p:cSldViewPr snapToGrid="0" snapToObjects="1" showGuides="1">
      <p:cViewPr varScale="1">
        <p:scale>
          <a:sx n="82" d="100"/>
          <a:sy n="82" d="100"/>
        </p:scale>
        <p:origin x="2832" y="96"/>
      </p:cViewPr>
      <p:guideLst>
        <p:guide orient="horz" pos="214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Moreira" userId="a074d5cff11e4feb" providerId="LiveId" clId="{A3AE0FC4-E642-4DAF-99C2-2E02E3CB77AA}"/>
    <pc:docChg chg="modSld">
      <pc:chgData name="André Moreira" userId="a074d5cff11e4feb" providerId="LiveId" clId="{A3AE0FC4-E642-4DAF-99C2-2E02E3CB77AA}" dt="2026-09-24T01:28:56.134" v="12" actId="115"/>
      <pc:docMkLst>
        <pc:docMk/>
      </pc:docMkLst>
      <pc:sldChg chg="modNotesTx">
        <pc:chgData name="André Moreira" userId="a074d5cff11e4feb" providerId="LiveId" clId="{A3AE0FC4-E642-4DAF-99C2-2E02E3CB77AA}" dt="2026-09-24T01:27:44.391" v="8" actId="6549"/>
        <pc:sldMkLst>
          <pc:docMk/>
          <pc:sldMk cId="0" sldId="263"/>
        </pc:sldMkLst>
      </pc:sldChg>
      <pc:sldChg chg="modNotesTx">
        <pc:chgData name="André Moreira" userId="a074d5cff11e4feb" providerId="LiveId" clId="{A3AE0FC4-E642-4DAF-99C2-2E02E3CB77AA}" dt="2026-09-24T01:28:56.134" v="12" actId="115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CD5F-022D-4992-89DF-5D29DCC293B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936FB-1BDE-4FB2-B255-FD9883BE121A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0min30s.</a:t>
            </a:r>
          </a:p>
          <a:p>
            <a:endParaRPr/>
          </a:p>
          <a:p>
            <a:r>
              <a:t>Boa noite. Nosso case propõe ampliar a base de consumidores da Michelob Ultra por meio de novas ocasiões de consumo e do lançamento complementar da Michelob Ultra Moments.</a:t>
            </a:r>
          </a:p>
          <a:p>
            <a:endParaRPr/>
          </a:p>
          <a:p>
            <a:r>
              <a:t>A pergunta que orienta o trabalho é: como levar os atributos de leveza e sabor da marca a mais adultos e mais momentos de socialização, sem perder a identidade que ela já construiu?</a:t>
            </a:r>
          </a:p>
          <a:p>
            <a:endParaRPr/>
          </a:p>
          <a:p>
            <a:r>
              <a:t>Para responder a essa pergunta, começamos pela marca e pelo desafio de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1min30s.</a:t>
            </a:r>
          </a:p>
          <a:p>
            <a:endParaRPr/>
          </a:p>
          <a:p>
            <a:r>
              <a:t>Partindo da marca, a Michelob Ultra já ocupa um território claro: uma cerveja premium associada à leveza, ao baixo teor de carboidratos, ao esporte e a uma rotina ativa.</a:t>
            </a:r>
          </a:p>
          <a:p>
            <a:endParaRPr/>
          </a:p>
          <a:p>
            <a:r>
              <a:t>Essa identidade é uma credencial importante e não deve ser abandonada. O desafio é fazer com que ela também seja relevante para adultos que valorizam escolhas mais leves, mas não se definem necessariamente pela prática esportiva.</a:t>
            </a:r>
          </a:p>
          <a:p>
            <a:endParaRPr/>
          </a:p>
          <a:p>
            <a:r>
              <a:t>Por isso, o projeto não propõe trocar a identidade da marca. Ele propõe ampliar seus pontos de contato: almoços, happy hours, encontros casuais, churrascos, festivais e futebol passam a ser situações em que a Michelob Ultra pode ter uma presença mais explícita.</a:t>
            </a:r>
          </a:p>
          <a:p>
            <a:endParaRPr/>
          </a:p>
          <a:p>
            <a:r>
              <a:t>Para verificar se essa oportunidade é consistente, olhamos primeiro para o comportamento do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1min25s.</a:t>
            </a:r>
          </a:p>
          <a:p>
            <a:endParaRPr/>
          </a:p>
          <a:p>
            <a:r>
              <a:t>O contexto mostra que a busca por equilíbrio vem se tornando mais presente na rotina de consumo. A NielsenIQ informa que 86% dos consumidores brasileiros já incorporaram ao menos um hábito mais saudável. Em paralelo, cervejas de baixa caloria cresceram 40% em volume no país e as ocasiões de consumo fora de casa avançaram 20%.</a:t>
            </a:r>
          </a:p>
          <a:p>
            <a:endParaRPr/>
          </a:p>
          <a:p>
            <a:r>
              <a:t>Esses dados não significam que bebida alcoólica seja saudável. Eles mostram que controle calórico, moderação e socialização passaram a coexistir na decisão de consumo.</a:t>
            </a:r>
          </a:p>
          <a:p>
            <a:endParaRPr/>
          </a:p>
          <a:p>
            <a:r>
              <a:t>Para a Michelob Ultra, a oportunidade é levar atributos que a marca já possui a situações sociais em que o consumidor quer uma escolha leve, sem abrir mão de sabor e convivência.</a:t>
            </a:r>
          </a:p>
          <a:p>
            <a:endParaRPr/>
          </a:p>
          <a:p>
            <a:r>
              <a:t>Esse cenário revela a oportunidade. O passo seguinte é delimitar o problema que impede a marca de capturá-la integralmente.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1min35s.</a:t>
            </a:r>
          </a:p>
          <a:p>
            <a:endParaRPr/>
          </a:p>
          <a:p>
            <a:r>
              <a:t>Diante desse contexto, observamos uma mudança comportamental mais ampla: a busca por moderação começa a influenciar também a escolha da bebida alcoólica. A Dataintelo informa que mais de 62% dos adultos compradores de álcool, nos mercados desenvolvidos analisados, buscam opções com menos calorias ou menor teor alcoólico. O relatório também estima que o mercado global de bebidas alcoólicas de baixa caloria passe de 27,4 bilhões de dólares em 2025 para 52,8 bilhões em 2034. Esses dados são globais e servem como sinal de tendência, não como estimativa do mercado brasileiro.</a:t>
            </a:r>
          </a:p>
          <a:p>
            <a:endParaRPr/>
          </a:p>
          <a:p>
            <a:r>
              <a:t>O dilema é conciliar essa busca por leveza com a experiência social e o sabor esperado de uma cerveja. Opções sem álcool podem enfrentar barreiras de sabor e de ocasião; por isso, há espaço para alternativas com álcool e menor teor calórico.</a:t>
            </a:r>
          </a:p>
          <a:p>
            <a:endParaRPr/>
          </a:p>
          <a:p>
            <a:r>
              <a:t>A tese do case é ampliar a identificação com a Michelob Ultra para além dos códigos esportivos. O esporte permanece como credencial da marca, enquanto almoços, happy hours, festivais e futebol se tornam pontos de contato adicionais.</a:t>
            </a:r>
          </a:p>
          <a:p>
            <a:endParaRPr/>
          </a:p>
          <a:p>
            <a:r>
              <a:t>Agora detalharemos os obstáculos práticos para realizar essa expansão.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1min25s.</a:t>
            </a:r>
          </a:p>
          <a:p>
            <a:endParaRPr/>
          </a:p>
          <a:p>
            <a:r>
              <a:t>Esse diagnóstico se traduz em cinco limitadores. O primeiro não é que o esporte afaste consumidores; é que a comunicação predominantemente esportiva ainda não explicita a relevância da marca em outras situações de convivência.</a:t>
            </a:r>
          </a:p>
          <a:p>
            <a:endParaRPr/>
          </a:p>
          <a:p>
            <a:r>
              <a:t>O segundo é o conhecimento limitado do posicionamento Ultra Light Premium. Parte do público pode não entender o diferencial da Michelob Ultra ou confundi-la com uma cerveja tradicional.</a:t>
            </a:r>
          </a:p>
          <a:p>
            <a:endParaRPr/>
          </a:p>
          <a:p>
            <a:r>
              <a:t>O terceiro é o estigma sensorial: a memória de cervejas light percebidas como aguadas torna a prova de sabor indispensável. Há também desafios de disponibilidade em bares e cardápios e limites regulatórios para a comunicação de bebidas alcoólicas.</a:t>
            </a:r>
          </a:p>
          <a:p>
            <a:endParaRPr/>
          </a:p>
          <a:p>
            <a:r>
              <a:t>Com isso, a solução precisa combinar produto, prova de sabor, distribuição e comunicação. É essa combinação que apresentamos 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previsto: 1min30s.</a:t>
            </a:r>
          </a:p>
          <a:p>
            <a:endParaRPr/>
          </a:p>
          <a:p>
            <a:r>
              <a:t>Como resposta aos limitadores, a estratégia central reúne quatro movimentos.</a:t>
            </a:r>
          </a:p>
          <a:p>
            <a:endParaRPr/>
          </a:p>
          <a:p>
            <a:r>
              <a:t>Primeiro, apresentar a Michelob Ultra Moments como uma nova linha complementar: uma cerveja com 2% de teor alcoólico e teor calórico reduzido, voltada a momentos de socialização e consumo mais moderado. Ela não substitui a Michelob Ultra atual; amplia o portfólio e as opções de escolha.</a:t>
            </a:r>
          </a:p>
          <a:p>
            <a:endParaRPr/>
          </a:p>
          <a:p>
            <a:r>
              <a:t>Segundo, provar sabor e leveza. A experimentação e a degustação respondem diretamente ao risco de o consumidor presumir que menor teor alcoólico ou calórico significa menor experiência de sabor.</a:t>
            </a:r>
          </a:p>
          <a:p>
            <a:endParaRPr/>
          </a:p>
          <a:p>
            <a:r>
              <a:t>Terceiro, criar novas ocasiões de consumo. Quarto, ampliar o território da marca: esporte e vida ativa continuam presentes, mas a comunicação passa a conversar também com adultos que valorizam equilíbrio sem depender do universo esportivo.</a:t>
            </a:r>
          </a:p>
          <a:p>
            <a:endParaRPr/>
          </a:p>
          <a:p>
            <a:r>
              <a:t>A estratégia define o que fazer. No próximo slide, mostramos como ela será executada em fases e para quais públicos.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6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previsto: 2min20s.</a:t>
            </a:r>
          </a:p>
          <a:p>
            <a:endParaRPr/>
          </a:p>
          <a:p>
            <a:r>
              <a:t>Com o direcionamento estratégico definido, o plano tático organiza a execução em cinco ondas.</a:t>
            </a:r>
          </a:p>
          <a:p>
            <a:endParaRPr/>
          </a:p>
          <a:p>
            <a:r>
              <a:t>A primeira é lançamento e conhecimento de marca: apresentamos Michelob Ultra Moments e seus atributos de 2% de álcool, menor teor calórico e sabor por campanha digital, criadores de conteúdo e mídia de alcance.</a:t>
            </a:r>
          </a:p>
          <a:p>
            <a:endParaRPr/>
          </a:p>
          <a:p>
            <a:r>
              <a:t>A segunda é degustação, porque a prova de produto é necessária para vencer a barreira sensorial. A terceira garante disponibilidade e visibilidade em pontos de venda, bares, restaurantes e canais de entrega. A quarta associa a marca a ocasiões concretas, como almoço, happy hour, churrasco, festivais e futebol. A quinta usa QR code, cupom e CRM no Zé Delivery para acompanhar aquisição e recompra.</a:t>
            </a:r>
          </a:p>
          <a:p>
            <a:endParaRPr/>
          </a:p>
          <a:p>
            <a:r>
              <a:t>A pesquisa da FGV orienta a comunicação: baixo teor de carboidratos, orgânico e baixa caloria contribuem para a percepção de saudabilidade, enquanto o termo light pode gerar desconfiança. Por isso, a mensagem deve usar atributos concretos e ser acompanhada de prova de sabor.</a:t>
            </a:r>
          </a:p>
          <a:p>
            <a:endParaRPr/>
          </a:p>
          <a:p>
            <a:r>
              <a:t>A matriz de 50%, 30% e 20% é uma hipótese inicial de investimento. As fontes no slide ajudam a orientar essa priorização, que será validada no piloto.</a:t>
            </a:r>
          </a:p>
          <a:p>
            <a:endParaRPr/>
          </a:p>
          <a:p>
            <a:r>
              <a:t>Executar não basta: precisamos definir como o resultado será medido. Esse é o papel do próximo slide.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2min10s.</a:t>
            </a:r>
          </a:p>
          <a:p>
            <a:endParaRPr/>
          </a:p>
          <a:p>
            <a:r>
              <a:t>Depois de definir as ações, estabelecemos os resultados pretendidos e os indicadores que permitirão decidir se o piloto deve ser mantido, ajustado ou ampliado.</a:t>
            </a:r>
          </a:p>
          <a:p>
            <a:endParaRPr/>
          </a:p>
          <a:p>
            <a:r>
              <a:t>O primeiro resultado é aumentar o conhecimento da Michelob Ultra e lançar Michelob Ultra Moments entre adultos que valorizam leveza e socialização. Mediremos alcance, frequência, engajamento e mudança de associação da marca com sabor e ocasiões além do esporte.</a:t>
            </a:r>
          </a:p>
          <a:p>
            <a:endParaRPr/>
          </a:p>
          <a:p>
            <a:r>
              <a:t>O segundo é conquistar novos consumidores e ocasiões. QR codes, cupons e dados de plataformas ajudam a conectar a degustação à primeira compra e a acompanhar frequência de consumo.</a:t>
            </a:r>
          </a:p>
          <a:p>
            <a:endParaRPr/>
          </a:p>
          <a:p>
            <a:r>
              <a:t>O terceiro é ampliar disponibilidade. Comunicação só gera resultado se o produto estiver presente e visível na geladeira, na gôndola, no cardápio ou na entrega.</a:t>
            </a:r>
          </a:p>
          <a:p>
            <a:endParaRPr/>
          </a:p>
          <a:p>
            <a:r>
              <a:t>Por fim, buscamos crescimento sustentável: vendas incrementais, recompra e reposição. O ciclo é medir antes, ativar por região e canal, comparar os indicadores e escalar o que gerar aquisição e recompra.</a:t>
            </a:r>
          </a:p>
          <a:p>
            <a:endParaRPr/>
          </a:p>
          <a:p>
            <a:r>
              <a:t>Com os critérios de sucesso definidos, podemos avaliar o ambiente competitivo que disputará essa mesma preferência.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1min30s.</a:t>
            </a:r>
          </a:p>
          <a:p>
            <a:endParaRPr/>
          </a:p>
          <a:p>
            <a:r>
              <a:t>Antes de defender o diferencial da Michelob Ultra Moments, precisamos entender quem disputa a preferência desse consumidor.</a:t>
            </a:r>
          </a:p>
          <a:p>
            <a:endParaRPr/>
          </a:p>
          <a:p>
            <a:r>
              <a:t>A Amstel Ultra oferece atributos próximos, como menor teor calórico, puro malte, baixo carboidrato e ausência de glúten. Sua força está na familiaridade da marca e na presença dentro do portfólio Heineken.</a:t>
            </a:r>
          </a:p>
          <a:p>
            <a:endParaRPr/>
          </a:p>
          <a:p>
            <a:r>
              <a:t>A Heineken Ultimate é outra pressão competitiva: entrega menor teor alcoólico, menos calorias e o reconhecimento de uma marca global já estabelecida.</a:t>
            </a:r>
          </a:p>
          <a:p>
            <a:endParaRPr/>
          </a:p>
          <a:p>
            <a:r>
              <a:t>A resposta da Michelob não é apenas comparar calorias ou teor alcoólico. É construir uma proposta de marca própria, apoiada em sabor, leveza, novas ocasiões e uma linha complementar de 2% de álcool.</a:t>
            </a:r>
          </a:p>
          <a:p>
            <a:endParaRPr/>
          </a:p>
          <a:p>
            <a:r>
              <a:t>Para aprender como outras marcas enfrentaram desafios semelhantes de percepção, expansão de base e ocasiões, selecionamos três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 previsto: 3min00s.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este case, trazemos três benchmarks. Cada um oferece um aprendizado aplicável ao nosso problema.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Oatly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produz bebidas de aveia como alternativa ao leite, especialmente no café. O desafio da marca era o sabor do produto: consumidores habituados ao leite poderiam esperar uma experiência inferior. Diante de uma proposta de produto ainda pouco conhecida e que poderia gerar rejeição, a marca fez da experiência e da degustação suas principais aliadas. Em testes cegos realizados em diferentes países, mais de 50% dos consumidores preferiram o sabor do produto da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Oatly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ao leite de vaca.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Michelob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Ultra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Moments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menor teor alcoólico ou calórico não basta: é preciso levar o consumidor à degustação e comprovar o sabor.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Guinness ampliou a base sem perder a identidade. Na Grã-Bretanha, combinou presença em bares, comunicação inclusiva para mulheres e consumidores mais jovens, ativações culturais e esportivas, novas ocasiões além do inverno e do Dia de São Patrício, e a Guinness 0.0 para momentos de moderação. A marca adicionou 1 milhão de consumidores em um ano.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Michelob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Ultra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Moments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 aprendizado é alinhar produto, disponibilidade nos canais e ocasiões de consumo a mensagens variadas para os diferentes segmentos de público, preservando a credencial de leveza da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Michelob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Ultra.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White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Claw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partiu de um comportamento entre amigos: 78% dos adultos da geração Z e dos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millennials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consideram provocações bem-humoradas divertidas e amigáveis. Transformou esse comportamento em uma experiência de fim de ano, com itens para receber amigos e vídeos personalizados. A ação gerou 30.264 vídeos, mais de 3 bilhões de impressões espontâneas e os maiores ganhos de consideração e vendas da marca em três anos.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consumidor da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Michelob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Ultra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Moments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precisa se reconhecer na forma como o encontro acontece. A marca deve transformar as dinâmicas reais de almoços,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happy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hours, churrascos e festivais em experiências e conteúdos relevantes ao fazer ativações.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Esses aprendizados se tornam operacionais quando são traduzidos no modelo de negócio que fecha o case.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Tempo </a:t>
            </a:r>
            <a:r>
              <a:rPr dirty="0" err="1"/>
              <a:t>previsto</a:t>
            </a:r>
            <a:r>
              <a:rPr dirty="0"/>
              <a:t>: 2min30s.</a:t>
            </a:r>
          </a:p>
          <a:p>
            <a:endParaRPr dirty="0"/>
          </a:p>
          <a:p>
            <a:r>
              <a:rPr dirty="0"/>
              <a:t>O Canvas </a:t>
            </a:r>
            <a:r>
              <a:rPr dirty="0" err="1"/>
              <a:t>consolida</a:t>
            </a:r>
            <a:r>
              <a:rPr dirty="0"/>
              <a:t> a </a:t>
            </a:r>
            <a:r>
              <a:rPr dirty="0" err="1"/>
              <a:t>recomendação</a:t>
            </a:r>
            <a:r>
              <a:rPr dirty="0"/>
              <a:t>. Nos </a:t>
            </a:r>
            <a:r>
              <a:rPr dirty="0" err="1"/>
              <a:t>parceiros-chave</a:t>
            </a:r>
            <a:r>
              <a:rPr dirty="0"/>
              <a:t>, </a:t>
            </a:r>
            <a:r>
              <a:rPr dirty="0" err="1"/>
              <a:t>combinamos</a:t>
            </a:r>
            <a:r>
              <a:rPr dirty="0"/>
              <a:t> </a:t>
            </a:r>
            <a:r>
              <a:rPr dirty="0" err="1"/>
              <a:t>supermercados</a:t>
            </a:r>
            <a:r>
              <a:rPr dirty="0"/>
              <a:t>, </a:t>
            </a:r>
            <a:r>
              <a:rPr dirty="0" err="1"/>
              <a:t>atacarejos</a:t>
            </a:r>
            <a:r>
              <a:rPr dirty="0"/>
              <a:t>, bares, </a:t>
            </a:r>
            <a:r>
              <a:rPr dirty="0" err="1"/>
              <a:t>restaurantes</a:t>
            </a:r>
            <a:r>
              <a:rPr dirty="0"/>
              <a:t>, </a:t>
            </a:r>
            <a:r>
              <a:rPr dirty="0" err="1"/>
              <a:t>eventos</a:t>
            </a:r>
            <a:r>
              <a:rPr dirty="0"/>
              <a:t>, </a:t>
            </a:r>
            <a:r>
              <a:rPr dirty="0" err="1"/>
              <a:t>plataformas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Zé</a:t>
            </a:r>
            <a:r>
              <a:rPr dirty="0"/>
              <a:t> Delivery e </a:t>
            </a:r>
            <a:r>
              <a:rPr dirty="0" err="1"/>
              <a:t>iFood</a:t>
            </a:r>
            <a:r>
              <a:rPr dirty="0"/>
              <a:t> e </a:t>
            </a:r>
            <a:r>
              <a:rPr dirty="0" err="1"/>
              <a:t>criadores</a:t>
            </a:r>
            <a:r>
              <a:rPr dirty="0"/>
              <a:t> de </a:t>
            </a:r>
            <a:r>
              <a:rPr dirty="0" err="1"/>
              <a:t>conteúdo</a:t>
            </a:r>
            <a:r>
              <a:rPr dirty="0"/>
              <a:t>. Eles </a:t>
            </a:r>
            <a:r>
              <a:rPr dirty="0" err="1"/>
              <a:t>permitem</a:t>
            </a:r>
            <a:r>
              <a:rPr dirty="0"/>
              <a:t> </a:t>
            </a:r>
            <a:r>
              <a:rPr dirty="0" err="1"/>
              <a:t>conectar</a:t>
            </a:r>
            <a:r>
              <a:rPr dirty="0"/>
              <a:t> </a:t>
            </a:r>
            <a:r>
              <a:rPr dirty="0" err="1"/>
              <a:t>descoberta</a:t>
            </a:r>
            <a:r>
              <a:rPr dirty="0"/>
              <a:t>, </a:t>
            </a:r>
            <a:r>
              <a:rPr dirty="0" err="1"/>
              <a:t>experimentação</a:t>
            </a:r>
            <a:r>
              <a:rPr dirty="0"/>
              <a:t> e </a:t>
            </a:r>
            <a:r>
              <a:rPr dirty="0" err="1"/>
              <a:t>recompra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As </a:t>
            </a:r>
            <a:r>
              <a:rPr dirty="0" err="1"/>
              <a:t>atividades-chave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degustação</a:t>
            </a:r>
            <a:r>
              <a:rPr dirty="0"/>
              <a:t>, </a:t>
            </a:r>
            <a:r>
              <a:rPr dirty="0" err="1"/>
              <a:t>comunicação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ocasiões</a:t>
            </a:r>
            <a:r>
              <a:rPr dirty="0"/>
              <a:t> e </a:t>
            </a:r>
            <a:r>
              <a:rPr dirty="0" err="1"/>
              <a:t>presença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canais</a:t>
            </a:r>
            <a:r>
              <a:rPr dirty="0"/>
              <a:t> de </a:t>
            </a:r>
            <a:r>
              <a:rPr dirty="0" err="1"/>
              <a:t>venda</a:t>
            </a:r>
            <a:r>
              <a:rPr dirty="0"/>
              <a:t>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unem</a:t>
            </a:r>
            <a:r>
              <a:rPr dirty="0"/>
              <a:t> a </a:t>
            </a:r>
            <a:r>
              <a:rPr dirty="0" err="1"/>
              <a:t>capacidade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existente</a:t>
            </a:r>
            <a:r>
              <a:rPr dirty="0"/>
              <a:t> da </a:t>
            </a:r>
            <a:r>
              <a:rPr dirty="0" err="1"/>
              <a:t>marca</a:t>
            </a:r>
            <a:r>
              <a:rPr dirty="0"/>
              <a:t>, dados de </a:t>
            </a:r>
            <a:r>
              <a:rPr dirty="0" err="1"/>
              <a:t>plataformas</a:t>
            </a:r>
            <a:r>
              <a:rPr dirty="0"/>
              <a:t>, </a:t>
            </a:r>
            <a:r>
              <a:rPr dirty="0" err="1"/>
              <a:t>logística</a:t>
            </a:r>
            <a:r>
              <a:rPr dirty="0"/>
              <a:t>, equipe </a:t>
            </a:r>
            <a:r>
              <a:rPr dirty="0" err="1"/>
              <a:t>comercial</a:t>
            </a:r>
            <a:r>
              <a:rPr dirty="0"/>
              <a:t> e </a:t>
            </a:r>
            <a:r>
              <a:rPr dirty="0" err="1"/>
              <a:t>relacionamento</a:t>
            </a:r>
            <a:r>
              <a:rPr dirty="0"/>
              <a:t> digital.</a:t>
            </a:r>
          </a:p>
          <a:p>
            <a:endParaRPr dirty="0"/>
          </a:p>
          <a:p>
            <a:r>
              <a:rPr dirty="0"/>
              <a:t>A </a:t>
            </a:r>
            <a:r>
              <a:rPr dirty="0" err="1"/>
              <a:t>proposta</a:t>
            </a:r>
            <a:r>
              <a:rPr dirty="0"/>
              <a:t> de valor </a:t>
            </a:r>
            <a:r>
              <a:rPr dirty="0" err="1"/>
              <a:t>preserva</a:t>
            </a:r>
            <a:r>
              <a:rPr dirty="0"/>
              <a:t> a Michelob Ultra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cerveja</a:t>
            </a:r>
            <a:r>
              <a:rPr dirty="0"/>
              <a:t> premium </a:t>
            </a:r>
            <a:r>
              <a:rPr dirty="0" err="1"/>
              <a:t>leve</a:t>
            </a:r>
            <a:r>
              <a:rPr dirty="0"/>
              <a:t>, com </a:t>
            </a:r>
            <a:r>
              <a:rPr dirty="0" err="1"/>
              <a:t>baixas</a:t>
            </a:r>
            <a:r>
              <a:rPr dirty="0"/>
              <a:t> </a:t>
            </a:r>
            <a:r>
              <a:rPr dirty="0" err="1"/>
              <a:t>calorias</a:t>
            </a:r>
            <a:r>
              <a:rPr dirty="0"/>
              <a:t> e </a:t>
            </a:r>
            <a:r>
              <a:rPr dirty="0" err="1"/>
              <a:t>baixo</a:t>
            </a:r>
            <a:r>
              <a:rPr dirty="0"/>
              <a:t> </a:t>
            </a:r>
            <a:r>
              <a:rPr dirty="0" err="1"/>
              <a:t>teor</a:t>
            </a:r>
            <a:r>
              <a:rPr dirty="0"/>
              <a:t> de </a:t>
            </a:r>
            <a:r>
              <a:rPr dirty="0" err="1"/>
              <a:t>carboidratos</a:t>
            </a:r>
            <a:r>
              <a:rPr dirty="0"/>
              <a:t>, e </a:t>
            </a:r>
            <a:r>
              <a:rPr dirty="0" err="1"/>
              <a:t>incorpora</a:t>
            </a:r>
            <a:r>
              <a:rPr dirty="0"/>
              <a:t> Michelob Ultra Moments com 2% de </a:t>
            </a:r>
            <a:r>
              <a:rPr dirty="0" err="1"/>
              <a:t>álcool</a:t>
            </a:r>
            <a:r>
              <a:rPr dirty="0"/>
              <a:t>. Assim, o </a:t>
            </a:r>
            <a:r>
              <a:rPr dirty="0" err="1"/>
              <a:t>portfólio</a:t>
            </a:r>
            <a:r>
              <a:rPr dirty="0"/>
              <a:t> </a:t>
            </a:r>
            <a:r>
              <a:rPr dirty="0" err="1"/>
              <a:t>oferece</a:t>
            </a:r>
            <a:r>
              <a:rPr dirty="0"/>
              <a:t> </a:t>
            </a:r>
            <a:r>
              <a:rPr dirty="0" err="1"/>
              <a:t>opções</a:t>
            </a:r>
            <a:r>
              <a:rPr dirty="0"/>
              <a:t> para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situações</a:t>
            </a:r>
            <a:r>
              <a:rPr dirty="0"/>
              <a:t> de </a:t>
            </a:r>
            <a:r>
              <a:rPr dirty="0" err="1"/>
              <a:t>convivência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marca</a:t>
            </a:r>
            <a:r>
              <a:rPr dirty="0"/>
              <a:t> principal.</a:t>
            </a:r>
          </a:p>
          <a:p>
            <a:endParaRPr dirty="0"/>
          </a:p>
          <a:p>
            <a:r>
              <a:rPr dirty="0"/>
              <a:t>A </a:t>
            </a:r>
            <a:r>
              <a:rPr dirty="0" err="1"/>
              <a:t>segmentação</a:t>
            </a:r>
            <a:r>
              <a:rPr dirty="0"/>
              <a:t> de </a:t>
            </a:r>
            <a:r>
              <a:rPr dirty="0" err="1"/>
              <a:t>investimento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hipótese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: </a:t>
            </a:r>
            <a:r>
              <a:rPr u="sng" dirty="0"/>
              <a:t>Millennials</a:t>
            </a:r>
            <a:r>
              <a:rPr dirty="0"/>
              <a:t> </a:t>
            </a:r>
            <a:r>
              <a:rPr dirty="0" err="1"/>
              <a:t>recebem</a:t>
            </a:r>
            <a:r>
              <a:rPr dirty="0"/>
              <a:t> 50%, </a:t>
            </a:r>
            <a:r>
              <a:rPr dirty="0" err="1"/>
              <a:t>Geração</a:t>
            </a:r>
            <a:r>
              <a:rPr dirty="0"/>
              <a:t> Z 30% e </a:t>
            </a:r>
            <a:r>
              <a:rPr dirty="0" err="1"/>
              <a:t>Geração</a:t>
            </a:r>
            <a:r>
              <a:rPr dirty="0"/>
              <a:t> X 20%. </a:t>
            </a:r>
            <a:endParaRPr lang="pt-BR" dirty="0"/>
          </a:p>
          <a:p>
            <a:r>
              <a:rPr dirty="0"/>
              <a:t>O </a:t>
            </a:r>
            <a:r>
              <a:rPr dirty="0" err="1"/>
              <a:t>piloto</a:t>
            </a:r>
            <a:r>
              <a:rPr dirty="0"/>
              <a:t> </a:t>
            </a:r>
            <a:r>
              <a:rPr dirty="0" err="1"/>
              <a:t>verificará</a:t>
            </a:r>
            <a:r>
              <a:rPr dirty="0"/>
              <a:t> a </a:t>
            </a:r>
            <a:r>
              <a:rPr dirty="0" err="1"/>
              <a:t>resposta</a:t>
            </a:r>
            <a:r>
              <a:rPr dirty="0"/>
              <a:t> real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grupo</a:t>
            </a:r>
            <a:r>
              <a:rPr dirty="0"/>
              <a:t> antes de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escala</a:t>
            </a:r>
            <a:r>
              <a:rPr dirty="0"/>
              <a:t>. </a:t>
            </a:r>
            <a:endParaRPr lang="pt-BR" dirty="0"/>
          </a:p>
          <a:p>
            <a:endParaRPr lang="pt-BR" dirty="0"/>
          </a:p>
          <a:p>
            <a:r>
              <a:rPr dirty="0"/>
              <a:t>Em custos, </a:t>
            </a:r>
            <a:r>
              <a:rPr dirty="0" err="1"/>
              <a:t>incluímos</a:t>
            </a:r>
            <a:r>
              <a:rPr dirty="0"/>
              <a:t> o </a:t>
            </a:r>
            <a:r>
              <a:rPr dirty="0" err="1"/>
              <a:t>desenvolvimento</a:t>
            </a:r>
            <a:r>
              <a:rPr dirty="0"/>
              <a:t> da nova </a:t>
            </a:r>
            <a:r>
              <a:rPr dirty="0" err="1"/>
              <a:t>linha</a:t>
            </a:r>
            <a:r>
              <a:rPr dirty="0"/>
              <a:t>, </a:t>
            </a:r>
            <a:r>
              <a:rPr dirty="0" err="1"/>
              <a:t>comunicação</a:t>
            </a:r>
            <a:r>
              <a:rPr dirty="0"/>
              <a:t>, </a:t>
            </a:r>
            <a:r>
              <a:rPr dirty="0" err="1"/>
              <a:t>ativações</a:t>
            </a:r>
            <a:r>
              <a:rPr dirty="0"/>
              <a:t> e </a:t>
            </a:r>
            <a:r>
              <a:rPr dirty="0" err="1"/>
              <a:t>distribuição</a:t>
            </a:r>
            <a:r>
              <a:rPr dirty="0"/>
              <a:t>; em </a:t>
            </a:r>
            <a:r>
              <a:rPr dirty="0" err="1"/>
              <a:t>receitas</a:t>
            </a:r>
            <a:r>
              <a:rPr dirty="0"/>
              <a:t>, </a:t>
            </a:r>
            <a:r>
              <a:rPr dirty="0" err="1"/>
              <a:t>vendas</a:t>
            </a:r>
            <a:r>
              <a:rPr dirty="0"/>
              <a:t> </a:t>
            </a:r>
            <a:r>
              <a:rPr dirty="0" err="1"/>
              <a:t>incrementais</a:t>
            </a:r>
            <a:r>
              <a:rPr dirty="0"/>
              <a:t>, </a:t>
            </a:r>
            <a:r>
              <a:rPr dirty="0" err="1"/>
              <a:t>recorrência</a:t>
            </a:r>
            <a:r>
              <a:rPr dirty="0"/>
              <a:t> e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frequência</a:t>
            </a:r>
            <a:r>
              <a:rPr dirty="0"/>
              <a:t> de </a:t>
            </a:r>
            <a:r>
              <a:rPr dirty="0" err="1"/>
              <a:t>compra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Para </a:t>
            </a:r>
            <a:r>
              <a:rPr dirty="0" err="1"/>
              <a:t>concluir</a:t>
            </a:r>
            <a:r>
              <a:rPr dirty="0"/>
              <a:t>, </a:t>
            </a:r>
            <a:r>
              <a:rPr dirty="0" err="1"/>
              <a:t>mostramos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o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inteligência</a:t>
            </a:r>
            <a:r>
              <a:rPr dirty="0"/>
              <a:t> artificial </a:t>
            </a:r>
            <a:r>
              <a:rPr dirty="0" err="1"/>
              <a:t>será</a:t>
            </a:r>
            <a:r>
              <a:rPr dirty="0"/>
              <a:t> </a:t>
            </a:r>
            <a:r>
              <a:rPr dirty="0" err="1"/>
              <a:t>registrado</a:t>
            </a:r>
            <a:r>
              <a:rPr dirty="0"/>
              <a:t> com </a:t>
            </a:r>
            <a:r>
              <a:rPr dirty="0" err="1"/>
              <a:t>transparência</a:t>
            </a:r>
            <a:r>
              <a:rPr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0min30s.</a:t>
            </a:r>
          </a:p>
          <a:p>
            <a:endParaRPr/>
          </a:p>
          <a:p>
            <a:r>
              <a:t>Encerramos com o registro de uso de inteligência artificial, solicitado pelo professor. A tabela deve refletir somente ferramentas, instruções e resultados usados de fato pelo grupo, incluindo aprendizados e limites.</a:t>
            </a:r>
          </a:p>
          <a:p>
            <a:endParaRPr/>
          </a:p>
          <a:p>
            <a:r>
              <a:t>A proposta final é um piloto para ampliar a base da Michelob Ultra: preserva a identidade da marca, introduz Michelob Ultra Moments como escolha complementar e usa dados para aprender antes de escalar.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intelo.com/report/low-calorie-alcoholic-beverages-marke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erencias.fgv.br/clav/article/download/598/354/144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dnews.com.br/post/ze-delivery-oferece-ate-40-off-no-mes-da-cerveja" TargetMode="External"/><Relationship Id="rId4" Type="http://schemas.openxmlformats.org/officeDocument/2006/relationships/hyperlink" Target="https://rascasse.com/explore/us/michelob-ultra-149491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heinekenbrasil.com.br/nossas-marcas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valor.globo.com/conteudo-de-marca/heineken/noticia/2026/07/14/heinekenr-lanca-versao-com-menor-teor-alcoolico-e-caloria-primeiro-no-brasil.ghtml" TargetMode="External"/><Relationship Id="rId5" Type="http://schemas.openxmlformats.org/officeDocument/2006/relationships/hyperlink" Target="https://www.heinekenbrasil.com.br/heineken-ultimate" TargetMode="External"/><Relationship Id="rId4" Type="http://schemas.openxmlformats.org/officeDocument/2006/relationships/hyperlink" Target="https://express.heineken.com.br/collections/amstel-cervejas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hyperlink" Target="https://www.oatly.com/sustainability/influence-food-system-change" TargetMode="External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s://ussupport.whiteclaw.com/en/support/solutions/articles/36000314438-how-much-alcohol-is-in-white-claw-hard-seltzer-surge-" TargetMode="External"/><Relationship Id="rId4" Type="http://schemas.openxmlformats.org/officeDocument/2006/relationships/hyperlink" Target="https://www.diageo.com/en/news-and-media/stories/2023/world-class-brand-building-the-year-guinness-became-great-britain-s-favourite-pint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 panose="02040502050405090303"/>
              </a:defRPr>
            </a:pPr>
            <a:r>
              <a:t>APRESENTAÇÃO DO CASE — MICHELOB ULTRA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7802"/>
            <a:ext cx="10362895" cy="445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Plano de Marketing — </a:t>
            </a:r>
            <a:r>
              <a:rPr lang="en-US" altLang="en-US" dirty="0"/>
              <a:t>Piloto de expansão para novas ocasiões de consumo</a:t>
            </a:r>
          </a:p>
          <a:p>
            <a:pPr>
              <a:spcBef>
                <a:spcPts val="1400"/>
              </a:spcBef>
              <a:defRPr sz="1800">
                <a:solidFill>
                  <a:srgbClr val="1B2A4A"/>
                </a:solidFill>
                <a:latin typeface="Calibri"/>
              </a:defRPr>
            </a:pPr>
            <a:r>
              <a:rPr dirty="0"/>
              <a:t>PROJETO PRÁTICO — MBA FIA LABDATA</a:t>
            </a:r>
            <a:br>
              <a:rPr dirty="0"/>
            </a:br>
            <a:r>
              <a:rPr dirty="0" err="1"/>
              <a:t>Curso</a:t>
            </a:r>
            <a:r>
              <a:rPr dirty="0"/>
              <a:t> de Marketing </a:t>
            </a:r>
            <a:r>
              <a:rPr lang="pt-BR" dirty="0"/>
              <a:t>Digital</a:t>
            </a:r>
            <a:endParaRPr dirty="0"/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dirty="0"/>
              <a:t>Empresa / Marca: AB InBev </a:t>
            </a:r>
            <a:r>
              <a:rPr lang="pt-BR" dirty="0"/>
              <a:t>— </a:t>
            </a:r>
            <a:r>
              <a:rPr lang="pt-BR" dirty="0" err="1"/>
              <a:t>Michelob</a:t>
            </a:r>
            <a:r>
              <a:rPr lang="pt-BR" dirty="0"/>
              <a:t> Ultra</a:t>
            </a:r>
            <a:br>
              <a:rPr dirty="0"/>
            </a:br>
            <a:r>
              <a:rPr dirty="0"/>
              <a:t>Tema: </a:t>
            </a:r>
            <a:r>
              <a:rPr lang="pt-BR" dirty="0"/>
              <a:t>Ampliação da base de consumidores da cerveja </a:t>
            </a:r>
            <a:r>
              <a:rPr lang="pt-BR" dirty="0" err="1"/>
              <a:t>Michelob</a:t>
            </a:r>
            <a:r>
              <a:rPr lang="pt-BR" dirty="0"/>
              <a:t> Ultra</a:t>
            </a:r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dirty="0"/>
              <a:t>Grupo: 8 </a:t>
            </a:r>
          </a:p>
          <a:p>
            <a:pPr>
              <a:spcBef>
                <a:spcPts val="12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dirty="0"/>
              <a:t>André Luiz da Cruz Moreira</a:t>
            </a:r>
          </a:p>
          <a:p>
            <a:pPr>
              <a:spcBef>
                <a:spcPts val="12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sz="1400" dirty="0">
                <a:solidFill>
                  <a:srgbClr val="5A6578"/>
                </a:solidFill>
                <a:latin typeface="Calibri"/>
              </a:rPr>
              <a:t>Lucas Silva do Carmo</a:t>
            </a:r>
          </a:p>
          <a:p>
            <a:pPr>
              <a:spcBef>
                <a:spcPts val="12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sz="1400" dirty="0">
                <a:solidFill>
                  <a:srgbClr val="5A6578"/>
                </a:solidFill>
                <a:latin typeface="Calibri"/>
              </a:rPr>
              <a:t>Rafael </a:t>
            </a:r>
            <a:r>
              <a:rPr lang="pt-BR" sz="1400" dirty="0" err="1">
                <a:solidFill>
                  <a:srgbClr val="5A6578"/>
                </a:solidFill>
                <a:latin typeface="Calibri"/>
              </a:rPr>
              <a:t>Eiti</a:t>
            </a:r>
            <a:r>
              <a:rPr lang="pt-BR" sz="1400" dirty="0">
                <a:solidFill>
                  <a:srgbClr val="5A6578"/>
                </a:solidFill>
                <a:latin typeface="Calibri"/>
              </a:rPr>
              <a:t> Tanaka</a:t>
            </a:r>
          </a:p>
          <a:p>
            <a:pPr>
              <a:spcBef>
                <a:spcPts val="12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sz="1400" dirty="0">
                <a:solidFill>
                  <a:srgbClr val="5A6578"/>
                </a:solidFill>
                <a:latin typeface="Calibri"/>
              </a:rPr>
              <a:t>Rômulo Pedro </a:t>
            </a:r>
            <a:r>
              <a:rPr lang="pt-BR" sz="1400" dirty="0" err="1">
                <a:solidFill>
                  <a:srgbClr val="5A6578"/>
                </a:solidFill>
                <a:latin typeface="Calibri"/>
              </a:rPr>
              <a:t>Arrivabene</a:t>
            </a:r>
            <a:endParaRPr lang="pt-BR" sz="1400" dirty="0">
              <a:solidFill>
                <a:srgbClr val="5A65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APRESENTAÇÃO DA MARCA E DO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MICHELOB ULTRA — LEVEZA QUE ACOMPANHA O SEU 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 panose="02040502050405090303"/>
              </a:defRPr>
            </a:pPr>
            <a:r>
              <a:t>MARCA E NEGÓCIO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A Michelob é uma marca de cerveja criada nos Estados Unidos e pertencente ao portfólio global da AB InBev.</a:t>
            </a:r>
            <a:br/>
            <a:br/>
            <a:r>
              <a:t>Com a Michelob Ultra, a marca passou a explorar uma proposta diferenciada dentro do mercado de cervejas, combinando uma experiência premium com atributos de leveza e baixo teor de carboidratos.</a:t>
            </a:r>
            <a:br/>
            <a:br/>
            <a:r>
              <a:t>A Michelob Ultra construiu sua identidade em torno de um estilo de vida ativo e equilibrado, aproximando a cerveja de territórios como esporte, bem-estar, socialização e experiências ao ar livre.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9822B"/>
                </a:solidFill>
                <a:latin typeface="Georgia" panose="02040502050405090303"/>
              </a:defRPr>
            </a:pPr>
            <a:r>
              <a:rPr dirty="0"/>
              <a:t>O DESAFIO DO CASE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ponto de partida é a oportunidade de ampliar a base atual da </a:t>
            </a:r>
            <a:r>
              <a:rPr lang="pt-BR" dirty="0" err="1"/>
              <a:t>Michelob</a:t>
            </a:r>
            <a:r>
              <a:rPr lang="pt-BR" dirty="0"/>
              <a:t> Ultra no mercado brasileiro. 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marca, hoje fortemente associada a um estilo de vida ativo e equilibrado, deve ganhar relevância entre adultos que não se definem pelo esporte, mas valorizam escolhas mais leves na rotina e na vida social.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desafio central consiste em superar o estigma histórico de que “cerveja leve é aguada”, educar o mercado quanto ao posicionamento Ultra Light Premium e evitar que a comunicação limite a </a:t>
            </a:r>
            <a:r>
              <a:rPr lang="pt-BR" dirty="0" err="1"/>
              <a:t>Michelob</a:t>
            </a:r>
            <a:r>
              <a:rPr lang="pt-BR" dirty="0"/>
              <a:t> Ultra ao universo esportivo.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br>
              <a:rPr dirty="0"/>
            </a:b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DIRECIONAMENTO DO PROJETO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Ampliar a base de consumidores da </a:t>
            </a:r>
            <a:r>
              <a:rPr lang="pt-BR" dirty="0" err="1"/>
              <a:t>Michelob</a:t>
            </a:r>
            <a:r>
              <a:rPr lang="pt-BR" dirty="0"/>
              <a:t> Ultra, levando suas credenciais de leveza e sabor para diferentes contextos de socialização.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Consolidar a </a:t>
            </a:r>
            <a:r>
              <a:rPr lang="pt-BR" dirty="0" err="1"/>
              <a:t>Michelob</a:t>
            </a:r>
            <a:r>
              <a:rPr lang="pt-BR" dirty="0"/>
              <a:t> Ultra como referência da categoria Ultra Light Premium no Brasil.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Aproximar a marca de adultos que buscam escolhas mais leves, mesmo sem relação frequente com práticas esportivas.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Construir relevância em ocasiões sociais cotidianas, como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Manter o esporte como credencial da marca, sem transformá-lo em requisito de identificação ou consumo.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CONTEXTO DE MERCADO — MICHELOB ULTRA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Um consumidor mais atento ao equilíbrio, sem abrir mão da socialização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 panose="02040502050405090303"/>
              </a:defRPr>
            </a:pPr>
            <a:r>
              <a:t>86%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BUSCAM HÁBITOS MAIS SAUDÁVEIS</a:t>
            </a:r>
            <a:br/>
            <a:r>
              <a:t>86% dos consumidores brasileiros (Estudo Estilos de Vida 2024 / NielsenIQ) já incorporaram ao menos um hábito mais saudável à rotina.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0F4C81"/>
                </a:solidFill>
                <a:latin typeface="Georgia" panose="02040502050405090303"/>
              </a:defRPr>
            </a:pPr>
            <a:r>
              <a:t>+40%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CRESCIMENTO EM VOLUME</a:t>
            </a:r>
            <a:br/>
            <a:r>
              <a:t>As cervejas de baixa caloria cresceram 40% em volume no Brasil, demonstrando forte espaço para escolhas com maior controle calórico.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 panose="02040502050405090303"/>
              </a:defRPr>
            </a:pPr>
            <a:r>
              <a:t>+20%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OCASIÕES FORA DE CASA</a:t>
            </a:r>
            <a:br/>
            <a:r>
              <a:t>As ocasiões de consumo fora do lar cresceram 20% (&gt;41,4M ocasiões). 63% dos brasileiros consomem cerveja fora de casa (Worldpanel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A OPORTUNIDADE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Esses movimentos revelam uma oportunidade para </a:t>
            </a:r>
            <a:r>
              <a:rPr lang="pt-BR" dirty="0" err="1"/>
              <a:t>Michelob</a:t>
            </a:r>
            <a:r>
              <a:rPr lang="pt-BR" dirty="0"/>
              <a:t> Ultra: a busca por escolhas mais leves e por equilíbrio na rotina alcança consumidores além do público que já se identifica com esporte e vida ativa.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Com seus atributos de leveza e baixo teor de carboidratos, a </a:t>
            </a:r>
            <a:r>
              <a:rPr lang="pt-BR" dirty="0" err="1"/>
              <a:t>Michelob</a:t>
            </a:r>
            <a:r>
              <a:rPr lang="pt-BR" dirty="0"/>
              <a:t> Ultra pode ampliar sua base ao se tornar mais presente em situações sociais cotidianas, sem exigir que o consumidor se reconheça em códigos de desempenho físico.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oportunidade está em levar uma credencial já existente da marca a um público mais amplo e a diferentes contextos de socialização.</a:t>
            </a:r>
          </a:p>
          <a:p>
            <a:pPr>
              <a:spcBef>
                <a:spcPts val="1000"/>
              </a:spcBef>
              <a:defRPr sz="1000">
                <a:solidFill>
                  <a:srgbClr val="5A6578"/>
                </a:solidFill>
                <a:latin typeface="Calibri"/>
              </a:defRPr>
            </a:pPr>
            <a:r>
              <a:rPr dirty="0"/>
              <a:t>Fontes: </a:t>
            </a:r>
            <a:r>
              <a:rPr dirty="0" err="1"/>
              <a:t>NielsenIQ</a:t>
            </a:r>
            <a:r>
              <a:rPr dirty="0"/>
              <a:t> — </a:t>
            </a:r>
            <a:r>
              <a:rPr dirty="0" err="1"/>
              <a:t>Estilos</a:t>
            </a:r>
            <a:r>
              <a:rPr dirty="0"/>
              <a:t> de Vida 2024; McKinsey — Cinco </a:t>
            </a:r>
            <a:r>
              <a:rPr dirty="0" err="1"/>
              <a:t>tendências</a:t>
            </a:r>
            <a:r>
              <a:rPr dirty="0"/>
              <a:t> do </a:t>
            </a:r>
            <a:r>
              <a:rPr dirty="0" err="1"/>
              <a:t>consumidor</a:t>
            </a:r>
            <a:r>
              <a:rPr dirty="0"/>
              <a:t> </a:t>
            </a:r>
            <a:r>
              <a:rPr dirty="0" err="1"/>
              <a:t>brasileiro</a:t>
            </a:r>
            <a:r>
              <a:rPr dirty="0"/>
              <a:t> em 2025; Worldpanel by Numerator — Brand Footprint </a:t>
            </a:r>
            <a:r>
              <a:rPr dirty="0" err="1"/>
              <a:t>Brasil</a:t>
            </a:r>
            <a:r>
              <a:rPr dirty="0"/>
              <a:t>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Mudança Comportamental, Dilema da Indústria</a:t>
            </a:r>
            <a:r>
              <a:rPr lang="pt-BR"/>
              <a:t> e Tese do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15126"/>
            <a:ext cx="5253355" cy="4431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MUDANÇA COMPORTAMENTAL: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Mudança</a:t>
            </a:r>
            <a:r>
              <a:rPr dirty="0"/>
              <a:t> secular de </a:t>
            </a:r>
            <a:r>
              <a:rPr dirty="0" err="1"/>
              <a:t>hábitos</a:t>
            </a:r>
            <a:r>
              <a:rPr dirty="0"/>
              <a:t>; </a:t>
            </a:r>
            <a:r>
              <a:rPr dirty="0" err="1"/>
              <a:t>ascensão</a:t>
            </a:r>
            <a:r>
              <a:rPr dirty="0"/>
              <a:t> da </a:t>
            </a:r>
            <a:r>
              <a:rPr dirty="0" err="1"/>
              <a:t>tendência</a:t>
            </a:r>
            <a:r>
              <a:rPr dirty="0"/>
              <a:t> de </a:t>
            </a:r>
            <a:r>
              <a:rPr dirty="0" err="1"/>
              <a:t>autocuidado</a:t>
            </a:r>
            <a:r>
              <a:rPr dirty="0"/>
              <a:t>, </a:t>
            </a:r>
            <a:r>
              <a:rPr dirty="0" err="1"/>
              <a:t>bem-estar</a:t>
            </a:r>
            <a:r>
              <a:rPr dirty="0"/>
              <a:t> e </a:t>
            </a:r>
            <a:r>
              <a:rPr dirty="0" err="1"/>
              <a:t>moderação</a:t>
            </a:r>
            <a:r>
              <a:rPr dirty="0"/>
              <a:t> no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alcóolico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socialização</a:t>
            </a:r>
            <a:r>
              <a:rPr dirty="0"/>
              <a:t>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M</a:t>
            </a:r>
            <a:r>
              <a:rPr lang="en-US" altLang="en-US" dirty="0"/>
              <a:t>ais de </a:t>
            </a:r>
            <a:r>
              <a:rPr lang="en-US" altLang="en-US" b="1" dirty="0"/>
              <a:t>62%</a:t>
            </a:r>
            <a:r>
              <a:rPr lang="en-US" altLang="en-US" dirty="0"/>
              <a:t> dos adultos compradores de álcool em mercados desenvolvidos analisados buscam ativamente op</a:t>
            </a:r>
            <a:r>
              <a:rPr lang="" altLang="en-US" dirty="0"/>
              <a:t>çõ</a:t>
            </a:r>
            <a:r>
              <a:rPr lang="en-US" altLang="en-US" dirty="0"/>
              <a:t>es com menos calorias ou menor teor alcoólico.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lang="en-US" altLang="en-US"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Esse comportamento impulsiona o mercado global de bebidas alcoólicas de baixa caloria, estimado em </a:t>
            </a:r>
            <a:r>
              <a:rPr lang="en-US" altLang="en-US" b="1" dirty="0"/>
              <a:t>US$ 27,4 bilh</a:t>
            </a:r>
            <a:r>
              <a:rPr lang="" altLang="en-US" b="1" dirty="0"/>
              <a:t>õ</a:t>
            </a:r>
            <a:r>
              <a:rPr lang="en-US" altLang="en-US" b="1" dirty="0"/>
              <a:t>es em 2025</a:t>
            </a:r>
            <a:r>
              <a:rPr lang="en-US" altLang="en-US" dirty="0"/>
              <a:t> e projetado para </a:t>
            </a:r>
            <a:r>
              <a:rPr lang="en-US" altLang="en-US" b="1" dirty="0"/>
              <a:t>US$ 52,8 bilh</a:t>
            </a:r>
            <a:r>
              <a:rPr lang="" altLang="en-US" b="1" dirty="0"/>
              <a:t>õ</a:t>
            </a:r>
            <a:r>
              <a:rPr lang="en-US" altLang="en-US" b="1" dirty="0"/>
              <a:t>es até 2034</a:t>
            </a:r>
            <a:r>
              <a:rPr lang="en-US" altLang="en-US" dirty="0"/>
              <a:t>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lang="en-US" altLang="en-US" b="1"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A busca por equilíbrio come</a:t>
            </a:r>
            <a:r>
              <a:rPr lang="" altLang="en-US" dirty="0"/>
              <a:t>ç</a:t>
            </a:r>
            <a:r>
              <a:rPr lang="en-US" altLang="en-US" dirty="0"/>
              <a:t>a a influenciar também a escolha da bebida alcoólica.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lang="en-US" altLang="en-US"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Fonte: </a:t>
            </a:r>
            <a:r>
              <a:rPr lang="pt-BR" altLang="en-US" dirty="0">
                <a:hlinkClick r:id="rId3" action="ppaction://hlinkfile"/>
              </a:rPr>
              <a:t>Dataintelo — Low-calorie Alcoholic Beverages Market, 2025–2034</a:t>
            </a:r>
            <a:r>
              <a:rPr lang="en-US" altLang="en-US" dirty="0"/>
              <a:t> 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8410" y="1715126"/>
            <a:ext cx="5331460" cy="4431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endParaRPr dirty="0"/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O DILEMA DA INDÚSTRIA: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Parte dos consumidores pode perceber cervejas tradicionais como mais pesadas ou menos compatíveis com a rotina; opções sem álcool ainda podem enfrentar barreiras de sabor e de ocasião social. A oportunidade é oferecer uma alternativa com álcool e menor teor calórico para quem busca leveza sem abrir mão da socialização.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A TESE DO CASE (</a:t>
            </a:r>
            <a:r>
              <a:rPr lang="pt-BR" dirty="0"/>
              <a:t>AMPLIAR A BASE</a:t>
            </a:r>
            <a:r>
              <a:rPr dirty="0"/>
              <a:t>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</a:t>
            </a:r>
            <a:r>
              <a:rPr lang="pt-BR" dirty="0" err="1"/>
              <a:t>Michelob</a:t>
            </a:r>
            <a:r>
              <a:rPr lang="pt-BR" dirty="0"/>
              <a:t> Ultra possui atributos coerentes com uma rotina mais equilibrada, mas sua associação predominante ao esporte pode reduzir a identificação de adultos que também buscam leveza na vida social. O desafio é ampliar essa identificação sem descaracterizar a marca.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lang="pt-BR" dirty="0"/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EXPANSÃO </a:t>
            </a:r>
            <a:r>
              <a:rPr lang="pt-BR" dirty="0"/>
              <a:t>DE BASE E OCASIÕES: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leveza da </a:t>
            </a:r>
            <a:r>
              <a:rPr lang="pt-BR" dirty="0" err="1"/>
              <a:t>Michelob</a:t>
            </a:r>
            <a:r>
              <a:rPr lang="pt-BR" dirty="0"/>
              <a:t> Ultra deve se tornar uma escolha relevante para mais pessoas e em mais contextos de convivência.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 são pontos de contato com esse novo público, e não substitutos da presença já existente da marca em outras situações.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Limitadores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0885" y="1652270"/>
            <a:ext cx="10586720" cy="4748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PRINCIPAIS LIMITADORES DE NEGÓCIO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</a:t>
            </a:r>
            <a:r>
              <a:rPr lang="en-US" altLang="en-US" dirty="0"/>
              <a:t>Comunica</a:t>
            </a:r>
            <a:r>
              <a:rPr lang="" altLang="en-US" dirty="0"/>
              <a:t>ç</a:t>
            </a:r>
            <a:r>
              <a:rPr lang="en-US" altLang="en-US" dirty="0"/>
              <a:t>ão predominantemente esportiva: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A presen</a:t>
            </a:r>
            <a:r>
              <a:rPr lang="" altLang="en-US" dirty="0"/>
              <a:t>ç</a:t>
            </a:r>
            <a:r>
              <a:rPr lang="en-US" altLang="en-US" dirty="0"/>
              <a:t>a da marca em contextos de pós-treino, corrida e metas físicas refor</a:t>
            </a:r>
            <a:r>
              <a:rPr lang="" altLang="en-US" dirty="0"/>
              <a:t>ç</a:t>
            </a:r>
            <a:r>
              <a:rPr lang="en-US" altLang="en-US" dirty="0"/>
              <a:t>a sua credencial de leveza, mas ainda não comunica de forma explícita sua relevância para adultos que buscam essa escolha em outras situa</a:t>
            </a:r>
            <a:r>
              <a:rPr lang="" altLang="en-US" dirty="0"/>
              <a:t>çõ</a:t>
            </a:r>
            <a:r>
              <a:rPr lang="en-US" altLang="en-US" dirty="0"/>
              <a:t>es de convivência.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Conhecimento limitado do posicionamento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Parte do público-alvo pode desconhecer a proposta Ultra Light Premium ou confundi-la com uma cerveja tradicional da prateleira.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Estigma</a:t>
            </a:r>
            <a:r>
              <a:rPr dirty="0"/>
              <a:t> Sensorial Histórico: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afetiva</a:t>
            </a:r>
            <a:r>
              <a:rPr dirty="0"/>
              <a:t> </a:t>
            </a:r>
            <a:r>
              <a:rPr dirty="0" err="1"/>
              <a:t>negativa</a:t>
            </a:r>
            <a:r>
              <a:rPr dirty="0"/>
              <a:t> de </a:t>
            </a:r>
            <a:r>
              <a:rPr dirty="0" err="1"/>
              <a:t>cervejas</a:t>
            </a:r>
            <a:r>
              <a:rPr dirty="0"/>
              <a:t> light (</a:t>
            </a:r>
            <a:r>
              <a:rPr dirty="0" err="1"/>
              <a:t>Aguadas</a:t>
            </a:r>
            <a:r>
              <a:rPr dirty="0"/>
              <a:t>),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ativações</a:t>
            </a:r>
            <a:r>
              <a:rPr dirty="0"/>
              <a:t> </a:t>
            </a:r>
            <a:r>
              <a:rPr dirty="0" err="1"/>
              <a:t>agressivas</a:t>
            </a:r>
            <a:r>
              <a:rPr dirty="0"/>
              <a:t> para </a:t>
            </a:r>
            <a:r>
              <a:rPr dirty="0" err="1"/>
              <a:t>provar</a:t>
            </a:r>
            <a:r>
              <a:rPr dirty="0"/>
              <a:t> </a:t>
            </a:r>
            <a:r>
              <a:rPr dirty="0" err="1"/>
              <a:t>sabor</a:t>
            </a:r>
            <a:r>
              <a:rPr dirty="0"/>
              <a:t> e </a:t>
            </a:r>
            <a:r>
              <a:rPr dirty="0" err="1"/>
              <a:t>corpo</a:t>
            </a:r>
            <a:r>
              <a:rPr dirty="0"/>
              <a:t> puro </a:t>
            </a:r>
            <a:r>
              <a:rPr dirty="0" err="1"/>
              <a:t>malte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Resistência nos bares e cardápios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Bares tradicionais podem hesitar em reservar espaço em geladeira, cardápio ou ponto de venda para uma cerveja de menor teor calórico.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Limites regulatórios e de linguagem (CONAR / Anvisa):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A comunicação deve passar por validação regulatória antes da execução e evitar atribuir benefício à saúde ou desempenho físico ao consumo da cerveja.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Estratégia Central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731520" y="1284605"/>
            <a:ext cx="10988675" cy="762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8300" y="1554480"/>
            <a:ext cx="4726305" cy="5037455"/>
          </a:xfrm>
          <a:prstGeom prst="roundRect">
            <a:avLst/>
          </a:prstGeom>
          <a:noFill/>
          <a:ln w="12700" cap="flat" cmpd="sng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1. ESTRATÉGIA CENTRAL DE SOLUÇÃO</a:t>
            </a:r>
          </a:p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endParaRPr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>
                <a:sym typeface="+mn-ea"/>
              </a:rPr>
              <a:t>• </a:t>
            </a:r>
            <a:r>
              <a:rPr lang="pt-BR" altLang="en-US" dirty="0">
                <a:sym typeface="+mn-ea"/>
              </a:rPr>
              <a:t>APRESENTAR A NOVA LINHA</a:t>
            </a:r>
            <a:r>
              <a:rPr lang="en-US" altLang="en-US" dirty="0">
                <a:sym typeface="+mn-ea"/>
              </a:rPr>
              <a:t> </a:t>
            </a:r>
            <a:r>
              <a:rPr lang="pt-BR" altLang="en-US" dirty="0">
                <a:sym typeface="+mn-ea"/>
              </a:rPr>
              <a:t>MICHELOB ULTRA </a:t>
            </a:r>
            <a:r>
              <a:rPr lang="en-US" altLang="en-US" dirty="0">
                <a:sym typeface="+mn-ea"/>
              </a:rPr>
              <a:t>MOMENTS</a:t>
            </a:r>
            <a:endParaRPr lang="en-US" altLang="en-US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>
                <a:sym typeface="+mn-ea"/>
              </a:rPr>
              <a:t>Apresentar o novo produto como uma alternativa dentro do portfólio Michelob Ultra: 2,0% de álcool, teor calórico significativamente reduzido e uma proposta orientada a momentos de socialização e consumo mais moderado.</a:t>
            </a:r>
            <a:endParaRPr lang="en-US" altLang="en-US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• PROVAR SABOR E LEVEZA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Superar a percep</a:t>
            </a:r>
            <a:r>
              <a:rPr lang="" altLang="en-US" dirty="0"/>
              <a:t>ç</a:t>
            </a:r>
            <a:r>
              <a:rPr lang="en-US" altLang="en-US" dirty="0"/>
              <a:t>ão de que uma cerveja com menor teor alcoólico e calórico entrega menos sabor, utilizando experimenta</a:t>
            </a:r>
            <a:r>
              <a:rPr lang="" altLang="en-US" dirty="0"/>
              <a:t>ç</a:t>
            </a:r>
            <a:r>
              <a:rPr lang="en-US" altLang="en-US" dirty="0"/>
              <a:t>ão, degusta</a:t>
            </a:r>
            <a:r>
              <a:rPr lang="" altLang="en-US" dirty="0"/>
              <a:t>ç</a:t>
            </a:r>
            <a:r>
              <a:rPr lang="en-US" altLang="en-US" dirty="0"/>
              <a:t>ão e comunica</a:t>
            </a:r>
            <a:r>
              <a:rPr lang="" altLang="en-US" dirty="0"/>
              <a:t>ç</a:t>
            </a:r>
            <a:r>
              <a:rPr lang="en-US" altLang="en-US" dirty="0"/>
              <a:t>ão dos atributos do produto.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• CRIAR NOVAS OCASI</a:t>
            </a:r>
            <a:r>
              <a:rPr lang="" altLang="en-US" dirty="0"/>
              <a:t>Õ</a:t>
            </a:r>
            <a:r>
              <a:rPr lang="en-US" altLang="en-US" dirty="0"/>
              <a:t>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Posicionar Michelob Ultra Moments para situa</a:t>
            </a:r>
            <a:r>
              <a:rPr lang="" altLang="en-US" dirty="0"/>
              <a:t>çõ</a:t>
            </a:r>
            <a:r>
              <a:rPr lang="en-US" altLang="en-US" dirty="0"/>
              <a:t>es em que o consumidor deseja socializar com maior leveza, como almo</a:t>
            </a:r>
            <a:r>
              <a:rPr lang="" altLang="en-US" dirty="0"/>
              <a:t>ç</a:t>
            </a:r>
            <a:r>
              <a:rPr lang="en-US" altLang="en-US" dirty="0"/>
              <a:t>os, encontros diurnos, happy hours, churrascos, festivais e eventos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• AMPLIAR O TERRIT</a:t>
            </a:r>
            <a:r>
              <a:rPr lang="" altLang="en-US" dirty="0"/>
              <a:t>Ó</a:t>
            </a:r>
            <a:r>
              <a:rPr lang="en-US" altLang="en-US" dirty="0"/>
              <a:t>RIO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Preservar a conexão da Michelob Ultra com esporte e estilo de vida ativo, mas ampliar sua comunica</a:t>
            </a:r>
            <a:r>
              <a:rPr lang="" altLang="en-US" dirty="0"/>
              <a:t>ç</a:t>
            </a:r>
            <a:r>
              <a:rPr lang="en-US" altLang="en-US" dirty="0"/>
              <a:t>ão para consumidores que valorizam equilíbrio e bem-estar sem necessariamente se identificarem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A estratégia não é substituir a cerveja tradicional, mas criar uma nova escolha para novos momentos.</a:t>
            </a:r>
          </a:p>
        </p:txBody>
      </p:sp>
      <p:pic>
        <p:nvPicPr>
          <p:cNvPr id="14" name="Picture 13" descr="Michelob_Moments_v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015" y="1903730"/>
            <a:ext cx="6785610" cy="4525645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 extrusionH="76200" contourW="12700">
            <a:extrusionClr>
              <a:schemeClr val="tx1"/>
            </a:extrusionClr>
            <a:contourClr>
              <a:schemeClr val="tx1">
                <a:lumMod val="50000"/>
                <a:lumOff val="50000"/>
              </a:schemeClr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Plano Tático GTM e Matriz de Mídias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75250" cy="23463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 panose="02040502050405090303"/>
              </a:defRPr>
            </a:pPr>
            <a:r>
              <a:rPr lang="pt-BR" dirty="0"/>
              <a:t>2. PLANO TÁTICO DE GTM (EM 5 FASES)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>
                <a:sym typeface="+mn-ea"/>
              </a:rPr>
              <a:t>• Onda 1 (</a:t>
            </a:r>
            <a:r>
              <a:rPr lang="en-US" altLang="en-US" sz="900" dirty="0">
                <a:sym typeface="+mn-ea"/>
              </a:rPr>
              <a:t>Lan</a:t>
            </a:r>
            <a:r>
              <a:rPr lang="" altLang="en-US" sz="900" dirty="0">
                <a:sym typeface="+mn-ea"/>
              </a:rPr>
              <a:t>ç</a:t>
            </a:r>
            <a:r>
              <a:rPr lang="en-US" altLang="en-US" sz="900" dirty="0">
                <a:sym typeface="+mn-ea"/>
              </a:rPr>
              <a:t>amento e Awareness</a:t>
            </a:r>
            <a:r>
              <a:rPr lang="pt-BR" sz="900" dirty="0">
                <a:sym typeface="+mn-ea"/>
              </a:rPr>
              <a:t>): </a:t>
            </a:r>
            <a:r>
              <a:rPr lang="en-US" altLang="en-US" sz="900" dirty="0">
                <a:sym typeface="+mn-ea"/>
              </a:rPr>
              <a:t>Apresenta</a:t>
            </a:r>
            <a:r>
              <a:rPr lang="" altLang="en-US" sz="900" dirty="0">
                <a:sym typeface="+mn-ea"/>
              </a:rPr>
              <a:t>ç</a:t>
            </a:r>
            <a:r>
              <a:rPr lang="en-US" altLang="en-US" sz="900" dirty="0">
                <a:sym typeface="+mn-ea"/>
              </a:rPr>
              <a:t>ão da Michelob Ultra Moments, destacando 2,0% de álcool, teor calórico significativamente reduzido e sabor, com campanha digital, influenciadores e mídia de alcance.</a:t>
            </a:r>
            <a:r>
              <a:rPr lang="pt-BR" altLang="en-US" sz="900" dirty="0">
                <a:sym typeface="+mn-ea"/>
              </a:rPr>
              <a:t> </a:t>
            </a:r>
            <a:endParaRPr lang="en-US" altLang="en-US" sz="900" dirty="0">
              <a:sym typeface="+mn-ea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Onda 2 (Degustação): degustação guiada em bares, eventos gastronômicos, festivais e pontos de venda.</a:t>
            </a:r>
            <a:br>
              <a:rPr sz="900" dirty="0"/>
            </a:br>
            <a:r>
              <a:rPr lang="pt-BR" sz="900" dirty="0"/>
              <a:t>• Onda 3 (Disponibilidade e visibilidade nos canais de venda): ponta de gôndola, geladeiras e presença destacada em grandes redes, empórios, bares e restaurantes.</a:t>
            </a:r>
            <a:br>
              <a:rPr sz="900" dirty="0"/>
            </a:br>
            <a:r>
              <a:rPr lang="pt-BR" sz="900" dirty="0"/>
              <a:t>• Onda 4 (Ocasiões): Campanhas voltadas a almoços, happy hours, encontros casuais, churrascos, festivais, futebol e eventos de entretenimento.</a:t>
            </a:r>
            <a:br>
              <a:rPr sz="900" dirty="0"/>
            </a:br>
            <a:r>
              <a:rPr lang="pt-BR" sz="900" dirty="0"/>
              <a:t>• Onda 5 (Relacionamento): piloto de aquisição e recompra com conteúdo digital, QR code de degustação, cupom rastreável e CRM no Zé Delivery, em regiões e canais priorizados.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0445" y="1554480"/>
            <a:ext cx="5175250" cy="5163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3. DADOS DE APRENDIZADO &amp; CURIOSIDADES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Pesquisa brasileira da FGV, com 581 respondentes, identificou baixo teor de carboidratos como o atributo mais relevante para a percepção de saudabilidade; orgânico e baixa caloria vieram em seguida.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Nos grupos de discussão, o termo “light” gerou desconfiança em parte dos participantes; a leveza precisa ser acompanhada de prova de sabor.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Aprendizado para a estratégia: comunicar atributos concretos do produto e comprovar sabor por degustação; manter o esporte como credencial complementar, não como argumento central de aquisição.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Fonte: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u="sng" dirty="0">
                <a:solidFill>
                  <a:srgbClr val="0F4C81"/>
                </a:solidFill>
                <a:latin typeface="Aptos"/>
                <a:hlinkClick r:id="rId3"/>
              </a:rPr>
              <a:t>Cerveja e Saudabilidade: Como a Percepção de Saudabilidade de uma Cerveja Afeta a Intenção de Compra do Consumidor - FGV</a:t>
            </a:r>
            <a:r>
              <a:rPr lang="pt-BR" sz="900" dirty="0">
                <a:solidFill>
                  <a:srgbClr val="4D4D4D"/>
                </a:solidFill>
                <a:latin typeface="Aptos"/>
              </a:rPr>
              <a:t>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4010025"/>
            <a:ext cx="5175250" cy="26917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 panose="02040502050405090303"/>
              </a:defRPr>
            </a:pPr>
            <a:r>
              <a:rPr dirty="0"/>
              <a:t>4. MATRIZ DE MÍDIAS POR PÚBLICO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</a:t>
            </a:r>
            <a:r>
              <a:rPr lang="pt-BR" sz="900" dirty="0" err="1"/>
              <a:t>Millennials</a:t>
            </a:r>
            <a:r>
              <a:rPr lang="pt-BR" sz="900" dirty="0"/>
              <a:t> — 50% do investimento: Instagram, podcasts, criadores de conteúdo e CRM no Zé Delivery.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Z — 30% do investimento: TikTok, festivais, criadores de conteúdo e ativações em eventos sociais.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X — 20% do investimento: ponto de venda físico, empórios, supermercados, bares e comunicação sobre controle calórico, leveza, sabor e conveniência.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>
                <a:solidFill>
                  <a:srgbClr val="1B2A4A"/>
                </a:solidFill>
                <a:latin typeface="Calibri"/>
              </a:rPr>
              <a:t>Fontes usadas para avaliar a distribuição inicial de investimento a validar no piloto: </a:t>
            </a: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sz="900" u="sng" dirty="0">
                <a:solidFill>
                  <a:srgbClr val="0F4C81"/>
                </a:solidFill>
                <a:latin typeface="Aptos"/>
                <a:hlinkClick r:id="rId4"/>
              </a:rPr>
              <a:t>Michelob ULTRA Target Market: 2.2M People in United States (2026) — Age, Gender &amp; Regions- Rascasse Audience Intelligence</a:t>
            </a:r>
            <a:r>
              <a:rPr sz="900" dirty="0">
                <a:solidFill>
                  <a:srgbClr val="4D4D4D"/>
                </a:solidFill>
                <a:latin typeface="Aptos"/>
              </a:rPr>
              <a:t>; </a:t>
            </a:r>
            <a:endParaRPr lang="pt-BR" sz="900" dirty="0">
              <a:solidFill>
                <a:srgbClr val="4D4D4D"/>
              </a:solidFill>
              <a:latin typeface="Aptos"/>
            </a:endParaRP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Zé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Delivery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oferece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até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40% off no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mês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da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cerveja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—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Adnews</a:t>
            </a:r>
            <a:r>
              <a:rPr sz="900" dirty="0">
                <a:solidFill>
                  <a:srgbClr val="4D4D4D"/>
                </a:solidFill>
                <a:latin typeface="Aptos"/>
              </a:rPr>
              <a:t>;</a:t>
            </a:r>
            <a:endParaRPr lang="pt-BR" sz="900" dirty="0">
              <a:solidFill>
                <a:srgbClr val="4D4D4D"/>
              </a:solidFill>
              <a:latin typeface="Aptos"/>
            </a:endParaRP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u="sng" dirty="0">
                <a:solidFill>
                  <a:srgbClr val="0F4C81"/>
                </a:solidFill>
                <a:latin typeface="Aptos"/>
                <a:hlinkClick r:id="rId3"/>
              </a:rPr>
              <a:t>Cerveja e Saudabilidade: Como a Percepção de Saudabilidade de uma Cerveja Afeta a Intenção de Compra do Consumidor - FGV</a:t>
            </a:r>
            <a:r>
              <a:rPr sz="900" dirty="0">
                <a:solidFill>
                  <a:srgbClr val="4D4D4D"/>
                </a:solidFill>
                <a:latin typeface="Aptos"/>
              </a:rPr>
              <a:t>.</a:t>
            </a:r>
            <a:endParaRPr lang="pt-BR" sz="800" dirty="0">
              <a:solidFill>
                <a:srgbClr val="4D4D4D"/>
              </a:solidFill>
              <a:latin typeface="Aptos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RESULTADOS PRETENDIDOS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Metas de Conquista e Indicadores Chave de Desempenho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7516" y="1455821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100" dirty="0"/>
              <a:t>1. AUMENTO DO CONHECIMENTO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A</a:t>
            </a:r>
            <a:r>
              <a:rPr lang="pt-BR" sz="900" dirty="0" err="1"/>
              <a:t>mpliar</a:t>
            </a:r>
            <a:r>
              <a:rPr lang="pt-BR" sz="900" dirty="0"/>
              <a:t> o reconhecimento da </a:t>
            </a:r>
            <a:r>
              <a:rPr lang="pt-BR" sz="900" dirty="0" err="1"/>
              <a:t>Michelob</a:t>
            </a:r>
            <a:r>
              <a:rPr lang="pt-BR" sz="900" dirty="0"/>
              <a:t> Ultra e lançar a Michelob Ultra Moments para adultos que valorizam leveza e socialização, inclusive entre aqueles que não se identificam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 chave: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engajamento nas mídias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Alcance e frequência da comunicação no novo público.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Evolução do conhecimento e da associação da </a:t>
            </a:r>
            <a:r>
              <a:rPr lang="pt-BR" sz="900" dirty="0" err="1"/>
              <a:t>Michelob</a:t>
            </a:r>
            <a:r>
              <a:rPr lang="pt-BR" sz="900" dirty="0"/>
              <a:t> Ultra a leveza, sabor e situações de socialização além do esporte.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Instrumentos: relatórios das mídias sociais e dos demais canais digitais utilizados; pesquisa breve antes e depois da campanha, divulgada digitalmente e por QR </a:t>
            </a:r>
            <a:r>
              <a:rPr lang="pt-BR" sz="900" dirty="0" err="1"/>
              <a:t>code</a:t>
            </a:r>
            <a:r>
              <a:rPr lang="pt-BR" sz="900" dirty="0"/>
              <a:t> em degustações, bares e eventos.</a:t>
            </a:r>
            <a:br>
              <a:rPr sz="1000" dirty="0"/>
            </a:br>
            <a:endParaRPr sz="10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3" y="1455821"/>
            <a:ext cx="5329507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 panose="02040502050405090303"/>
              </a:defRPr>
            </a:pPr>
            <a:r>
              <a:rPr sz="1100" b="1" dirty="0">
                <a:solidFill>
                  <a:srgbClr val="0F4C81"/>
                </a:solidFill>
                <a:latin typeface="Georgia" panose="02040502050405090303"/>
              </a:rPr>
              <a:t>2. CONQUISTA DE</a:t>
            </a:r>
            <a:r>
              <a:rPr lang="pt-BR" sz="1100" b="1" dirty="0">
                <a:solidFill>
                  <a:srgbClr val="0F4C81"/>
                </a:solidFill>
                <a:latin typeface="Georgia" panose="02040502050405090303"/>
              </a:rPr>
              <a:t> NOVOS CONSUMIDORES E </a:t>
            </a:r>
            <a:r>
              <a:rPr sz="1100" b="1" dirty="0">
                <a:solidFill>
                  <a:srgbClr val="0F4C81"/>
                </a:solidFill>
                <a:latin typeface="Georgia" panose="02040502050405090303"/>
              </a:rPr>
              <a:t> NOVAS OCASIÕES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Inserir a </a:t>
            </a:r>
            <a:r>
              <a:rPr lang="pt-BR" sz="900" dirty="0" err="1"/>
              <a:t>Michelob</a:t>
            </a:r>
            <a:r>
              <a:rPr lang="pt-BR" sz="900" dirty="0"/>
              <a:t> Ultra em almoços, </a:t>
            </a:r>
            <a:r>
              <a:rPr lang="pt-BR" sz="900" dirty="0" err="1"/>
              <a:t>happy</a:t>
            </a:r>
            <a:r>
              <a:rPr lang="pt-BR" sz="900" dirty="0"/>
              <a:t> hours, encontros casuais, churrascos, festivais e ocasiões ligadas ao futebol, atraindo adultos que buscam uma cerveja premium leve para socializar.</a:t>
            </a:r>
            <a:br>
              <a:rPr sz="900" dirty="0"/>
            </a:br>
            <a:br>
              <a:rPr sz="900" dirty="0"/>
            </a:br>
            <a:r>
              <a:rPr sz="900" dirty="0"/>
              <a:t>• </a:t>
            </a:r>
            <a:r>
              <a:rPr sz="900" dirty="0" err="1"/>
              <a:t>Métricas</a:t>
            </a:r>
            <a:r>
              <a:rPr sz="900" dirty="0"/>
              <a:t> </a:t>
            </a:r>
            <a:r>
              <a:rPr lang="pt-BR" sz="900" dirty="0"/>
              <a:t>c</a:t>
            </a:r>
            <a:r>
              <a:rPr sz="900" dirty="0"/>
              <a:t>have: </a:t>
            </a: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experimentação nas ativações e nos pontos de venda priorizados.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 entre os consumidores identificados nas plataformas de entrega e de relacionamento.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Frequência de compra nas ocasiões priorizadas.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QR </a:t>
            </a:r>
            <a:r>
              <a:rPr lang="pt-BR" sz="900" dirty="0" err="1"/>
              <a:t>codes</a:t>
            </a:r>
            <a:r>
              <a:rPr lang="pt-BR" sz="900" dirty="0"/>
              <a:t> e cupons distribuídos em degustações e ativações; relatórios de resgate; dados de compra das plataformas de entrega e de relacionamento; pesquisa breve após a 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7515" y="3905448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100" b="1" dirty="0">
                <a:solidFill>
                  <a:srgbClr val="0F4C81"/>
                </a:solidFill>
                <a:latin typeface="Georgia" panose="02040502050405090303"/>
              </a:rPr>
              <a:t>3. AMPLIAÇÃO DA DISPONIBILIDADE E PRESENÇA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Expandir a presença em supermercados, bares, restaurantes, entrega e pontos associados a ocasiões sociais e de convivência, reduzindo as barreiras entre intenção e compra.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 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Número de pontos de venda, bares, restaurantes e canais de entrega com </a:t>
            </a:r>
            <a:r>
              <a:rPr lang="pt-BR" sz="900" dirty="0" err="1"/>
              <a:t>Michelob</a:t>
            </a:r>
            <a:r>
              <a:rPr lang="pt-BR" sz="900" dirty="0"/>
              <a:t> Ultra disponível, por região.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Percentual dos pontos de venda priorizados que mantêm o produto disponível e visível em geladeira, gôndola ou cardápio.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Cobertura da marca nos canais de entrega selecionados.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distribuidores e varejistas; auditorias periódicas nos pontos de venda; verificação de cardápios e catálogos das plataformas de entrega.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10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3" y="3900636"/>
            <a:ext cx="5329506" cy="2252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 panose="02040502050405090303"/>
              </a:defRPr>
            </a:pPr>
            <a:r>
              <a:rPr sz="1100" b="1" dirty="0">
                <a:solidFill>
                  <a:srgbClr val="0F4C81"/>
                </a:solidFill>
                <a:latin typeface="Georgia" panose="02040502050405090303"/>
              </a:rPr>
              <a:t>4. GERAÇÃO DE CRESCIMENTO SUSTENTÁVEL</a:t>
            </a:r>
            <a:endParaRPr lang="pt-BR" sz="1100" b="1" dirty="0">
              <a:solidFill>
                <a:srgbClr val="0F4C81"/>
              </a:solidFill>
              <a:latin typeface="Georgia" panose="02040502050405090303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Atrair novos consumidores, aumentar a frequência de compra e gerar vendas incrementais, transformando a experimentação em compra recorrente.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 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Volume total de vendas e variação de vendas nas regiões e canais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Taxa de recompra e intervalo médio entre compras.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4. Ciclo de reposição dos distribuidores.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vendas da companhia, distribuidores e varejistas; dados das plataformas de entrega e de relacionamento; comparação dos resultados antes e depois das ações nos canais e regiões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0F4C81"/>
          </a:solidFill>
          <a:ln w="1524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O piloto transforma métricas em decisão: medir antes, ativar, comparar e escalar o que gerar aquisição e recompra.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ANÁLISE DE CONCORRENTES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Mapeamento do Cenário Competitivo Direto e Indireto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64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700" b="1" dirty="0"/>
              <a:t>1. AMSTEL ULTRA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Long neck de 275 ml com 72 kcal e 4% ABV.</a:t>
            </a:r>
            <a:br>
              <a:rPr dirty="0"/>
            </a:br>
            <a:r>
              <a:rPr sz="1050" dirty="0"/>
              <a:t>• Atributos: Cerveja com álcool, menor teor calórico, puro malte, low carb e sem glúten.</a:t>
            </a:r>
            <a:br>
              <a:rPr dirty="0"/>
            </a:br>
            <a:br>
              <a:rPr dirty="0"/>
            </a:br>
            <a:r>
              <a:rPr sz="1050" dirty="0"/>
              <a:t>• Força Comercial: Marca do portfólio do Grupo Heineken; a versão Ultra reforça uma proposta de cerveja leve, puro malte, low carb e sem glúten.</a:t>
            </a:r>
            <a:br>
              <a:rPr dirty="0"/>
            </a:br>
            <a:br>
              <a:rPr dirty="0"/>
            </a:br>
            <a:r>
              <a:rPr sz="1050" dirty="0"/>
              <a:t>• Pressão sobre Michelob: Disputa familiaridade e valor percebido. Exige explicar por que a experiência Michelob merece preferência diante da porção de 275ml.</a:t>
            </a:r>
            <a:br>
              <a:rPr dirty="0"/>
            </a:br>
            <a:br>
              <a:rPr dirty="0"/>
            </a:br>
            <a:r>
              <a:rPr sz="1050" dirty="0"/>
              <a:t>• Fontes:</a:t>
            </a:r>
            <a:br>
              <a:rPr dirty="0"/>
            </a:br>
            <a:r>
              <a:rPr sz="1050" dirty="0"/>
              <a:t>  - Grupo Heineken Brasil: </a:t>
            </a:r>
            <a:r>
              <a:rPr lang="pt-BR" sz="1050" dirty="0">
                <a:hlinkClick r:id="rId3"/>
              </a:rPr>
              <a:t>Marcas do grupo Heineken</a:t>
            </a:r>
            <a:br>
              <a:rPr dirty="0"/>
            </a:br>
            <a:r>
              <a:rPr sz="1050" dirty="0"/>
              <a:t>  - Heineken Express: </a:t>
            </a:r>
            <a:r>
              <a:rPr lang="pt-BR" sz="1050" dirty="0" err="1">
                <a:hlinkClick r:id="rId4"/>
              </a:rPr>
              <a:t>Amstel</a:t>
            </a:r>
            <a:r>
              <a:rPr lang="pt-BR" sz="1050" dirty="0">
                <a:hlinkClick r:id="rId4"/>
              </a:rPr>
              <a:t> Cervejas</a:t>
            </a:r>
            <a:endParaRPr sz="1050" dirty="0"/>
          </a:p>
        </p:txBody>
      </p:sp>
      <p:sp>
        <p:nvSpPr>
          <p:cNvPr id="6" name="Rounded Rectangle 5"/>
          <p:cNvSpPr/>
          <p:nvPr/>
        </p:nvSpPr>
        <p:spPr>
          <a:xfrm>
            <a:off x="637016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9822B"/>
                </a:solidFill>
                <a:latin typeface="Georgia" panose="02040502050405090303"/>
              </a:defRPr>
            </a:pPr>
            <a:r>
              <a:rPr sz="1700" b="1" dirty="0"/>
              <a:t>2. HEINEKEN ULTIMATE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Garrafa de 330 ml com 97 kcal, 3,5% ABV e sem glúten (redução de 30% calorias vs regular).</a:t>
            </a:r>
            <a:br>
              <a:rPr dirty="0"/>
            </a:br>
            <a:br>
              <a:rPr dirty="0"/>
            </a:br>
            <a:r>
              <a:rPr sz="1050" dirty="0"/>
              <a:t>• Proposta: Opção com menos calorias dentro de uma marca global já estabelecida (lançada no Brasil em maio/2026).</a:t>
            </a:r>
            <a:br>
              <a:rPr dirty="0"/>
            </a:br>
            <a:br>
              <a:rPr dirty="0"/>
            </a:br>
            <a:r>
              <a:rPr sz="1050" dirty="0"/>
              <a:t>• Pressão sobre Michelob: Retenção do consumidor habitual de Heineken que busca redução calórica.</a:t>
            </a:r>
            <a:br>
              <a:rPr dirty="0"/>
            </a:br>
            <a:br>
              <a:rPr dirty="0"/>
            </a:br>
            <a:r>
              <a:rPr sz="1050" dirty="0"/>
              <a:t>• Resposta Michelob: Focar em identidade própria de leveza, sabor superior e ativação de estilo de vida.</a:t>
            </a:r>
            <a:br>
              <a:rPr dirty="0"/>
            </a:br>
            <a:br>
              <a:rPr dirty="0"/>
            </a:br>
            <a:r>
              <a:rPr sz="1050" dirty="0"/>
              <a:t>• Fontes:</a:t>
            </a:r>
            <a:br>
              <a:rPr dirty="0"/>
            </a:br>
            <a:r>
              <a:rPr sz="1050" dirty="0"/>
              <a:t>  - Produto oficial: </a:t>
            </a:r>
            <a:r>
              <a:rPr lang="pt-BR" sz="1050" dirty="0">
                <a:hlinkClick r:id="rId5"/>
              </a:rPr>
              <a:t>Heineken® </a:t>
            </a:r>
            <a:r>
              <a:rPr lang="pt-BR" sz="1050" dirty="0" err="1">
                <a:hlinkClick r:id="rId5"/>
              </a:rPr>
              <a:t>Ultimate</a:t>
            </a:r>
            <a:br>
              <a:rPr dirty="0"/>
            </a:br>
            <a:r>
              <a:rPr sz="1050" dirty="0"/>
              <a:t>  - Lançamento: </a:t>
            </a:r>
            <a:r>
              <a:rPr lang="pt-BR" sz="1050" dirty="0">
                <a:hlinkClick r:id="rId6"/>
              </a:rPr>
              <a:t>Heineken® lança versão com menor teor alcóolico e caloria primeiro no Brasil</a:t>
            </a:r>
            <a:endParaRPr sz="1050" dirty="0"/>
          </a:p>
        </p:txBody>
      </p:sp>
      <p:pic>
        <p:nvPicPr>
          <p:cNvPr id="7" name="Picture 6" descr="amst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0486" y="2387068"/>
            <a:ext cx="847202" cy="777240"/>
          </a:xfrm>
          <a:prstGeom prst="rect">
            <a:avLst/>
          </a:prstGeom>
        </p:spPr>
      </p:pic>
      <p:pic>
        <p:nvPicPr>
          <p:cNvPr id="8" name="Picture 7" descr="heinek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1263" y="2375036"/>
            <a:ext cx="932688" cy="777240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1066648" y="1483629"/>
            <a:ext cx="10058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6">
                    <a:lumMod val="75000"/>
                  </a:schemeClr>
                </a:solidFill>
              </a:rPr>
              <a:t>Quem disputa a preferência de adultos que buscam uma cerveja com álcool e menor teor calórico para ocasiões sociais comuns, com diferentes níveis de reconhecimento, distribuição e proposta de marca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BENCHMARK &amp; MARCAS INSPIRADORAS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Aprendizados de Marcas Globais Aplicáveis ao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500" b="1" dirty="0"/>
              <a:t>5.1. OATLY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Quebra de </a:t>
            </a:r>
            <a:r>
              <a:rPr sz="1200" b="1" dirty="0" err="1"/>
              <a:t>Preconceito</a:t>
            </a:r>
            <a:r>
              <a:rPr sz="1200" b="1" dirty="0"/>
              <a:t> e Sabor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Enfrentou a percepção de que bebidas de aveia seriam inferiores ao leite. A marca usou testes cegos de sabor para enfrentar a barreira de experimentação.</a:t>
            </a:r>
            <a:br>
              <a:rPr dirty="0"/>
            </a:br>
            <a:br>
              <a:rPr dirty="0"/>
            </a:br>
            <a:r>
              <a:rPr sz="900" dirty="0"/>
              <a:t>• Aprendizados Aplicáveis:</a:t>
            </a:r>
            <a:br>
              <a:rPr dirty="0"/>
            </a:br>
            <a:r>
              <a:rPr sz="900" dirty="0"/>
              <a:t>  1. Assumir a leveza como atributo de marca (sem tentar imitar cerveja encorpada).</a:t>
            </a:r>
            <a:br>
              <a:rPr dirty="0"/>
            </a:br>
            <a:r>
              <a:rPr sz="900" dirty="0"/>
              <a:t>  2. Construir desejo antes da comparação técnica via conteúdo nativo.</a:t>
            </a:r>
            <a:br>
              <a:rPr dirty="0"/>
            </a:br>
            <a:r>
              <a:rPr sz="900" dirty="0"/>
              <a:t>  3. Converter dúvida em prova de produto através de degustação gelada guiada.</a:t>
            </a:r>
            <a:br>
              <a:rPr dirty="0"/>
            </a:br>
            <a:br>
              <a:rPr dirty="0"/>
            </a:br>
            <a:r>
              <a:rPr sz="900" dirty="0"/>
              <a:t>• Fontes:</a:t>
            </a:r>
            <a:br>
              <a:rPr dirty="0"/>
            </a:br>
            <a:r>
              <a:rPr sz="900" dirty="0"/>
              <a:t>  - Teste cego Oatly: </a:t>
            </a:r>
            <a:r>
              <a:rPr lang="en-US" sz="900" dirty="0">
                <a:hlinkClick r:id="rId3"/>
              </a:rPr>
              <a:t>Caroline Reid, Senior Director of Sustainability at </a:t>
            </a:r>
            <a:r>
              <a:rPr lang="en-US" sz="900" dirty="0" err="1">
                <a:hlinkClick r:id="rId3"/>
              </a:rPr>
              <a:t>Oatly</a:t>
            </a:r>
            <a:r>
              <a:rPr lang="en-US" sz="900" dirty="0">
                <a:hlinkClick r:id="rId3"/>
              </a:rPr>
              <a:t>, reflects on how we &amp; others can influence food system transformation</a:t>
            </a:r>
            <a:endParaRPr sz="900" dirty="0"/>
          </a:p>
        </p:txBody>
      </p:sp>
      <p:sp>
        <p:nvSpPr>
          <p:cNvPr id="6" name="Rounded Rectangle 5"/>
          <p:cNvSpPr/>
          <p:nvPr/>
        </p:nvSpPr>
        <p:spPr>
          <a:xfrm>
            <a:off x="4425696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500" b="1" dirty="0"/>
              <a:t>5.2. GUINNESS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 err="1"/>
              <a:t>Expansão</a:t>
            </a:r>
            <a:r>
              <a:rPr sz="1200" b="1" dirty="0"/>
              <a:t> de Base e On-Trade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Ampliou a base na Grã-Bretanha sem mudar o produto. Atuou fortemente com bares do on-trade, recrutou novos públicos (mulheres e jovens) e expandiu o calendário de consumo.</a:t>
            </a:r>
            <a:br>
              <a:rPr dirty="0"/>
            </a:br>
            <a:br>
              <a:rPr dirty="0"/>
            </a:br>
            <a:r>
              <a:rPr sz="900" dirty="0"/>
              <a:t>• Aprendizados Aplicáveis:</a:t>
            </a:r>
            <a:br>
              <a:rPr dirty="0"/>
            </a:br>
            <a:r>
              <a:rPr sz="900" dirty="0"/>
              <a:t>  1. Recrutar públicos subatendidos preservando a identidade de marca.</a:t>
            </a:r>
            <a:br>
              <a:rPr dirty="0"/>
            </a:br>
            <a:r>
              <a:rPr sz="900" dirty="0"/>
              <a:t>  2. Trabalhar simultaneamente comunicação e presença/visibilidade no trade.</a:t>
            </a:r>
            <a:br>
              <a:rPr dirty="0"/>
            </a:br>
            <a:r>
              <a:rPr sz="900" dirty="0"/>
              <a:t>  3. Expandir o calendário de consumo para novas ocasiões diurnas e sociais.</a:t>
            </a:r>
            <a:br>
              <a:rPr dirty="0"/>
            </a:br>
            <a:br>
              <a:rPr dirty="0"/>
            </a:br>
            <a:r>
              <a:rPr sz="900" dirty="0"/>
              <a:t>• Fonte: Diageo — </a:t>
            </a:r>
            <a:r>
              <a:rPr lang="en-US" sz="900" dirty="0">
                <a:hlinkClick r:id="rId4"/>
              </a:rPr>
              <a:t>World-class brand building: The year Guinness became Great Britain’s </a:t>
            </a:r>
            <a:r>
              <a:rPr lang="en-US" sz="900" dirty="0" err="1">
                <a:hlinkClick r:id="rId4"/>
              </a:rPr>
              <a:t>favourite</a:t>
            </a:r>
            <a:r>
              <a:rPr lang="en-US" sz="900" dirty="0">
                <a:hlinkClick r:id="rId4"/>
              </a:rPr>
              <a:t> pint</a:t>
            </a:r>
            <a:endParaRPr sz="900"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500" b="1" dirty="0"/>
              <a:t>5.3. WHITE CLAW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Escala de </a:t>
            </a:r>
            <a:r>
              <a:rPr sz="1200" b="1" dirty="0" err="1"/>
              <a:t>Álcool</a:t>
            </a:r>
            <a:r>
              <a:rPr sz="1200" b="1" dirty="0"/>
              <a:t> e </a:t>
            </a:r>
            <a:r>
              <a:rPr sz="1200" b="1" dirty="0" err="1"/>
              <a:t>Ocasiões</a:t>
            </a:r>
            <a:endParaRPr sz="1200" b="1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 linha Surge, com 8% ABV, mostra como a marca atende a necessidades distintas em diferentes momentos de consumo.</a:t>
            </a:r>
            <a:br>
              <a:rPr dirty="0"/>
            </a:br>
            <a:br>
              <a:rPr dirty="0"/>
            </a:br>
            <a:r>
              <a:rPr sz="900" dirty="0"/>
              <a:t>• Aprendizados Aplicáveis:</a:t>
            </a:r>
            <a:br>
              <a:rPr dirty="0"/>
            </a:br>
            <a:r>
              <a:rPr sz="900" dirty="0"/>
              <a:t>1. Organizar a comunicação da Michelob Ultra por ocasiões de consumo, como almoço, happy hour, churrasco, festival e futebol.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Adaptar a linguagem e os pontos de contato a cada ocasião, preservando o mesmo produto e sua proposta de valor.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Usar a variedade de momentos sociais para ampliar a identificação com a marca, sem criar versões adicionais ou promessas funcionais.</a:t>
            </a:r>
            <a:br>
              <a:rPr dirty="0"/>
            </a:br>
            <a:br>
              <a:rPr dirty="0"/>
            </a:br>
            <a:r>
              <a:rPr lang="pt-BR" sz="900" dirty="0"/>
              <a:t>• Fonte: White Claw Support — </a:t>
            </a:r>
            <a:r>
              <a:rPr lang="pt-BR" sz="900" dirty="0">
                <a:hlinkClick r:id="rId5"/>
              </a:rPr>
              <a:t>https://ussupport.whiteclaw.com/en/support/solutions/articles/36000314438-how-much-alcohol-is-in-white-claw-hard-seltzer-surge-</a:t>
            </a:r>
            <a:endParaRPr lang="pt-BR" sz="900" dirty="0"/>
          </a:p>
        </p:txBody>
      </p:sp>
      <p:pic>
        <p:nvPicPr>
          <p:cNvPr id="8" name="Picture 7" descr="oat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961" y="2380824"/>
            <a:ext cx="619532" cy="594360"/>
          </a:xfrm>
          <a:prstGeom prst="rect">
            <a:avLst/>
          </a:prstGeom>
        </p:spPr>
      </p:pic>
      <p:pic>
        <p:nvPicPr>
          <p:cNvPr id="9" name="Picture 8" descr="guinnes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6578" y="2525182"/>
            <a:ext cx="1066650" cy="594360"/>
          </a:xfrm>
          <a:prstGeom prst="rect">
            <a:avLst/>
          </a:prstGeom>
        </p:spPr>
      </p:pic>
      <p:pic>
        <p:nvPicPr>
          <p:cNvPr id="10" name="Picture 9" descr="whiteclaw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700" y="2380803"/>
            <a:ext cx="694758" cy="594360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1066648" y="1435501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Quais marcas oferecem aprendizados aplicáveis para superar o estigma de sabor, ampliar a base de consumidores e tornar a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Michelob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Ultra relevante em novos contextos de socialização?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MODELO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BASE METODOLÓGICA — 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72640" cy="3789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PARCEIROS CHAVE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Canais de venda: supermercados, atacarejos, distribuidores, geladeiras e gôndolas.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Bares e restaurantes: estabelecimentos de almoço, </a:t>
            </a:r>
            <a:r>
              <a:rPr lang="pt-BR" dirty="0" err="1"/>
              <a:t>happy</a:t>
            </a:r>
            <a:r>
              <a:rPr lang="pt-BR" dirty="0"/>
              <a:t> hour e convivência social.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3. Entretenimento e eventos: festivais, eventos gastronômicos, futebol e outros pontos de encontro. Eventos esportivos permanecem como parceria complementar.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4. Plataformas: Zé Delivery, iFood e ferramentas de relacionamento com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5. Criadores de conteúdo: gastronomia, entretenimento, cultura, esporte e convivência social.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7185" y="1463040"/>
            <a:ext cx="1985645" cy="194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ATIVIDADES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Degustação e prova de sabor em bares, eventos, festivais e pontos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Comunicação por ocasiões sociais em canais digitais, criadores de conteúdo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Visibilidade e disponibilidade nos canais de venda, em supermercados, bares, restaurantes e entrega.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877185" y="3516630"/>
            <a:ext cx="1985645" cy="1739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RECURSOS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sz="850" dirty="0">
                <a:solidFill>
                  <a:srgbClr val="1B2A4A"/>
                </a:solidFill>
                <a:latin typeface="Calibri"/>
              </a:rPr>
              <a:t>1.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Físicos</a:t>
            </a:r>
            <a:r>
              <a:rPr sz="850" dirty="0">
                <a:solidFill>
                  <a:srgbClr val="1B2A4A"/>
                </a:solidFill>
                <a:latin typeface="Calibri"/>
              </a:rPr>
              <a:t>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Fermentação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estendida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,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frota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refrigerada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e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geladeiras</a:t>
            </a:r>
            <a:r>
              <a:rPr sz="850" dirty="0">
                <a:solidFill>
                  <a:srgbClr val="1B2A4A"/>
                </a:solidFill>
                <a:latin typeface="Calibri"/>
              </a:rPr>
              <a:t> PDV.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sz="850" dirty="0">
                <a:solidFill>
                  <a:srgbClr val="1B2A4A"/>
                </a:solidFill>
                <a:latin typeface="Calibri"/>
              </a:rPr>
              <a:t>2. IP &amp; Marca: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Fórmula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Ultra Light e Brand Equity global.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lang="pt-BR" sz="850" dirty="0">
                <a:solidFill>
                  <a:srgbClr val="1B2A4A"/>
                </a:solidFill>
                <a:latin typeface="Calibri"/>
              </a:rPr>
              <a:t>3. Dados e tecnologia: BEES, Zé Delivery, iFood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sz="850" dirty="0">
                <a:solidFill>
                  <a:srgbClr val="1B2A4A"/>
                </a:solidFill>
                <a:latin typeface="Calibri"/>
              </a:rPr>
              <a:t>4. Talentos: equipe comercial, ativações sociais e relacionamento digital.</a:t>
            </a:r>
            <a:endParaRPr sz="85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18710" y="1463040"/>
            <a:ext cx="1830705" cy="3789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0000"/>
              </a:lnSpc>
              <a:defRPr sz="1000" b="1">
                <a:solidFill>
                  <a:srgbClr val="D9822B"/>
                </a:solidFill>
                <a:latin typeface="Georgia" panose="02040502050405090303"/>
              </a:defRPr>
            </a:pPr>
            <a:r>
              <a:rPr lang="pt-BR" sz="1000" b="1" dirty="0">
                <a:solidFill>
                  <a:srgbClr val="0F4C81"/>
                </a:solidFill>
                <a:latin typeface="Georgia" panose="02040502050405090303"/>
              </a:rPr>
              <a:t>PROPOSTA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 panose="02040502050405090303"/>
              </a:rPr>
              <a:t>DE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 panose="02040502050405090303"/>
              </a:rPr>
              <a:t>VALOR</a:t>
            </a:r>
            <a:endParaRPr lang="pt-BR" dirty="0"/>
          </a:p>
          <a:p>
            <a:pPr>
              <a:lnSpc>
                <a:spcPct val="100000"/>
              </a:lnSpc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Ampliar a presen</a:t>
            </a:r>
            <a:r>
              <a:rPr lang="" altLang="en-US" dirty="0"/>
              <a:t>ç</a:t>
            </a:r>
            <a:r>
              <a:rPr lang="en-US" altLang="en-US" dirty="0"/>
              <a:t>a da Michelob Ultra em novas situa</a:t>
            </a:r>
            <a:r>
              <a:rPr lang="" altLang="en-US" dirty="0"/>
              <a:t>çõ</a:t>
            </a:r>
            <a:r>
              <a:rPr lang="en-US" altLang="en-US" dirty="0"/>
              <a:t>es de convivência, mantendo sua proposta de cerveja premium leve, com baixas calorias e baixo teor de carboidratos, e lan</a:t>
            </a:r>
            <a:r>
              <a:rPr lang="" altLang="en-US" dirty="0"/>
              <a:t>ç</a:t>
            </a:r>
            <a:r>
              <a:rPr lang="en-US" altLang="en-US" dirty="0"/>
              <a:t>ando </a:t>
            </a:r>
            <a:r>
              <a:rPr lang="pt-BR" altLang="en-US" dirty="0"/>
              <a:t>a Michelob Ultra Moments</a:t>
            </a:r>
            <a:r>
              <a:rPr lang="en-US" altLang="en-US" dirty="0"/>
              <a:t> com</a:t>
            </a:r>
            <a:r>
              <a:rPr lang="pt-BR" altLang="en-US" dirty="0"/>
              <a:t> apenas</a:t>
            </a:r>
            <a:r>
              <a:rPr lang="en-US" altLang="en-US" dirty="0"/>
              <a:t> 2% de teor alcoólico.  </a:t>
            </a:r>
          </a:p>
          <a:p>
            <a:pPr>
              <a:lnSpc>
                <a:spcPct val="100000"/>
              </a:lnSpc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Um portfólio para adultos que valorizam leveza, sabor e diferentes op</a:t>
            </a:r>
            <a:r>
              <a:rPr lang="" altLang="en-US" dirty="0"/>
              <a:t>çõ</a:t>
            </a:r>
            <a:r>
              <a:rPr lang="en-US" altLang="en-US" dirty="0"/>
              <a:t>es de consumo em almo</a:t>
            </a:r>
            <a:r>
              <a:rPr lang="" altLang="en-US" dirty="0"/>
              <a:t>ç</a:t>
            </a:r>
            <a:r>
              <a:rPr lang="en-US" altLang="en-US" dirty="0"/>
              <a:t>os, happy hours, encontros casuais, churrascos, festivais, futebol e outras ocasi</a:t>
            </a:r>
            <a:r>
              <a:rPr lang="" altLang="en-US" dirty="0"/>
              <a:t>õ</a:t>
            </a:r>
            <a:r>
              <a:rPr lang="en-US" altLang="en-US" dirty="0"/>
              <a:t>es do cotidiano.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585" y="1463040"/>
            <a:ext cx="2401570" cy="194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RELACIONAMENTO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1. Ponto de venda: merchandising e degustação gelada.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CRM e benefícios: comunicações, cupons e convites associados a ocasiões sociais e recompra.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Comunidade: relacionamento com consumidores por meio de gastronomia, entretenimento, cultura e esporte.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Comunicação: conteúdo sobre leveza, sabor e socialização.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838950" y="3516630"/>
            <a:ext cx="2402205" cy="1739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CANAIS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Tradicionais: redes, atacarejos, supermercados e bares.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Convivência social: restaurantes, espaços gastronômicos, festivais e pontos de encontro.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Entrega: Zé Delivery e iFood, com comunicações adequadas a cada ocasião.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Eventos: futebol, festivais, encontros gastronômicos e eventos esportivos.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314180" y="1463040"/>
            <a:ext cx="2072640" cy="3789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SEGMENTAÇÃO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PRINCIPAL — 50% do investimento inicial | </a:t>
            </a:r>
            <a:r>
              <a:rPr lang="pt-BR" dirty="0" err="1"/>
              <a:t>Millennials</a:t>
            </a:r>
            <a:r>
              <a:rPr lang="pt-BR" dirty="0"/>
              <a:t> (28 a 43 anos): consumidores que buscam uma cerveja premium leve para socializar em almoços, </a:t>
            </a:r>
            <a:r>
              <a:rPr lang="pt-BR" dirty="0" err="1"/>
              <a:t>happy</a:t>
            </a:r>
            <a:r>
              <a:rPr lang="pt-BR" dirty="0"/>
              <a:t> hours, encontros casuais e momentos de entretenimento.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ESTRATÉGICO — 30% do investimento inicial | Geração Z (18 a 27 anos): consumidores que valorizam experiências sociais, festivais, estética de marca e escolhas mais leves.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COMPLEMENTAR — 20% do investimento inicial | Geração X (44 a 59 anos): consumidores que valorizam controle calórico, leveza, conveniência e disponibilidade no ponto de venda, mas precisam perceber que esses atributos não comprometem o sabor.</a:t>
            </a:r>
            <a:endParaRPr dirty="0"/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4D4D4D"/>
                </a:solidFill>
                <a:latin typeface="Aptos"/>
              </a:rPr>
              <a:t>Hipótese de investimento inicial; lógica, limites e fontes de priorização apresentadas no slide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63845"/>
            <a:ext cx="5291455" cy="1313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ESTRUTURA DE CUSTO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>
                <a:sym typeface="+mn-ea"/>
              </a:rPr>
              <a:t>• Desenvolvimento da nova linha Michelob Ultra Moments.</a:t>
            </a:r>
            <a:endParaRPr lang="pt-BR" dirty="0"/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Custos de produção, matérias-primas, logística refrigerada e impostos.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• Investimentos em comunicação, mídia digital e criadores de conteúdo.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Degustações, materiais de ponto de venda, geladeiras e ativações nos canais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Parcerias com bares, restaurantes, eventos, plataformas de entrega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Equipe comercial, relacionamento digital e acompanhamento de dados.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096000" y="5358765"/>
            <a:ext cx="5291455" cy="13125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 panose="02040502050405090303"/>
              </a:defRPr>
            </a:pPr>
            <a:r>
              <a:rPr sz="1000" b="1" dirty="0">
                <a:solidFill>
                  <a:srgbClr val="0F4C81"/>
                </a:solidFill>
                <a:latin typeface="Georgia" panose="02040502050405090303"/>
              </a:rPr>
              <a:t>FONTES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 panose="02040502050405090303"/>
              </a:rPr>
              <a:t>DE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 panose="02040502050405090303"/>
              </a:rPr>
              <a:t>RECEITAS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de </a:t>
            </a:r>
            <a:r>
              <a:rPr lang="pt-BR" dirty="0" err="1"/>
              <a:t>Michelob</a:t>
            </a:r>
            <a:r>
              <a:rPr lang="pt-BR" dirty="0"/>
              <a:t> Ultra nos canais de venda priorizados.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geradas por novos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recorrentes decorrentes do aumento da frequência de 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em novas situações sociais de consumo.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D9822B"/>
                </a:solidFill>
                <a:latin typeface="Aptos"/>
              </a:rPr>
              <a:t>ANEXO — USO DE INTELIGÊNCIA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0F4C81"/>
                </a:solidFill>
                <a:latin typeface="Georgia" panose="02040502050405090303"/>
              </a:rPr>
              <a:t>Registro de ferramentas, instruções e aprendizados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698480" cy="3200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00" b="0" i="1" dirty="0" err="1">
                <a:solidFill>
                  <a:srgbClr val="4D4D4D"/>
                </a:solidFill>
                <a:latin typeface="Aptos"/>
              </a:rPr>
              <a:t>Preencher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exclusivamente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com ferramentas,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instruções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e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resultados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utilizados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de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fato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pelo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grupo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.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Não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inserir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conteúdo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presumido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.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7055" y="1348740"/>
          <a:ext cx="11046460" cy="4888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6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2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Etapa do trabalho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Ferramenta utilizada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Prompt-chave ou instrução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Como o resultado foi usado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Aprendizado ou limite identificado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 dirty="0">
                          <a:solidFill>
                            <a:srgbClr val="0F4C81"/>
                          </a:solidFill>
                          <a:latin typeface="Aptos"/>
                        </a:rPr>
                        <a:t>Pesquisa e </a:t>
                      </a:r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leitura</a:t>
                      </a:r>
                      <a:r>
                        <a:rPr sz="850" b="1" i="0" dirty="0">
                          <a:solidFill>
                            <a:srgbClr val="0F4C81"/>
                          </a:solidFill>
                          <a:latin typeface="Aptos"/>
                        </a:rPr>
                        <a:t> de </a:t>
                      </a:r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fontes</a:t>
                      </a:r>
                      <a:endParaRPr sz="850" b="1" i="0" dirty="0">
                        <a:solidFill>
                          <a:srgbClr val="0F4C81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Gemini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e Chat GPT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1. Quais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são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os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concorrentes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da Michelob Ultra no mercado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brasileiro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de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cervejas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com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álcool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e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menor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teor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calórico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? Como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essas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marcas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disputam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o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consumidor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que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aprecia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cerveja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e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valoriza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uma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rotina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ativa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?</a:t>
                      </a:r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2. Ao trabalhar em um projeto de marketing digital em que o foco é a ampliação de mercado para a cerveja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Michelob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Ultra para além do foco inicial de clientes ligados à atividade esportiva, quais empresas podem ser usadas como benchmark para este case? Prefira empresas do ramo de cervejas ou bebidas alcóolicas.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1. A lista com as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carcterísiticas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foi analisada, revisada e validada e foi necessário fazer algumas iterações para revisar o resultado, solicitando fontes para averiguação e para consulta posterior.</a:t>
                      </a:r>
                    </a:p>
                    <a:p>
                      <a:pPr algn="l"/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2. Várias iterações foram efetuadas até que identificássemos cases reais com dados sólidos e que realmente tivessem a nos ensinar algo dentro do que pretendemos.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Sempre exigir as fontes e revisar o seu conteúdo. Necessidade de refinar o foco e o alcance das buscas e usar as técnicas de Encadeamento de Prompts  e Orquestração de Múltiplos Modelos usando  para trazer enfoques diferentes e aumentar o repertório das buscas, podendo assim compilar um resultado mais denso e consistente com o esperado.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Organização</a:t>
                      </a:r>
                      <a:r>
                        <a:rPr sz="850" b="1" i="0" dirty="0">
                          <a:solidFill>
                            <a:srgbClr val="0F4C81"/>
                          </a:solidFill>
                          <a:latin typeface="Aptos"/>
                        </a:rPr>
                        <a:t> de </a:t>
                      </a:r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transcrições</a:t>
                      </a:r>
                      <a:endParaRPr sz="850" b="1" i="0" dirty="0">
                        <a:solidFill>
                          <a:srgbClr val="0F4C81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GPT/Codex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Organize o conteúdo das transcrições das reuniões do grupo, identificando os principais temas discutidos, decisões tomadas, ideias propostas e pontos pendentes, sem alterar o sentido original das falas.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As transcrições foram organizadas e utilizadas para recuperar decisões tomadas durante as reuniões, consolidar as ideias discutidas pelo grupo e identificar pontos que ainda precisavam ser definidos.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>
                          <a:solidFill>
                            <a:srgbClr val="4D4D4D"/>
                          </a:solidFill>
                          <a:latin typeface="Aptos"/>
                        </a:rPr>
                        <a:t>A IA facilitou a organização de um grande volume de informações e a recuperação dos principais pontos discutidos. Entretanto, foi necessária a revisão do grupo para validar o contexto das falas e garantir que nenhuma decisão fosse interpretada de forma incorreta.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Análise do problema e da solução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GPT/Codex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>
                          <a:solidFill>
                            <a:srgbClr val="4D4D4D"/>
                          </a:solidFill>
                          <a:latin typeface="Aptos"/>
                        </a:rPr>
                        <a:t>Com base no conteúdo desenvolvido pelo grupo, analise a coerência entre o problema identificado, o público-alvo, a proposta de valor e a solução apresentada para Michelob Ultra. Identifique possíveis inconsistências e pontos que precisam ser aprofundados, sem alterar as premissas definidas pelo grupo.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A análise foi utilizada para revisar a coerência entre as diferentes partes do projeto e apoiar o refinamento do problema, da proposta de valor e da solução antes da consolidação do material final.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>
                          <a:solidFill>
                            <a:srgbClr val="4D4D4D"/>
                          </a:solidFill>
                          <a:latin typeface="Aptos"/>
                        </a:rPr>
                        <a:t>A IA ajudou a identificar inconsistências e conexões entre diferentes partes do projeto, mas as sugestões precisaram ser avaliadas pelo grupo, pois algumas poderiam alterar premissas ou direcionamentos previamente definidos. A decisão final permaneceu com os integrantes.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Redação e revisão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Miro  para criar o conteúdo de forma centralizada. </a:t>
                      </a: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 para extrair o texto das imagens dos boards do Miro.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Extraia das imagens em anexo todos os textos, separe em itens e consolide em um arquivo .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md</a:t>
                      </a:r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sem alterações do texto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orginal</a:t>
                      </a:r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O conteúdo foi revisado em conjunto por meio de tela compartilhada, permitindo que todos os integrantes contribuíssem com sugestões e ajustes no texto. Também foram revisados aspectos gramaticais e de concordância.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>
                          <a:solidFill>
                            <a:srgbClr val="4D4D4D"/>
                          </a:solidFill>
                          <a:latin typeface="Aptos"/>
                        </a:rPr>
                        <a:t>A IA agilizou a organização e revisão do conteúdo, porém exigiu validação humana para garantir fidelidade ao material original e evitar alterações de sentido ou inclusão de informações não definidas pelo grupo.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Apoio à apresentação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GPT, Notebook LLM</a:t>
                      </a:r>
                    </a:p>
                    <a:p>
                      <a:pPr algn="l"/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A partir do texto de cada item presente no arquivo trabalhoConsolidado.md crie uma apresentação seguindo o padrão visual estabelecido no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ppt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template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A apresentação foi compartilhada em reunião com todos os integrantes, permitindo o alinhamento da formatação e a revisão conjunta da disposição das imagens e dos textos selecionados.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Durante o projeto, identificamos que o Notebook LLM apresentou maior nível de detalhamento na criação do esboço inicial da apresentação. O ChatGPT foi utilizado como ferramenta principal para elaboração e refinamento de boa parte dos textos e apoio à estruturação do conteúdo.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9*459"/>
  <p:tag name="TABLE_ENDDRAG_RECT" val="44*106*869*45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6573</Words>
  <Application>Microsoft Office PowerPoint</Application>
  <PresentationFormat>Widescreen</PresentationFormat>
  <Paragraphs>371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André Moreira</cp:lastModifiedBy>
  <cp:revision>65</cp:revision>
  <dcterms:created xsi:type="dcterms:W3CDTF">2026-09-22T01:05:37Z</dcterms:created>
  <dcterms:modified xsi:type="dcterms:W3CDTF">2026-09-24T01:29:03Z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9AC8402316166FD3D4A1B16AE054E2A2_42</vt:lpwstr>
  </property>
  <property fmtid="{D5CDD505-2E9C-101B-9397-08002B2CF9AE}" pid="3" name="KSOProductBuildVer">
    <vt:lpwstr>1033-12.1.28492.28492</vt:lpwstr>
  </property>
</Properties>
</file>